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40"/>
  </p:notesMasterIdLst>
  <p:handoutMasterIdLst>
    <p:handoutMasterId r:id="rId41"/>
  </p:handoutMasterIdLst>
  <p:sldIdLst>
    <p:sldId id="256" r:id="rId2"/>
    <p:sldId id="606" r:id="rId3"/>
    <p:sldId id="607" r:id="rId4"/>
    <p:sldId id="608" r:id="rId5"/>
    <p:sldId id="609" r:id="rId6"/>
    <p:sldId id="468" r:id="rId7"/>
    <p:sldId id="509" r:id="rId8"/>
    <p:sldId id="595" r:id="rId9"/>
    <p:sldId id="504" r:id="rId10"/>
    <p:sldId id="546" r:id="rId11"/>
    <p:sldId id="547" r:id="rId12"/>
    <p:sldId id="548" r:id="rId13"/>
    <p:sldId id="590" r:id="rId14"/>
    <p:sldId id="571" r:id="rId15"/>
    <p:sldId id="591" r:id="rId16"/>
    <p:sldId id="572" r:id="rId17"/>
    <p:sldId id="573" r:id="rId18"/>
    <p:sldId id="574" r:id="rId19"/>
    <p:sldId id="575" r:id="rId20"/>
    <p:sldId id="592" r:id="rId21"/>
    <p:sldId id="576" r:id="rId22"/>
    <p:sldId id="593" r:id="rId23"/>
    <p:sldId id="594" r:id="rId24"/>
    <p:sldId id="579" r:id="rId25"/>
    <p:sldId id="597" r:id="rId26"/>
    <p:sldId id="598" r:id="rId27"/>
    <p:sldId id="599" r:id="rId28"/>
    <p:sldId id="578" r:id="rId29"/>
    <p:sldId id="596" r:id="rId30"/>
    <p:sldId id="600" r:id="rId31"/>
    <p:sldId id="580" r:id="rId32"/>
    <p:sldId id="601" r:id="rId33"/>
    <p:sldId id="602" r:id="rId34"/>
    <p:sldId id="603" r:id="rId35"/>
    <p:sldId id="604" r:id="rId36"/>
    <p:sldId id="506" r:id="rId37"/>
    <p:sldId id="605" r:id="rId38"/>
    <p:sldId id="308" r:id="rId3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E6E6E6"/>
    <a:srgbClr val="9900CC"/>
    <a:srgbClr val="CCECFF"/>
    <a:srgbClr val="FFFF99"/>
    <a:srgbClr val="FFCC66"/>
    <a:srgbClr val="CCFFCC"/>
    <a:srgbClr val="99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1693" autoAdjust="0"/>
  </p:normalViewPr>
  <p:slideViewPr>
    <p:cSldViewPr snapToGrid="0">
      <p:cViewPr varScale="1">
        <p:scale>
          <a:sx n="100" d="100"/>
          <a:sy n="100" d="100"/>
        </p:scale>
        <p:origin x="188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44"/>
    </p:cViewPr>
  </p:sorterViewPr>
  <p:notesViewPr>
    <p:cSldViewPr snapToGrid="0">
      <p:cViewPr>
        <p:scale>
          <a:sx n="100" d="100"/>
          <a:sy n="100" d="100"/>
        </p:scale>
        <p:origin x="-3384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12/13/22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134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4A34B-1A74-4CEE-BBDF-2018B78805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75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514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222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756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9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679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092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830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976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51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21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50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791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184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232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69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967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5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283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236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5529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8289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18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0398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8518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83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153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8423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31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203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6289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7124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8102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3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Unit16 -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p.nus.edu.sg/~cs101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hyperlink" Target="http://www.comp.nus.edu.sg/~cs1010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angman.n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d.uwo.ca/staff/magi/175/refs/char-funcs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dcc.edu/faculty/paul.bladek/c_string_functions.ht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s.cf.ac.uk/Dave/C/node19.html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9667" y="2252133"/>
            <a:ext cx="4004733" cy="364067"/>
          </a:xfrm>
        </p:spPr>
        <p:txBody>
          <a:bodyPr>
            <a:noAutofit/>
          </a:bodyPr>
          <a:lstStyle/>
          <a:p>
            <a:pPr algn="dist" eaLnBrk="1" hangingPunct="1"/>
            <a:r>
              <a:rPr lang="en-GB" sz="1800" cap="none" dirty="0">
                <a:latin typeface="Calibri" panose="020F0502020204030204" pitchFamily="34" charset="0"/>
                <a:hlinkClick r:id="rId3"/>
              </a:rPr>
              <a:t>http://www.comp.nus.edu.sg/~cs1010/</a:t>
            </a:r>
            <a:endParaRPr lang="en-GB" sz="1800" cap="none" dirty="0">
              <a:latin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pic>
        <p:nvPicPr>
          <p:cNvPr id="7" name="[Picture 6]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92" y="1368425"/>
            <a:ext cx="5687149" cy="934508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  <a:latin typeface="Calibri" panose="020F0502020204030204" pitchFamily="34" charset="0"/>
              </a:rPr>
              <a:t>UNIT 16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Characters and Strings</a:t>
            </a:r>
            <a:endParaRPr lang="en-US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65222"/>
            <a:ext cx="9144000" cy="1249931"/>
          </a:xfrm>
        </p:spPr>
        <p:txBody>
          <a:bodyPr>
            <a:noAutofit/>
          </a:bodyPr>
          <a:lstStyle/>
          <a:p>
            <a:pPr algn="ctr"/>
            <a:r>
              <a:rPr lang="en-US" sz="40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Programming Methodology</a:t>
            </a:r>
            <a:br>
              <a:rPr lang="en-US" sz="32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US" sz="32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(phương pháp LẬP </a:t>
            </a:r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TRÌNH) </a:t>
            </a:r>
          </a:p>
        </p:txBody>
      </p:sp>
      <p:sp>
        <p:nvSpPr>
          <p:cNvPr id="9" name="[TextBox 7]"/>
          <p:cNvSpPr txBox="1"/>
          <p:nvPr/>
        </p:nvSpPr>
        <p:spPr>
          <a:xfrm>
            <a:off x="1" y="3781012"/>
            <a:ext cx="9143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  <a:latin typeface="Calibri" panose="020F0502020204030204" pitchFamily="34" charset="0"/>
              </a:rPr>
              <a:t>UNIT 16: Characters and Strings</a:t>
            </a:r>
            <a:endParaRPr lang="en-US" sz="44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127" y="670904"/>
            <a:ext cx="1747742" cy="96512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25391745"/>
      </p:ext>
    </p:extLst>
  </p:cSld>
  <p:clrMapOvr>
    <a:masterClrMapping/>
  </p:clrMapOvr>
  <p:transition>
    <p:diamond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contents of these slides have origin from School of Computing, National University of Singapore.</a:t>
            </a:r>
          </a:p>
          <a:p>
            <a:pPr algn="just"/>
            <a:r>
              <a:rPr lang="en-US" dirty="0"/>
              <a:t>We greatly appreciate support from Mr. Aaron Tan </a:t>
            </a:r>
            <a:r>
              <a:rPr lang="en-US"/>
              <a:t>Tuck Choy for </a:t>
            </a:r>
            <a:r>
              <a:rPr lang="en-US" dirty="0"/>
              <a:t>kindly sharing these materials.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5261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These contents are only used for students PERSONALLY.</a:t>
            </a:r>
          </a:p>
          <a:p>
            <a:pPr algn="just"/>
            <a:r>
              <a:rPr lang="en-US" dirty="0"/>
              <a:t>Students are NOT allowed to modify or deliver these contents to anywhere or anyone for any purpose.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96122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Recording of modifications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Currently, there are no modification </a:t>
            </a:r>
            <a:r>
              <a:rPr lang="en-US"/>
              <a:t>on these contents</a:t>
            </a:r>
            <a:r>
              <a:rPr lang="en-US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0087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109541485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Unit 16: Characters and Strings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 </a:t>
            </a:r>
            <a:r>
              <a:rPr sz="1200"/>
              <a:t>-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73100" y="1280213"/>
            <a:ext cx="7620000" cy="1943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GB" sz="2800" dirty="0">
                <a:solidFill>
                  <a:srgbClr val="C00000"/>
                </a:solidFill>
              </a:rPr>
              <a:t>Objectives:</a:t>
            </a:r>
          </a:p>
          <a:p>
            <a:pPr marL="685800" lvl="1" indent="-411163"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>
                <a:cs typeface="Arial" charset="0"/>
              </a:rPr>
              <a:t>Declare and manipulate data of </a:t>
            </a:r>
            <a:r>
              <a:rPr lang="en-GB" sz="2400">
                <a:solidFill>
                  <a:srgbClr val="0000FF"/>
                </a:solidFill>
                <a:cs typeface="Arial" charset="0"/>
              </a:rPr>
              <a:t>char</a:t>
            </a:r>
            <a:r>
              <a:rPr lang="en-GB" sz="2400">
                <a:cs typeface="Arial" charset="0"/>
              </a:rPr>
              <a:t> data type </a:t>
            </a:r>
          </a:p>
          <a:p>
            <a:pPr marL="685800" lvl="1" indent="-411163"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>
                <a:cs typeface="Arial" charset="0"/>
              </a:rPr>
              <a:t>Learn fundamental operations on strings</a:t>
            </a:r>
          </a:p>
          <a:p>
            <a:pPr marL="685800" lvl="1" indent="-411163"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>
                <a:cs typeface="Arial" charset="0"/>
              </a:rPr>
              <a:t>Write string processing programs</a:t>
            </a:r>
            <a:endParaRPr lang="en-GB" sz="2400" dirty="0">
              <a:cs typeface="Arial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73100" y="3605741"/>
            <a:ext cx="7620000" cy="1958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120000"/>
              <a:defRPr/>
            </a:pPr>
            <a:r>
              <a:rPr lang="en-GB" sz="2800" kern="0">
                <a:solidFill>
                  <a:srgbClr val="C00000"/>
                </a:solidFill>
                <a:latin typeface="+mn-lt"/>
                <a:cs typeface="+mn-cs"/>
              </a:rPr>
              <a:t>References: </a:t>
            </a:r>
            <a:endParaRPr lang="en-GB" sz="2800" kern="0" dirty="0">
              <a:solidFill>
                <a:srgbClr val="C00000"/>
              </a:solidFill>
              <a:latin typeface="+mn-lt"/>
              <a:cs typeface="+mn-cs"/>
            </a:endParaRPr>
          </a:p>
          <a:p>
            <a:pPr marL="738188" lvl="1" indent="-457200" eaLnBrk="1" hangingPunct="1"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/>
              <a:t>Lesson 1.4.1 Characters and Symbols</a:t>
            </a:r>
          </a:p>
          <a:p>
            <a:pPr marL="738188" lvl="1" indent="-457200" eaLnBrk="1" hangingPunct="1"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/>
              <a:t>Chapter 7: Strings and Pointers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9220919398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rgbClr val="0000FF"/>
                </a:solidFill>
              </a:rPr>
              <a:t>Unit 16: Characters and Strings (1/2)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 </a:t>
            </a:r>
            <a:r>
              <a:rPr sz="1200"/>
              <a:t>-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178169"/>
            <a:ext cx="8420559" cy="5310554"/>
          </a:xfrm>
        </p:spPr>
        <p:txBody>
          <a:bodyPr>
            <a:normAutofit/>
          </a:bodyPr>
          <a:lstStyle/>
          <a:p>
            <a:pPr marL="514350" indent="-514350" eaLnBrk="1" hangingPunct="1">
              <a:spcBef>
                <a:spcPts val="1200"/>
              </a:spcBef>
              <a:buClrTx/>
              <a:buSzPct val="100000"/>
              <a:buFont typeface="+mj-lt"/>
              <a:buAutoNum type="arabicPeriod"/>
            </a:pPr>
            <a:r>
              <a:rPr lang="en-GB">
                <a:solidFill>
                  <a:srgbClr val="C00000"/>
                </a:solidFill>
              </a:rPr>
              <a:t>Motivation</a:t>
            </a:r>
            <a:endParaRPr lang="en-GB" dirty="0">
              <a:solidFill>
                <a:srgbClr val="C00000"/>
              </a:solidFill>
            </a:endParaRP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>
                <a:solidFill>
                  <a:srgbClr val="C00000"/>
                </a:solidFill>
              </a:rPr>
              <a:t>Characters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/>
              <a:t>2.1	ASCII Table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/>
              <a:t>2.2	Demo #1: Using Characters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/>
              <a:t>2.3	Demo #2: Character I/O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/>
              <a:t>2.4	Demo #3: Character Functions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/>
              <a:t>2.5	Common Error</a:t>
            </a:r>
            <a:endParaRPr lang="en-GB" dirty="0"/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>
                <a:solidFill>
                  <a:srgbClr val="C00000"/>
                </a:solidFill>
              </a:rPr>
              <a:t>Strings</a:t>
            </a:r>
            <a:endParaRPr lang="en-GB" dirty="0">
              <a:solidFill>
                <a:srgbClr val="C00000"/>
              </a:solidFill>
            </a:endParaRP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/>
              <a:t>3.1	Basics</a:t>
            </a:r>
            <a:endParaRPr lang="en-GB" dirty="0"/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 dirty="0"/>
              <a:t>3</a:t>
            </a:r>
            <a:r>
              <a:rPr lang="en-GB"/>
              <a:t>.2	String I/O 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/>
              <a:t>3.3	Demo #4: String I/O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/>
              <a:t>3.4	Demo #5: Remove Vowels</a:t>
            </a:r>
          </a:p>
          <a:p>
            <a:pPr marL="1257300" lvl="1" indent="-627063">
              <a:spcBef>
                <a:spcPts val="600"/>
              </a:spcBef>
              <a:buClrTx/>
              <a:buSzPct val="100000"/>
              <a:buNone/>
            </a:pPr>
            <a:r>
              <a:rPr lang="en-GB"/>
              <a:t>3.5	Demo #6: Character Array without terminating ‘\0’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65727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rgbClr val="0000FF"/>
                </a:solidFill>
              </a:rPr>
              <a:t>Unit 16: Characters and Strings (2/2)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 </a:t>
            </a:r>
            <a:r>
              <a:rPr sz="1200"/>
              <a:t>-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178169"/>
            <a:ext cx="8420559" cy="5310554"/>
          </a:xfrm>
        </p:spPr>
        <p:txBody>
          <a:bodyPr>
            <a:normAutofit/>
          </a:bodyPr>
          <a:lstStyle/>
          <a:p>
            <a:pPr marL="514350" indent="-514350" eaLnBrk="1" hangingPunct="1">
              <a:spcBef>
                <a:spcPts val="1200"/>
              </a:spcBef>
              <a:buClrTx/>
              <a:buSzPct val="100000"/>
              <a:buFont typeface="+mj-lt"/>
              <a:buAutoNum type="arabicPeriod" startAt="4"/>
            </a:pPr>
            <a:r>
              <a:rPr lang="en-GB">
                <a:solidFill>
                  <a:srgbClr val="C00000"/>
                </a:solidFill>
              </a:rPr>
              <a:t>String Functions</a:t>
            </a:r>
          </a:p>
          <a:p>
            <a:pPr marL="514350" indent="-514350" eaLnBrk="1" hangingPunct="1">
              <a:spcBef>
                <a:spcPts val="1200"/>
              </a:spcBef>
              <a:buClrTx/>
              <a:buSzPct val="100000"/>
              <a:buFont typeface="+mj-lt"/>
              <a:buAutoNum type="arabicPeriod" startAt="4"/>
            </a:pPr>
            <a:r>
              <a:rPr lang="en-GB">
                <a:solidFill>
                  <a:srgbClr val="C00000"/>
                </a:solidFill>
              </a:rPr>
              <a:t>Pointer to String</a:t>
            </a:r>
            <a:endParaRPr lang="en-GB" dirty="0">
              <a:solidFill>
                <a:srgbClr val="C00000"/>
              </a:solidFill>
            </a:endParaRPr>
          </a:p>
          <a:p>
            <a:pPr marL="514350" indent="-514350" eaLnBrk="1" hangingPunct="1">
              <a:spcBef>
                <a:spcPts val="1200"/>
              </a:spcBef>
              <a:buClrTx/>
              <a:buSzPct val="100000"/>
              <a:buFont typeface="+mj-lt"/>
              <a:buAutoNum type="arabicPeriod" startAt="4"/>
            </a:pPr>
            <a:r>
              <a:rPr lang="en-GB">
                <a:solidFill>
                  <a:srgbClr val="C00000"/>
                </a:solidFill>
              </a:rPr>
              <a:t>Array of Strings</a:t>
            </a:r>
          </a:p>
          <a:p>
            <a:pPr marL="514350" indent="-514350" eaLnBrk="1" hangingPunct="1">
              <a:spcBef>
                <a:spcPts val="1200"/>
              </a:spcBef>
              <a:buClrTx/>
              <a:buSzPct val="100000"/>
              <a:buFont typeface="+mj-lt"/>
              <a:buAutoNum type="arabicPeriod" startAt="4"/>
            </a:pPr>
            <a:r>
              <a:rPr lang="en-GB">
                <a:solidFill>
                  <a:srgbClr val="C00000"/>
                </a:solidFill>
              </a:rPr>
              <a:t>Demo #7: Using String Functions</a:t>
            </a:r>
          </a:p>
          <a:p>
            <a:pPr marL="514350" indent="-514350" eaLnBrk="1" hangingPunct="1">
              <a:spcBef>
                <a:spcPts val="1200"/>
              </a:spcBef>
              <a:buClrTx/>
              <a:buSzPct val="100000"/>
              <a:buFont typeface="+mj-lt"/>
              <a:buAutoNum type="arabicPeriod" startAt="4"/>
            </a:pPr>
            <a:r>
              <a:rPr lang="en-GB">
                <a:solidFill>
                  <a:srgbClr val="C00000"/>
                </a:solidFill>
              </a:rPr>
              <a:t>Strings and Pointers</a:t>
            </a:r>
          </a:p>
        </p:txBody>
      </p:sp>
    </p:spTree>
    <p:extLst>
      <p:ext uri="{BB962C8B-B14F-4D97-AF65-F5344CB8AC3E}">
        <p14:creationId xmlns:p14="http://schemas.microsoft.com/office/powerpoint/2010/main" val="399717688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1. Motivation 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</a:t>
            </a:r>
            <a:r>
              <a:rPr lang="en-US"/>
              <a:t>6 </a:t>
            </a:r>
            <a:r>
              <a:rPr sz="1200"/>
              <a:t>-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2259136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Why study characters and strings?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0000FF"/>
                </a:solidFill>
              </a:rPr>
              <a:t>Hangman</a:t>
            </a:r>
            <a:r>
              <a:rPr lang="en-US" dirty="0"/>
              <a:t> game – Player tries to guess a word by filling in the blanks. Each incorrect guess brings the player closer to being “hanged”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Let’s play! </a:t>
            </a:r>
            <a:r>
              <a:rPr lang="en-US" dirty="0">
                <a:hlinkClick r:id="rId3"/>
              </a:rPr>
              <a:t>http://www.hangman.no/</a:t>
            </a:r>
            <a:endParaRPr lang="en-US" dirty="0"/>
          </a:p>
        </p:txBody>
      </p:sp>
      <p:pic>
        <p:nvPicPr>
          <p:cNvPr id="9" name="Picture 8" descr="hangman.gif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09948" y="3370996"/>
            <a:ext cx="411480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22919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2. Characters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lang="en-US" sz="1200"/>
              <a:t>-</a:t>
            </a:r>
            <a:r>
              <a:rPr sz="1200"/>
              <a:t>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389196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In C, </a:t>
            </a:r>
            <a:r>
              <a:rPr lang="en-US" u="sng"/>
              <a:t>single</a:t>
            </a:r>
            <a:r>
              <a:rPr lang="en-US"/>
              <a:t> </a:t>
            </a:r>
            <a:r>
              <a:rPr lang="en-US">
                <a:solidFill>
                  <a:srgbClr val="0000FF"/>
                </a:solidFill>
              </a:rPr>
              <a:t>characters</a:t>
            </a:r>
            <a:r>
              <a:rPr lang="en-US"/>
              <a:t> are represented using the data type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char</a:t>
            </a:r>
            <a:endParaRPr lang="en-US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>
                <a:solidFill>
                  <a:srgbClr val="0000FF"/>
                </a:solidFill>
              </a:rPr>
              <a:t>Character constants</a:t>
            </a:r>
            <a:r>
              <a:rPr lang="en-US"/>
              <a:t> are written as symbols enclosed in single quotes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Examples: 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'g'</a:t>
            </a:r>
            <a:r>
              <a:rPr lang="en-US"/>
              <a:t>, 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'8'</a:t>
            </a:r>
            <a:r>
              <a:rPr lang="en-US"/>
              <a:t>, </a:t>
            </a:r>
            <a:r>
              <a:rPr lang="en-US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'*'</a:t>
            </a:r>
            <a:r>
              <a:rPr lang="en-US"/>
              <a:t>, 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' '</a:t>
            </a:r>
            <a:r>
              <a:rPr lang="en-US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'\n'</a:t>
            </a:r>
            <a:r>
              <a:rPr lang="en-US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'\0'</a:t>
            </a:r>
            <a:r>
              <a:rPr lang="en-US"/>
              <a:t> 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Recall: Week 3 Exercise #7 NRIC Check Code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Characters are stored in one byte, and are encoded as numbers using the </a:t>
            </a:r>
            <a:r>
              <a:rPr lang="en-US">
                <a:solidFill>
                  <a:srgbClr val="0000FF"/>
                </a:solidFill>
              </a:rPr>
              <a:t>ASCII</a:t>
            </a:r>
            <a:r>
              <a:rPr lang="en-US"/>
              <a:t> scheme.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i="1"/>
              <a:t>ASCII</a:t>
            </a:r>
            <a:r>
              <a:rPr lang="en-US"/>
              <a:t> (</a:t>
            </a:r>
            <a:r>
              <a:rPr lang="en-US" i="1"/>
              <a:t>American Standard Code for Information Interchange</a:t>
            </a:r>
            <a:r>
              <a:rPr lang="en-US"/>
              <a:t>), is one of the document coding schemes widely used today.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i="1"/>
              <a:t>Unicode</a:t>
            </a:r>
            <a:r>
              <a:rPr lang="en-US"/>
              <a:t> is another commonly used standard for multi-language texts.</a:t>
            </a:r>
          </a:p>
        </p:txBody>
      </p:sp>
    </p:spTree>
    <p:extLst>
      <p:ext uri="{BB962C8B-B14F-4D97-AF65-F5344CB8AC3E}">
        <p14:creationId xmlns:p14="http://schemas.microsoft.com/office/powerpoint/2010/main" val="257309060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2.1 Characters: ASCII Table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Footer Placeholder 2"/>
          <p:cNvSpPr txBox="1">
            <a:spLocks noGrp="1"/>
          </p:cNvSpPr>
          <p:nvPr/>
        </p:nvSpPr>
        <p:spPr bwMode="auto">
          <a:xfrm>
            <a:off x="228599" y="6166884"/>
            <a:ext cx="4981353" cy="297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1100" dirty="0">
                <a:solidFill>
                  <a:srgbClr val="CC6600"/>
                </a:solidFill>
                <a:latin typeface="Times New Roman" pitchFamily="18" charset="0"/>
              </a:rPr>
              <a:t>©The McGraw-Hill Companies, Inc. Permission required for reproduction or display.</a:t>
            </a:r>
          </a:p>
        </p:txBody>
      </p:sp>
      <p:grpSp>
        <p:nvGrpSpPr>
          <p:cNvPr id="10" name="Group 1027"/>
          <p:cNvGrpSpPr>
            <a:grpSpLocks/>
          </p:cNvGrpSpPr>
          <p:nvPr/>
        </p:nvGrpSpPr>
        <p:grpSpPr bwMode="auto">
          <a:xfrm>
            <a:off x="581025" y="1402132"/>
            <a:ext cx="6332538" cy="4594225"/>
            <a:chOff x="687" y="681"/>
            <a:chExt cx="3989" cy="2894"/>
          </a:xfrm>
        </p:grpSpPr>
        <p:sp>
          <p:nvSpPr>
            <p:cNvPr id="11" name="Rectangle 1028"/>
            <p:cNvSpPr>
              <a:spLocks noChangeArrowheads="1"/>
            </p:cNvSpPr>
            <p:nvPr/>
          </p:nvSpPr>
          <p:spPr bwMode="auto">
            <a:xfrm>
              <a:off x="687" y="681"/>
              <a:ext cx="3989" cy="28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pic>
          <p:nvPicPr>
            <p:cNvPr id="13" name="Picture 102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72" y="744"/>
              <a:ext cx="3816" cy="27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" name="Group 1030"/>
          <p:cNvGrpSpPr>
            <a:grpSpLocks/>
          </p:cNvGrpSpPr>
          <p:nvPr/>
        </p:nvGrpSpPr>
        <p:grpSpPr bwMode="auto">
          <a:xfrm>
            <a:off x="947738" y="1570407"/>
            <a:ext cx="7954962" cy="3170237"/>
            <a:chOff x="643" y="838"/>
            <a:chExt cx="5011" cy="1997"/>
          </a:xfrm>
        </p:grpSpPr>
        <p:grpSp>
          <p:nvGrpSpPr>
            <p:cNvPr id="15" name="Group 1031"/>
            <p:cNvGrpSpPr>
              <a:grpSpLocks/>
            </p:cNvGrpSpPr>
            <p:nvPr/>
          </p:nvGrpSpPr>
          <p:grpSpPr bwMode="auto">
            <a:xfrm>
              <a:off x="4205" y="2082"/>
              <a:ext cx="1449" cy="753"/>
              <a:chOff x="4205" y="2082"/>
              <a:chExt cx="1449" cy="753"/>
            </a:xfrm>
          </p:grpSpPr>
          <p:sp>
            <p:nvSpPr>
              <p:cNvPr id="19" name="AutoShape 1032"/>
              <p:cNvSpPr>
                <a:spLocks noChangeArrowheads="1"/>
              </p:cNvSpPr>
              <p:nvPr/>
            </p:nvSpPr>
            <p:spPr bwMode="auto">
              <a:xfrm>
                <a:off x="4659" y="2082"/>
                <a:ext cx="995" cy="753"/>
              </a:xfrm>
              <a:prstGeom prst="roundRect">
                <a:avLst>
                  <a:gd name="adj" fmla="val 16667"/>
                </a:avLst>
              </a:prstGeom>
              <a:solidFill>
                <a:srgbClr val="CCEC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  <a:effectLst>
                <a:outerShdw dist="8980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 altLang="ja-JP" sz="1400">
                    <a:solidFill>
                      <a:srgbClr val="000000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For example, character </a:t>
                </a:r>
                <a:r>
                  <a:rPr lang="en-US" altLang="ja-JP" sz="1400">
                    <a:solidFill>
                      <a:schemeClr val="tx2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'O'</a:t>
                </a:r>
                <a:r>
                  <a:rPr lang="en-US" altLang="ja-JP" sz="1400">
                    <a:solidFill>
                      <a:srgbClr val="000000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 is </a:t>
                </a:r>
                <a:r>
                  <a:rPr lang="en-US" altLang="ja-JP" sz="1400">
                    <a:solidFill>
                      <a:schemeClr val="tx2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79</a:t>
                </a:r>
                <a:r>
                  <a:rPr lang="en-US" altLang="ja-JP" sz="1400">
                    <a:solidFill>
                      <a:srgbClr val="000000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 (row value </a:t>
                </a:r>
                <a:r>
                  <a:rPr lang="en-US" altLang="ja-JP" sz="1400">
                    <a:solidFill>
                      <a:schemeClr val="tx2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70</a:t>
                </a:r>
                <a:r>
                  <a:rPr lang="en-US" altLang="ja-JP" sz="1400">
                    <a:solidFill>
                      <a:srgbClr val="000000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 + col value </a:t>
                </a:r>
                <a:r>
                  <a:rPr lang="en-US" altLang="ja-JP" sz="1400">
                    <a:solidFill>
                      <a:schemeClr val="tx2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9</a:t>
                </a:r>
                <a:r>
                  <a:rPr lang="en-US" altLang="ja-JP" sz="1400">
                    <a:solidFill>
                      <a:srgbClr val="000000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 = </a:t>
                </a:r>
                <a:r>
                  <a:rPr lang="en-US" altLang="ja-JP" sz="1400">
                    <a:solidFill>
                      <a:schemeClr val="tx2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79</a:t>
                </a:r>
                <a:r>
                  <a:rPr lang="en-US" altLang="ja-JP" sz="1400">
                    <a:solidFill>
                      <a:srgbClr val="000000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).</a:t>
                </a:r>
              </a:p>
            </p:txBody>
          </p:sp>
          <p:cxnSp>
            <p:nvCxnSpPr>
              <p:cNvPr id="20" name="AutoShape 1033"/>
              <p:cNvCxnSpPr>
                <a:cxnSpLocks noChangeShapeType="1"/>
                <a:stCxn id="19" idx="1"/>
              </p:cNvCxnSpPr>
              <p:nvPr/>
            </p:nvCxnSpPr>
            <p:spPr bwMode="auto">
              <a:xfrm flipH="1" flipV="1">
                <a:off x="4205" y="2457"/>
                <a:ext cx="454" cy="2"/>
              </a:xfrm>
              <a:prstGeom prst="straightConnector1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</p:cxnSp>
        </p:grpSp>
        <p:sp>
          <p:nvSpPr>
            <p:cNvPr id="16" name="AutoShape 1034"/>
            <p:cNvSpPr>
              <a:spLocks noChangeArrowheads="1"/>
            </p:cNvSpPr>
            <p:nvPr/>
          </p:nvSpPr>
          <p:spPr bwMode="auto">
            <a:xfrm>
              <a:off x="3981" y="2371"/>
              <a:ext cx="192" cy="192"/>
            </a:xfrm>
            <a:prstGeom prst="roundRect">
              <a:avLst>
                <a:gd name="adj" fmla="val 625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ECF9FE"/>
                  </a:solidFill>
                  <a:latin typeface="Courier New" pitchFamily="49" charset="0"/>
                  <a:ea typeface="ＭＳ Ｐゴシック" pitchFamily="34" charset="-128"/>
                </a:rPr>
                <a:t>O</a:t>
              </a:r>
            </a:p>
          </p:txBody>
        </p:sp>
        <p:sp>
          <p:nvSpPr>
            <p:cNvPr id="17" name="AutoShape 1035"/>
            <p:cNvSpPr>
              <a:spLocks noChangeArrowheads="1"/>
            </p:cNvSpPr>
            <p:nvPr/>
          </p:nvSpPr>
          <p:spPr bwMode="auto">
            <a:xfrm>
              <a:off x="3978" y="838"/>
              <a:ext cx="192" cy="169"/>
            </a:xfrm>
            <a:prstGeom prst="roundRect">
              <a:avLst>
                <a:gd name="adj" fmla="val 625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ECF9FE"/>
                  </a:solidFill>
                  <a:latin typeface="Courier New" pitchFamily="49" charset="0"/>
                  <a:ea typeface="ＭＳ Ｐゴシック" pitchFamily="34" charset="-128"/>
                </a:rPr>
                <a:t>9</a:t>
              </a:r>
            </a:p>
          </p:txBody>
        </p:sp>
        <p:sp>
          <p:nvSpPr>
            <p:cNvPr id="18" name="AutoShape 1036"/>
            <p:cNvSpPr>
              <a:spLocks noChangeArrowheads="1"/>
            </p:cNvSpPr>
            <p:nvPr/>
          </p:nvSpPr>
          <p:spPr bwMode="auto">
            <a:xfrm>
              <a:off x="643" y="2402"/>
              <a:ext cx="192" cy="169"/>
            </a:xfrm>
            <a:prstGeom prst="roundRect">
              <a:avLst>
                <a:gd name="adj" fmla="val 625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ECF9FE"/>
                  </a:solidFill>
                  <a:latin typeface="Courier New" pitchFamily="49" charset="0"/>
                  <a:ea typeface="ＭＳ Ｐゴシック" pitchFamily="34" charset="-128"/>
                </a:rPr>
                <a:t>70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34769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2.2 Demo #1: Using Characters (1/2)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459027" y="1458913"/>
            <a:ext cx="8148398" cy="4252339"/>
            <a:chOff x="459027" y="1458913"/>
            <a:chExt cx="8148398" cy="4252339"/>
          </a:xfrm>
        </p:grpSpPr>
        <p:sp>
          <p:nvSpPr>
            <p:cNvPr id="11" name="TextBox 10"/>
            <p:cNvSpPr txBox="1"/>
            <p:nvPr/>
          </p:nvSpPr>
          <p:spPr>
            <a:xfrm>
              <a:off x="459027" y="1567911"/>
              <a:ext cx="6296629" cy="4143341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// Unit16_CharacterDemo1.c</a:t>
              </a:r>
              <a:endParaRPr lang="en-US" sz="1600" b="1" dirty="0">
                <a:solidFill>
                  <a:srgbClr val="800000"/>
                </a:solidFill>
                <a:latin typeface="Courier New" pitchFamily="49" charset="0"/>
              </a:endParaRP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>
                  <a:solidFill>
                    <a:srgbClr val="7030A0"/>
                  </a:solidFill>
                  <a:latin typeface="Courier New" pitchFamily="49" charset="0"/>
                </a:rPr>
                <a:t>#include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&lt;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</a:rPr>
                <a:t>stdio.h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&gt;</a:t>
              </a: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endParaRPr lang="en-US" sz="1600" b="1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</a:rPr>
                <a:t>int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main(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</a:rPr>
                <a:t>void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 {</a:t>
              </a: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endParaRPr lang="en-US" sz="1600" b="1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</a:rPr>
                <a:t>char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grade =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'A'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newgrade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ch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</a:rPr>
                <a:t>int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value;</a:t>
              </a: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endParaRPr lang="en-US" sz="1600" b="1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"grade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</a:rPr>
                <a:t>%c\n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grade);</a:t>
              </a: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newgrade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= grade +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2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; </a:t>
              </a: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</a:rPr>
                <a:t>newgrade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 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</a:rPr>
                <a:t>%c\n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newgrade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</a:rPr>
                <a:t>newgrade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</a:rPr>
                <a:t>%d\n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newgrade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endParaRPr lang="en-US" sz="1600" b="1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value =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65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"value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</a:rPr>
                <a:t>%d\n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value);</a:t>
              </a:r>
            </a:p>
            <a:p>
              <a:pPr marL="342900" indent="-342900">
                <a:tabLst>
                  <a:tab pos="360363" algn="l"/>
                  <a:tab pos="630238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"value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</a:rPr>
                <a:t>%c\n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value);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84813" y="1458913"/>
              <a:ext cx="3122612" cy="36933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/>
                <a:t>Unit16_CharacterDemo1.c</a:t>
              </a:r>
              <a:endParaRPr lang="en-SG" dirty="0"/>
            </a:p>
          </p:txBody>
        </p:sp>
      </p:grpSp>
      <p:sp>
        <p:nvSpPr>
          <p:cNvPr id="14" name="Line Callout 2 (Border and Accent Bar) 13"/>
          <p:cNvSpPr/>
          <p:nvPr/>
        </p:nvSpPr>
        <p:spPr bwMode="auto">
          <a:xfrm>
            <a:off x="3230292" y="2293568"/>
            <a:ext cx="2193925" cy="492125"/>
          </a:xfrm>
          <a:prstGeom prst="accentBorderCallout2">
            <a:avLst/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400" dirty="0"/>
              <a:t>Declaring and </a:t>
            </a:r>
            <a:r>
              <a:rPr lang="en-US" sz="1400" dirty="0" err="1"/>
              <a:t>initialising</a:t>
            </a:r>
            <a:r>
              <a:rPr lang="en-US" sz="1400" dirty="0"/>
              <a:t> char variables.</a:t>
            </a:r>
            <a:endParaRPr lang="en-SG" sz="1400" dirty="0"/>
          </a:p>
        </p:txBody>
      </p:sp>
      <p:sp>
        <p:nvSpPr>
          <p:cNvPr id="15" name="Line Callout 2 (Border and Accent Bar) 14"/>
          <p:cNvSpPr/>
          <p:nvPr/>
        </p:nvSpPr>
        <p:spPr bwMode="auto">
          <a:xfrm>
            <a:off x="4953717" y="5494343"/>
            <a:ext cx="2195512" cy="55721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74536"/>
              <a:gd name="adj6" fmla="val -66655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400" dirty="0"/>
              <a:t>Relationship between character and integer.</a:t>
            </a:r>
            <a:endParaRPr lang="en-SG" sz="1400" dirty="0"/>
          </a:p>
        </p:txBody>
      </p:sp>
      <p:sp>
        <p:nvSpPr>
          <p:cNvPr id="16" name="Line Callout 2 (Border and Accent Bar) 15"/>
          <p:cNvSpPr/>
          <p:nvPr/>
        </p:nvSpPr>
        <p:spPr bwMode="auto">
          <a:xfrm>
            <a:off x="4422094" y="3102576"/>
            <a:ext cx="1066800" cy="33496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4132"/>
              <a:gd name="adj6" fmla="val -135492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400" dirty="0"/>
              <a:t>Using %c</a:t>
            </a:r>
            <a:endParaRPr lang="en-SG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059809" y="3226288"/>
            <a:ext cx="2214762" cy="1015663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grade = A</a:t>
            </a:r>
          </a:p>
          <a:p>
            <a:pPr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newgrade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= C 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newgrade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= 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1873" y="4662221"/>
            <a:ext cx="1828800" cy="72707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value = 65</a:t>
            </a:r>
          </a:p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value = A</a:t>
            </a:r>
          </a:p>
        </p:txBody>
      </p:sp>
    </p:spTree>
    <p:extLst>
      <p:ext uri="{BB962C8B-B14F-4D97-AF65-F5344CB8AC3E}">
        <p14:creationId xmlns:p14="http://schemas.microsoft.com/office/powerpoint/2010/main" val="18125068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2.2 Demo #1: Using Characters (2/2)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12515" y="1764682"/>
            <a:ext cx="6296629" cy="280076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tabLst>
                <a:tab pos="719138" algn="l"/>
              </a:tabLst>
              <a:defRPr/>
            </a:pP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tabLst>
                <a:tab pos="719138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'A'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&lt;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'c'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>
              <a:tabLst>
                <a:tab pos="719138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	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printf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"'A' is less than 'c'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\n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"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marL="342900" indent="-342900">
              <a:tabLst>
                <a:tab pos="719138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else</a:t>
            </a:r>
          </a:p>
          <a:p>
            <a:pPr marL="342900" indent="-342900">
              <a:tabLst>
                <a:tab pos="719138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	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printf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"'A' is not less than 'c'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\n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"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marL="342900" indent="-342900">
              <a:tabLst>
                <a:tab pos="719138" algn="l"/>
              </a:tabLst>
              <a:defRPr/>
            </a:pP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tabLst>
                <a:tab pos="719138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for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(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ch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'p'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ch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&lt;=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't'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ch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++)</a:t>
            </a:r>
          </a:p>
          <a:p>
            <a:pPr marL="342900" indent="-342900">
              <a:tabLst>
                <a:tab pos="719138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	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printf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("</a:t>
            </a:r>
            <a:r>
              <a:rPr lang="en-US" sz="1600" b="1" dirty="0" err="1">
                <a:solidFill>
                  <a:srgbClr val="006600"/>
                </a:solidFill>
                <a:latin typeface="Courier New" pitchFamily="49" charset="0"/>
              </a:rPr>
              <a:t>ch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 =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%c\n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"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ch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marL="342900" indent="-342900">
              <a:tabLst>
                <a:tab pos="719138" algn="l"/>
              </a:tabLst>
              <a:defRPr/>
            </a:pP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tabLst>
                <a:tab pos="719138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>
              <a:tabLst>
                <a:tab pos="719138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0" name="Line Callout 2 (Border and Accent Bar) 19"/>
          <p:cNvSpPr/>
          <p:nvPr/>
        </p:nvSpPr>
        <p:spPr bwMode="auto">
          <a:xfrm>
            <a:off x="3063875" y="1543050"/>
            <a:ext cx="2193925" cy="354013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5081"/>
              <a:gd name="adj6" fmla="val -41979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400" dirty="0"/>
              <a:t>Comparing characters.</a:t>
            </a:r>
            <a:endParaRPr lang="en-SG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5108575" y="3971925"/>
            <a:ext cx="3578225" cy="42227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'A' is less than 'c'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4450" y="4535488"/>
            <a:ext cx="1597025" cy="164147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= p</a:t>
            </a:r>
          </a:p>
          <a:p>
            <a:pPr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= q</a:t>
            </a:r>
          </a:p>
          <a:p>
            <a:pPr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= r</a:t>
            </a:r>
          </a:p>
          <a:p>
            <a:pPr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= s</a:t>
            </a:r>
          </a:p>
          <a:p>
            <a:pPr>
              <a:defRPr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= t</a:t>
            </a:r>
          </a:p>
        </p:txBody>
      </p:sp>
      <p:sp>
        <p:nvSpPr>
          <p:cNvPr id="23" name="Line Callout 2 (Border and Accent Bar) 22"/>
          <p:cNvSpPr/>
          <p:nvPr/>
        </p:nvSpPr>
        <p:spPr bwMode="auto">
          <a:xfrm>
            <a:off x="5970588" y="3135313"/>
            <a:ext cx="2193925" cy="557212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2015"/>
              <a:gd name="adj6" fmla="val -60209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400" dirty="0"/>
              <a:t>Using character variable as a loop variable.</a:t>
            </a:r>
            <a:endParaRPr lang="en-SG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6897688" y="4565449"/>
            <a:ext cx="1982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ASCII value of 'A' is 65. ASCII value of 'c' is 99.</a:t>
            </a:r>
          </a:p>
        </p:txBody>
      </p:sp>
    </p:spTree>
    <p:extLst>
      <p:ext uri="{BB962C8B-B14F-4D97-AF65-F5344CB8AC3E}">
        <p14:creationId xmlns:p14="http://schemas.microsoft.com/office/powerpoint/2010/main" val="31650158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2.3 Demo #2: Character I/O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52799"/>
            <a:ext cx="8229600" cy="1045278"/>
          </a:xfrm>
        </p:spPr>
        <p:txBody>
          <a:bodyPr>
            <a:no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Besides scanf() and printf(), we can also use </a:t>
            </a:r>
            <a:r>
              <a:rPr lang="en-US">
                <a:solidFill>
                  <a:srgbClr val="0000FF"/>
                </a:solidFill>
              </a:rPr>
              <a:t>getchar() </a:t>
            </a:r>
            <a:r>
              <a:rPr lang="en-US"/>
              <a:t>and </a:t>
            </a:r>
            <a:r>
              <a:rPr lang="en-US">
                <a:solidFill>
                  <a:srgbClr val="0000FF"/>
                </a:solidFill>
              </a:rPr>
              <a:t>putchar()</a:t>
            </a:r>
            <a:r>
              <a:rPr lang="en-US"/>
              <a:t>. Note how they are used below: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492125" y="2144713"/>
            <a:ext cx="7383463" cy="4164012"/>
            <a:chOff x="492125" y="2144713"/>
            <a:chExt cx="7383463" cy="4164012"/>
          </a:xfrm>
        </p:grpSpPr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492125" y="2239963"/>
              <a:ext cx="5897563" cy="4068762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rgbClr val="8A8AB9"/>
              </a:solidFill>
              <a:miter lim="800000"/>
              <a:headEnd/>
              <a:tailEnd/>
            </a:ln>
            <a:effectLst>
              <a:outerShdw dist="38100" dir="2700000" algn="tl" rotWithShape="0">
                <a:srgbClr val="808080">
                  <a:alpha val="39999"/>
                </a:srgbClr>
              </a:outerShdw>
            </a:effectLst>
          </p:spPr>
          <p:txBody>
            <a:bodyPr/>
            <a:lstStyle/>
            <a:p>
              <a:pPr marL="342900" indent="-342900">
                <a:defRPr/>
              </a:pP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// Unit16_CharacterDemo2.c</a:t>
              </a:r>
              <a:endParaRPr lang="en-US" sz="1600" b="1" dirty="0">
                <a:solidFill>
                  <a:srgbClr val="800000"/>
                </a:solidFill>
                <a:latin typeface="Courier New" pitchFamily="49" charset="0"/>
              </a:endParaRPr>
            </a:p>
            <a:p>
              <a:pPr marL="342900" indent="-342900">
                <a:defRPr/>
              </a:pPr>
              <a:r>
                <a:rPr lang="en-US" sz="1600" b="1" dirty="0">
                  <a:latin typeface="Courier New" pitchFamily="49" charset="0"/>
                </a:rPr>
                <a:t>#include &lt;</a:t>
              </a:r>
              <a:r>
                <a:rPr lang="en-US" sz="1600" b="1" dirty="0" err="1">
                  <a:latin typeface="Courier New" pitchFamily="49" charset="0"/>
                </a:rPr>
                <a:t>stdio.h</a:t>
              </a:r>
              <a:r>
                <a:rPr lang="en-US" sz="1600" b="1" dirty="0">
                  <a:latin typeface="Courier New" pitchFamily="49" charset="0"/>
                </a:rPr>
                <a:t>&gt;</a:t>
              </a:r>
            </a:p>
            <a:p>
              <a:pPr marL="342900" indent="-342900">
                <a:defRPr/>
              </a:pPr>
              <a:endParaRPr lang="en-US" sz="1600" b="1" dirty="0">
                <a:latin typeface="Courier New" pitchFamily="49" charset="0"/>
              </a:endParaRPr>
            </a:p>
            <a:p>
              <a:pPr marL="342900" indent="-342900">
                <a:defRPr/>
              </a:pPr>
              <a:r>
                <a:rPr lang="en-US" sz="1600" b="1" dirty="0" err="1">
                  <a:latin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</a:rPr>
                <a:t> main(void) {</a:t>
              </a:r>
            </a:p>
            <a:p>
              <a:pPr marL="342900" indent="-342900">
                <a:defRPr/>
              </a:pPr>
              <a:r>
                <a:rPr lang="en-US" sz="1600" b="1" dirty="0">
                  <a:latin typeface="Courier New" pitchFamily="49" charset="0"/>
                </a:rPr>
                <a:t>	char </a:t>
              </a:r>
              <a:r>
                <a:rPr lang="en-US" sz="1600" b="1" dirty="0" err="1">
                  <a:latin typeface="Courier New" pitchFamily="49" charset="0"/>
                </a:rPr>
                <a:t>ch</a:t>
              </a:r>
              <a:r>
                <a:rPr lang="en-US" sz="1600" b="1" dirty="0">
                  <a:latin typeface="Courier New" pitchFamily="49" charset="0"/>
                </a:rPr>
                <a:t>;</a:t>
              </a:r>
            </a:p>
            <a:p>
              <a:pPr marL="342900" indent="-342900">
                <a:defRPr/>
              </a:pPr>
              <a:endParaRPr lang="en-US" sz="1600" b="1" dirty="0">
                <a:latin typeface="Courier New" pitchFamily="49" charset="0"/>
              </a:endParaRPr>
            </a:p>
            <a:p>
              <a:pPr marL="342900" indent="-342900"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</a:rPr>
                <a:t>("Enter a character: ");</a:t>
              </a:r>
            </a:p>
            <a:p>
              <a:pPr marL="342900" indent="-342900"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ch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= </a:t>
              </a:r>
              <a:r>
                <a:rPr lang="en-US" sz="1600" b="1" dirty="0" err="1">
                  <a:solidFill>
                    <a:srgbClr val="C00000"/>
                  </a:solidFill>
                  <a:latin typeface="Courier New" pitchFamily="49" charset="0"/>
                </a:rPr>
                <a:t>getchar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</a:rPr>
                <a:t>();</a:t>
              </a:r>
            </a:p>
            <a:p>
              <a:pPr marL="342900" indent="-342900">
                <a:defRPr/>
              </a:pPr>
              <a:endParaRPr lang="en-US" sz="1600" b="1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 marL="342900" indent="-342900"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"The character entered is 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 marL="342900" indent="-342900"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C00000"/>
                  </a:solidFill>
                  <a:latin typeface="Courier New" pitchFamily="49" charset="0"/>
                </a:rPr>
                <a:t>putchar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</a:rPr>
                <a:t>(</a:t>
              </a:r>
              <a:r>
                <a:rPr lang="en-US" sz="1600" b="1" dirty="0" err="1">
                  <a:solidFill>
                    <a:srgbClr val="C00000"/>
                  </a:solidFill>
                  <a:latin typeface="Courier New" pitchFamily="49" charset="0"/>
                </a:rPr>
                <a:t>ch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</a:rPr>
                <a:t>)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</a:p>
            <a:p>
              <a:pPr marL="342900" indent="-342900"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C00000"/>
                  </a:solidFill>
                  <a:latin typeface="Courier New" pitchFamily="49" charset="0"/>
                </a:rPr>
                <a:t>putchar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</a:rPr>
                <a:t>('\n')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</a:p>
            <a:p>
              <a:pPr marL="342900" indent="-342900">
                <a:defRPr/>
              </a:pPr>
              <a:endParaRPr lang="en-US" sz="1600" b="1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 marL="342900" indent="-342900"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return 0;</a:t>
              </a:r>
            </a:p>
            <a:p>
              <a:pPr marL="342900" indent="-342900"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}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52975" y="2144713"/>
              <a:ext cx="3122613" cy="36933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/>
                <a:t>Unit16_CharacterDemo2.c</a:t>
              </a:r>
              <a:endParaRPr lang="en-SG" dirty="0"/>
            </a:p>
          </p:txBody>
        </p:sp>
      </p:grpSp>
      <p:sp>
        <p:nvSpPr>
          <p:cNvPr id="18" name="Line Callout 2 (Border and Accent Bar) 17"/>
          <p:cNvSpPr/>
          <p:nvPr/>
        </p:nvSpPr>
        <p:spPr bwMode="auto">
          <a:xfrm>
            <a:off x="3286464" y="2907285"/>
            <a:ext cx="1828800" cy="560387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6701"/>
              <a:gd name="adj6" fmla="val -49062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400" dirty="0"/>
              <a:t>Read a character from </a:t>
            </a:r>
            <a:r>
              <a:rPr lang="en-US" sz="1400" dirty="0" err="1"/>
              <a:t>stdin</a:t>
            </a:r>
            <a:r>
              <a:rPr lang="en-US" sz="1400" dirty="0"/>
              <a:t>.</a:t>
            </a:r>
            <a:endParaRPr lang="en-SG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4903788" y="3673163"/>
            <a:ext cx="3805237" cy="72707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Enter a character: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</a:t>
            </a:r>
          </a:p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Character entered is W </a:t>
            </a:r>
          </a:p>
        </p:txBody>
      </p:sp>
      <p:sp>
        <p:nvSpPr>
          <p:cNvPr id="20" name="Line Callout 2 (Border and Accent Bar) 19"/>
          <p:cNvSpPr/>
          <p:nvPr/>
        </p:nvSpPr>
        <p:spPr bwMode="auto">
          <a:xfrm>
            <a:off x="3295650" y="5387975"/>
            <a:ext cx="1654175" cy="52070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9228"/>
              <a:gd name="adj6" fmla="val -37784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400" dirty="0"/>
              <a:t>Print a character to </a:t>
            </a:r>
            <a:r>
              <a:rPr lang="en-US" sz="1400" dirty="0" err="1"/>
              <a:t>stdout</a:t>
            </a:r>
            <a:r>
              <a:rPr lang="en-US" sz="1400" dirty="0"/>
              <a:t>.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32402525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2.4 Demo #3: Character Functions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52799"/>
            <a:ext cx="8229600" cy="493121"/>
          </a:xfrm>
        </p:spPr>
        <p:txBody>
          <a:bodyPr>
            <a:no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Must include </a:t>
            </a:r>
            <a:r>
              <a:rPr lang="en-US">
                <a:solidFill>
                  <a:srgbClr val="0000FF"/>
                </a:solidFill>
              </a:rPr>
              <a:t>&lt;ctype.h&gt; </a:t>
            </a:r>
            <a:r>
              <a:rPr lang="en-US"/>
              <a:t>to use these functions.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492125" y="1609537"/>
            <a:ext cx="8159750" cy="5102224"/>
            <a:chOff x="492125" y="1755775"/>
            <a:chExt cx="8159750" cy="5102224"/>
          </a:xfrm>
        </p:grpSpPr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492125" y="1908174"/>
              <a:ext cx="7966075" cy="4949825"/>
            </a:xfrm>
            <a:prstGeom prst="rect">
              <a:avLst/>
            </a:prstGeom>
            <a:noFill/>
            <a:ln w="25400" algn="ctr">
              <a:solidFill>
                <a:srgbClr val="8A8AB9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200" b="1">
                  <a:solidFill>
                    <a:srgbClr val="000000"/>
                  </a:solidFill>
                  <a:latin typeface="Courier New" pitchFamily="49" charset="0"/>
                </a:rPr>
                <a:t>// Unit16_CharacterDemo3.c</a:t>
              </a:r>
              <a:endParaRPr lang="en-US" sz="1200" b="1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200" b="1" dirty="0">
                  <a:solidFill>
                    <a:srgbClr val="000000"/>
                  </a:solidFill>
                  <a:latin typeface="Courier New" pitchFamily="49" charset="0"/>
                </a:rPr>
                <a:t>#include &lt;</a:t>
              </a:r>
              <a:r>
                <a:rPr lang="en-US" sz="1200" b="1" dirty="0" err="1">
                  <a:solidFill>
                    <a:srgbClr val="000000"/>
                  </a:solidFill>
                  <a:latin typeface="Courier New" pitchFamily="49" charset="0"/>
                </a:rPr>
                <a:t>stdio.h</a:t>
              </a:r>
              <a:r>
                <a:rPr lang="en-US" sz="1200" b="1" dirty="0">
                  <a:solidFill>
                    <a:srgbClr val="000000"/>
                  </a:solidFill>
                  <a:latin typeface="Courier New" pitchFamily="49" charset="0"/>
                </a:rPr>
                <a:t>&gt;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#include &lt;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ctype.h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&gt;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200" b="1" dirty="0" err="1">
                  <a:solidFill>
                    <a:srgbClr val="000000"/>
                  </a:solidFill>
                  <a:latin typeface="Courier New" pitchFamily="49" charset="0"/>
                </a:rPr>
                <a:t>int</a:t>
              </a:r>
              <a:r>
                <a:rPr lang="en-US" sz="1200" b="1" dirty="0">
                  <a:solidFill>
                    <a:srgbClr val="000000"/>
                  </a:solidFill>
                  <a:latin typeface="Courier New" pitchFamily="49" charset="0"/>
                </a:rPr>
                <a:t> main(void) {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char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endParaRPr lang="en-US" sz="800" b="1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("Enter a character: ");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 =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getchar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();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if 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isalpha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)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 {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	if 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isupper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)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 {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		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("'%c' is a uppercase-letter.\n",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		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("Converted to lowercase: %c\n", 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tolower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)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	}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	if 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islower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)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 {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		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("'%c' is a lowercase-letter.\n",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		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("Converted to uppercase: %c\n", 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toupper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))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	}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}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if 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isdigit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)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("'%c' is a digit character.\n",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if 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isalnum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)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("'%c' is an alphanumeric character.\n",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if 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isspace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)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("'%c' is a whitespace character.\n",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	if 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ispunct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(</a:t>
              </a:r>
              <a:r>
                <a:rPr lang="en-US" sz="1400" b="1" dirty="0" err="1">
                  <a:solidFill>
                    <a:srgbClr val="C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C00000"/>
                  </a:solidFill>
                  <a:latin typeface="Courier New" pitchFamily="49" charset="0"/>
                </a:rPr>
                <a:t>)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("'%c' is a punctuation character.\n", </a:t>
              </a:r>
              <a:r>
                <a:rPr lang="en-US" sz="1400" b="1" dirty="0" err="1">
                  <a:solidFill>
                    <a:srgbClr val="000000"/>
                  </a:solidFill>
                  <a:latin typeface="Courier New" pitchFamily="49" charset="0"/>
                </a:rPr>
                <a:t>ch</a:t>
              </a:r>
              <a:r>
                <a:rPr lang="en-US" sz="14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200" b="1" dirty="0">
                  <a:solidFill>
                    <a:srgbClr val="000000"/>
                  </a:solidFill>
                  <a:latin typeface="Courier New" pitchFamily="49" charset="0"/>
                </a:rPr>
                <a:t>	return 0;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200" b="1" dirty="0">
                  <a:solidFill>
                    <a:srgbClr val="000000"/>
                  </a:solidFill>
                  <a:latin typeface="Courier New" pitchFamily="49" charset="0"/>
                </a:rPr>
                <a:t>}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499100" y="1755775"/>
              <a:ext cx="3152775" cy="36933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/>
                <a:t>Unit16_CharacterDemo3.c</a:t>
              </a:r>
              <a:endParaRPr lang="en-SG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149725" y="2071500"/>
            <a:ext cx="4514850" cy="1490662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Download this program and test it out.</a:t>
            </a:r>
          </a:p>
          <a:p>
            <a:pPr>
              <a:defRPr/>
            </a:pPr>
            <a:r>
              <a:rPr lang="en-US" dirty="0"/>
              <a:t>For a complete list of character functions, refer to the Internet (</a:t>
            </a:r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http://www.csd.uwo.ca/staff/magi/175/refs/char-funcs.html</a:t>
            </a:r>
            <a:r>
              <a:rPr lang="en-US" dirty="0"/>
              <a:t>) </a:t>
            </a:r>
            <a:endParaRPr lang="en-SG" dirty="0"/>
          </a:p>
        </p:txBody>
      </p:sp>
      <p:grpSp>
        <p:nvGrpSpPr>
          <p:cNvPr id="23" name="Group 22"/>
          <p:cNvGrpSpPr/>
          <p:nvPr/>
        </p:nvGrpSpPr>
        <p:grpSpPr>
          <a:xfrm>
            <a:off x="6134100" y="3689162"/>
            <a:ext cx="2717800" cy="1077218"/>
            <a:chOff x="6134100" y="3835400"/>
            <a:chExt cx="2717800" cy="1077218"/>
          </a:xfrm>
        </p:grpSpPr>
        <p:cxnSp>
          <p:nvCxnSpPr>
            <p:cNvPr id="24" name="Straight Arrow Connector 23"/>
            <p:cNvCxnSpPr>
              <a:stCxn id="26" idx="1"/>
            </p:cNvCxnSpPr>
            <p:nvPr/>
          </p:nvCxnSpPr>
          <p:spPr bwMode="auto">
            <a:xfrm flipH="1" flipV="1">
              <a:off x="6134100" y="4216400"/>
              <a:ext cx="812800" cy="157609"/>
            </a:xfrm>
            <a:prstGeom prst="straightConnector1">
              <a:avLst/>
            </a:prstGeom>
            <a:solidFill>
              <a:schemeClr val="accent1"/>
            </a:solidFill>
            <a:ln w="1905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</p:cxnSp>
        <p:cxnSp>
          <p:nvCxnSpPr>
            <p:cNvPr id="25" name="Straight Arrow Connector 24"/>
            <p:cNvCxnSpPr/>
            <p:nvPr/>
          </p:nvCxnSpPr>
          <p:spPr bwMode="auto">
            <a:xfrm flipH="1">
              <a:off x="6261100" y="4419600"/>
              <a:ext cx="800100" cy="215900"/>
            </a:xfrm>
            <a:prstGeom prst="straightConnector1">
              <a:avLst/>
            </a:prstGeom>
            <a:solidFill>
              <a:schemeClr val="accent1"/>
            </a:solidFill>
            <a:ln w="1905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>
              <a:off x="6946900" y="3835400"/>
              <a:ext cx="1905000" cy="1077218"/>
            </a:xfrm>
            <a:prstGeom prst="rect">
              <a:avLst/>
            </a:prstGeom>
            <a:solidFill>
              <a:srgbClr val="CCCC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Note that </a:t>
              </a:r>
              <a:r>
                <a:rPr lang="en-US" sz="1600" dirty="0" err="1">
                  <a:solidFill>
                    <a:srgbClr val="C00000"/>
                  </a:solidFill>
                </a:rPr>
                <a:t>tolower</a:t>
              </a:r>
              <a:r>
                <a:rPr lang="en-US" sz="1600" dirty="0">
                  <a:solidFill>
                    <a:srgbClr val="C00000"/>
                  </a:solidFill>
                </a:rPr>
                <a:t>(</a:t>
              </a:r>
              <a:r>
                <a:rPr lang="en-US" sz="1600" dirty="0" err="1">
                  <a:solidFill>
                    <a:srgbClr val="C00000"/>
                  </a:solidFill>
                </a:rPr>
                <a:t>ch</a:t>
              </a:r>
              <a:r>
                <a:rPr lang="en-US" sz="1600" dirty="0">
                  <a:solidFill>
                    <a:srgbClr val="C00000"/>
                  </a:solidFill>
                </a:rPr>
                <a:t>) </a:t>
              </a:r>
              <a:r>
                <a:rPr lang="en-US" sz="1600" dirty="0"/>
                <a:t>and </a:t>
              </a:r>
              <a:r>
                <a:rPr lang="en-US" sz="1600" dirty="0" err="1">
                  <a:solidFill>
                    <a:srgbClr val="C00000"/>
                  </a:solidFill>
                </a:rPr>
                <a:t>toupper</a:t>
              </a:r>
              <a:r>
                <a:rPr lang="en-US" sz="1600" dirty="0">
                  <a:solidFill>
                    <a:srgbClr val="C00000"/>
                  </a:solidFill>
                </a:rPr>
                <a:t>(</a:t>
              </a:r>
              <a:r>
                <a:rPr lang="en-US" sz="1600" dirty="0" err="1">
                  <a:solidFill>
                    <a:srgbClr val="C00000"/>
                  </a:solidFill>
                </a:rPr>
                <a:t>ch</a:t>
              </a:r>
              <a:r>
                <a:rPr lang="en-US" sz="1600" dirty="0">
                  <a:solidFill>
                    <a:srgbClr val="C00000"/>
                  </a:solidFill>
                </a:rPr>
                <a:t>) </a:t>
              </a:r>
              <a:r>
                <a:rPr lang="en-US" sz="1600" dirty="0"/>
                <a:t>do NOT change </a:t>
              </a:r>
              <a:r>
                <a:rPr lang="en-US" sz="1600" dirty="0" err="1"/>
                <a:t>ch</a:t>
              </a:r>
              <a:r>
                <a:rPr lang="en-US" sz="1600" dirty="0"/>
                <a:t>!</a:t>
              </a:r>
              <a:endParaRPr lang="en-SG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748663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2.5 Characters: Common Error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328645"/>
            <a:ext cx="8229600" cy="974940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A character variable named </a:t>
            </a:r>
            <a:r>
              <a:rPr lang="en-US">
                <a:solidFill>
                  <a:srgbClr val="C00000"/>
                </a:solidFill>
              </a:rPr>
              <a:t>z</a:t>
            </a:r>
            <a:r>
              <a:rPr lang="en-US"/>
              <a:t> does not means it is equivalent to 'z' or it contains 'z'!</a:t>
            </a:r>
            <a:endParaRPr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300980" y="2232289"/>
            <a:ext cx="3500357" cy="189935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(marks &gt;=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80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'A'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else if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(marks &gt;=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70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'B'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else if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(marks &gt;=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60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'C'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. . .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855664" y="2232289"/>
            <a:ext cx="3230199" cy="2443366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char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A, B, C, D, F;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(marks &gt;=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80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A;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else if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(marks &gt;=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70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B;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else if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(marks &gt;=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60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C;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. . .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291334" y="4294511"/>
            <a:ext cx="3500357" cy="2329548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1600" b="1" dirty="0">
                <a:latin typeface="Courier New" pitchFamily="49" charset="0"/>
              </a:rPr>
              <a:t>grade;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(marks &gt;=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80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latin typeface="Courier New" pitchFamily="49" charset="0"/>
              </a:rPr>
              <a:t>	grade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'A'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else if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(marks &gt;=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70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latin typeface="Courier New" pitchFamily="49" charset="0"/>
              </a:rPr>
              <a:t>	grade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'B'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else if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(marks &gt;=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60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latin typeface="Courier New" pitchFamily="49" charset="0"/>
              </a:rPr>
              <a:t>	grade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</a:rPr>
              <a:t>'C'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. . .</a:t>
            </a:r>
          </a:p>
          <a:p>
            <a:pPr>
              <a:tabLst>
                <a:tab pos="354013" algn="l"/>
                <a:tab pos="720725" algn="l"/>
                <a:tab pos="1074738" algn="l"/>
                <a:tab pos="1439863" algn="l"/>
              </a:tabLst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grade;</a:t>
            </a:r>
          </a:p>
        </p:txBody>
      </p:sp>
      <p:pic>
        <p:nvPicPr>
          <p:cNvPr id="20" name="[Picture 12]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131" y="3453972"/>
            <a:ext cx="473119" cy="596131"/>
          </a:xfrm>
          <a:prstGeom prst="rect">
            <a:avLst/>
          </a:prstGeom>
        </p:spPr>
      </p:pic>
      <p:pic>
        <p:nvPicPr>
          <p:cNvPr id="21" name="[Picture 11]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132" y="4388580"/>
            <a:ext cx="424563" cy="574150"/>
          </a:xfrm>
          <a:prstGeom prst="rect">
            <a:avLst/>
          </a:prstGeom>
        </p:spPr>
      </p:pic>
      <p:pic>
        <p:nvPicPr>
          <p:cNvPr id="22" name="[Picture 12]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471" y="5785411"/>
            <a:ext cx="473119" cy="59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960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3. Strings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95754"/>
            <a:ext cx="8229600" cy="3974123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We have seen arrays of numeric values (types </a:t>
            </a:r>
            <a:r>
              <a:rPr lang="en-US" sz="2800">
                <a:solidFill>
                  <a:srgbClr val="0000FF"/>
                </a:solidFill>
              </a:rPr>
              <a:t>int</a:t>
            </a:r>
            <a:r>
              <a:rPr lang="en-US" sz="2800"/>
              <a:t>, </a:t>
            </a:r>
            <a:r>
              <a:rPr lang="en-US" sz="2800">
                <a:solidFill>
                  <a:srgbClr val="0000FF"/>
                </a:solidFill>
              </a:rPr>
              <a:t>float</a:t>
            </a:r>
            <a:r>
              <a:rPr lang="en-US" sz="2800"/>
              <a:t>, </a:t>
            </a:r>
            <a:r>
              <a:rPr lang="en-US" sz="2800">
                <a:solidFill>
                  <a:srgbClr val="0000FF"/>
                </a:solidFill>
              </a:rPr>
              <a:t>double</a:t>
            </a:r>
            <a:r>
              <a:rPr lang="en-US" sz="2800"/>
              <a:t>)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We have seen </a:t>
            </a:r>
            <a:r>
              <a:rPr lang="en-US" sz="2800">
                <a:solidFill>
                  <a:srgbClr val="0000FF"/>
                </a:solidFill>
              </a:rPr>
              <a:t>string constants</a:t>
            </a:r>
          </a:p>
          <a:p>
            <a:pPr marL="800100" lvl="1" indent="-342900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b="1">
                <a:latin typeface="Courier New" pitchFamily="49" charset="0"/>
              </a:rPr>
              <a:t>printf(</a:t>
            </a:r>
            <a:r>
              <a:rPr lang="en-US" sz="2400" b="1">
                <a:solidFill>
                  <a:srgbClr val="006600"/>
                </a:solidFill>
                <a:latin typeface="Courier New" pitchFamily="49" charset="0"/>
              </a:rPr>
              <a:t>"Average = %.2f"</a:t>
            </a:r>
            <a:r>
              <a:rPr lang="en-US" sz="2400" b="1">
                <a:latin typeface="Courier New" pitchFamily="49" charset="0"/>
              </a:rPr>
              <a:t>, avg);</a:t>
            </a:r>
          </a:p>
          <a:p>
            <a:pPr marL="800100" lvl="1" indent="-342900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b="1">
                <a:latin typeface="Courier New" pitchFamily="49" charset="0"/>
              </a:rPr>
              <a:t>#define ERROR </a:t>
            </a:r>
            <a:r>
              <a:rPr lang="en-US" sz="2400" b="1">
                <a:solidFill>
                  <a:srgbClr val="006600"/>
                </a:solidFill>
                <a:latin typeface="Courier New" pitchFamily="49" charset="0"/>
              </a:rPr>
              <a:t>"*****Error –"</a:t>
            </a:r>
            <a:endParaRPr lang="en-US" sz="2400" b="1">
              <a:solidFill>
                <a:srgbClr val="006600"/>
              </a:solidFill>
            </a:endParaRP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A </a:t>
            </a:r>
            <a:r>
              <a:rPr lang="en-US" sz="2800">
                <a:solidFill>
                  <a:srgbClr val="C00000"/>
                </a:solidFill>
              </a:rPr>
              <a:t>string</a:t>
            </a:r>
            <a:r>
              <a:rPr lang="en-US" sz="2800"/>
              <a:t> is an array of characters, </a:t>
            </a:r>
            <a:r>
              <a:rPr lang="en-US" sz="2800" u="sng"/>
              <a:t>terminated by a null character </a:t>
            </a:r>
            <a:r>
              <a:rPr lang="en-US" sz="2800" u="sng">
                <a:solidFill>
                  <a:srgbClr val="0000FF"/>
                </a:solidFill>
              </a:rPr>
              <a:t>'\0'</a:t>
            </a:r>
            <a:r>
              <a:rPr lang="en-US" sz="2800"/>
              <a:t> (which has ASCII value of zero)</a:t>
            </a:r>
            <a:endParaRPr lang="en-US" sz="2800" dirty="0"/>
          </a:p>
        </p:txBody>
      </p:sp>
      <p:graphicFrame>
        <p:nvGraphicFramePr>
          <p:cNvPr id="9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451354"/>
              </p:ext>
            </p:extLst>
          </p:nvPr>
        </p:nvGraphicFramePr>
        <p:xfrm>
          <a:off x="2362142" y="5084180"/>
          <a:ext cx="4214506" cy="578066"/>
        </p:xfrm>
        <a:graphic>
          <a:graphicData uri="http://schemas.openxmlformats.org/drawingml/2006/table">
            <a:tbl>
              <a:tblPr/>
              <a:tblGrid>
                <a:gridCol w="601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7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1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806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5068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3.1 Strings: Basics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213338"/>
            <a:ext cx="8229600" cy="5134708"/>
          </a:xfrm>
        </p:spPr>
        <p:txBody>
          <a:bodyPr>
            <a:normAutofit/>
          </a:bodyPr>
          <a:lstStyle/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/>
              <a:t>Declaration an array of characters</a:t>
            </a:r>
            <a:endParaRPr lang="en-US" sz="2000" b="1">
              <a:solidFill>
                <a:srgbClr val="800000"/>
              </a:solidFill>
              <a:latin typeface="Courier New" pitchFamily="49" charset="0"/>
            </a:endParaRPr>
          </a:p>
          <a:p>
            <a:pPr lvl="1">
              <a:buClr>
                <a:schemeClr val="bg2"/>
              </a:buClr>
              <a:buSzPct val="75000"/>
              <a:tabLst>
                <a:tab pos="914400" algn="l"/>
              </a:tabLst>
              <a:defRPr/>
            </a:pP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	char str[6];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/>
              <a:t>Assigning character to an element of an array of characters</a:t>
            </a:r>
            <a:endParaRPr lang="en-US" sz="2000" b="1">
              <a:solidFill>
                <a:srgbClr val="800000"/>
              </a:solidFill>
              <a:latin typeface="Courier New" pitchFamily="49" charset="0"/>
            </a:endParaRPr>
          </a:p>
          <a:p>
            <a:pPr lvl="1">
              <a:buClr>
                <a:schemeClr val="bg2"/>
              </a:buClr>
              <a:buSzPct val="75000"/>
              <a:tabLst>
                <a:tab pos="914400" algn="l"/>
              </a:tabLst>
              <a:defRPr/>
            </a:pP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	str[0] = 'e';</a:t>
            </a:r>
          </a:p>
          <a:p>
            <a:pPr lvl="1">
              <a:buClr>
                <a:schemeClr val="bg2"/>
              </a:buClr>
              <a:buSzPct val="75000"/>
              <a:tabLst>
                <a:tab pos="914400" algn="l"/>
              </a:tabLst>
              <a:defRPr/>
            </a:pP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	str[1] = 'g';</a:t>
            </a:r>
          </a:p>
          <a:p>
            <a:pPr lvl="1">
              <a:buClr>
                <a:schemeClr val="bg2"/>
              </a:buClr>
              <a:buSzPct val="75000"/>
              <a:tabLst>
                <a:tab pos="914400" algn="l"/>
              </a:tabLst>
              <a:defRPr/>
            </a:pP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	str[2] = 'g';</a:t>
            </a:r>
          </a:p>
          <a:p>
            <a:pPr lvl="1">
              <a:buClr>
                <a:schemeClr val="bg2"/>
              </a:buClr>
              <a:buSzPct val="75000"/>
              <a:tabLst>
                <a:tab pos="914400" algn="l"/>
              </a:tabLst>
              <a:defRPr/>
            </a:pP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	str[3] = '\0';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/>
              <a:t>Initializer for string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Two ways:</a:t>
            </a:r>
          </a:p>
          <a:p>
            <a:pPr marL="342900" lvl="1" indent="4763">
              <a:spcBef>
                <a:spcPts val="0"/>
              </a:spcBef>
              <a:buClr>
                <a:schemeClr val="bg2"/>
              </a:buClr>
              <a:buSzPct val="75000"/>
              <a:tabLst>
                <a:tab pos="914400" algn="l"/>
              </a:tabLst>
              <a:defRPr/>
            </a:pP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  char fruit_name[] = "apple";</a:t>
            </a:r>
          </a:p>
          <a:p>
            <a:pPr marL="342900" lvl="1" indent="4763">
              <a:spcBef>
                <a:spcPts val="0"/>
              </a:spcBef>
              <a:buClr>
                <a:schemeClr val="bg2"/>
              </a:buClr>
              <a:buSzPct val="75000"/>
              <a:tabLst>
                <a:tab pos="914400" algn="l"/>
              </a:tabLst>
              <a:defRPr/>
            </a:pP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  char fruit_name[] = {'a','p','p','l','e','\0'}; </a:t>
            </a:r>
            <a:endParaRPr lang="en-US" b="1" dirty="0">
              <a:solidFill>
                <a:srgbClr val="800000"/>
              </a:solidFill>
            </a:endParaRPr>
          </a:p>
        </p:txBody>
      </p:sp>
      <p:graphicFrame>
        <p:nvGraphicFramePr>
          <p:cNvPr id="10" name="Group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729651"/>
              </p:ext>
            </p:extLst>
          </p:nvPr>
        </p:nvGraphicFramePr>
        <p:xfrm>
          <a:off x="4561712" y="2935533"/>
          <a:ext cx="3554413" cy="518160"/>
        </p:xfrm>
        <a:graphic>
          <a:graphicData uri="http://schemas.openxmlformats.org/drawingml/2006/table">
            <a:tbl>
              <a:tblPr/>
              <a:tblGrid>
                <a:gridCol w="59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5081954" y="3494655"/>
            <a:ext cx="3541185" cy="1066702"/>
            <a:chOff x="5081954" y="3194613"/>
            <a:chExt cx="3541185" cy="1066702"/>
          </a:xfrm>
        </p:grpSpPr>
        <p:sp>
          <p:nvSpPr>
            <p:cNvPr id="13" name="TextBox 12"/>
            <p:cNvSpPr txBox="1"/>
            <p:nvPr/>
          </p:nvSpPr>
          <p:spPr>
            <a:xfrm>
              <a:off x="5081954" y="3553429"/>
              <a:ext cx="3541185" cy="707886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/>
                <a:t>Without ‘\0’, </a:t>
              </a:r>
              <a:r>
                <a:rPr lang="en-US" sz="2000"/>
                <a:t>it is just an array of character, </a:t>
              </a:r>
              <a:r>
                <a:rPr lang="en-US" sz="2000" u="sng">
                  <a:solidFill>
                    <a:srgbClr val="C00000"/>
                  </a:solidFill>
                </a:rPr>
                <a:t>not</a:t>
              </a:r>
              <a:r>
                <a:rPr lang="en-US" sz="2000"/>
                <a:t> a </a:t>
              </a:r>
              <a:r>
                <a:rPr lang="en-US" sz="2000" dirty="0"/>
                <a:t>string. </a:t>
              </a:r>
              <a:endParaRPr lang="en-SG" sz="2000" dirty="0"/>
            </a:p>
          </p:txBody>
        </p:sp>
        <p:cxnSp>
          <p:nvCxnSpPr>
            <p:cNvPr id="14" name="Straight Arrow Connector 13"/>
            <p:cNvCxnSpPr>
              <a:stCxn id="13" idx="0"/>
            </p:cNvCxnSpPr>
            <p:nvPr/>
          </p:nvCxnSpPr>
          <p:spPr bwMode="auto">
            <a:xfrm flipH="1" flipV="1">
              <a:off x="6794341" y="3194613"/>
              <a:ext cx="58206" cy="358816"/>
            </a:xfrm>
            <a:prstGeom prst="straightConnector1">
              <a:avLst/>
            </a:prstGeom>
            <a:solidFill>
              <a:schemeClr val="accent1"/>
            </a:solidFill>
            <a:ln w="28575" cap="sq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</p:cxnSp>
      </p:grpSp>
      <p:cxnSp>
        <p:nvCxnSpPr>
          <p:cNvPr id="15" name="Straight Arrow Connector 14"/>
          <p:cNvCxnSpPr/>
          <p:nvPr/>
        </p:nvCxnSpPr>
        <p:spPr bwMode="auto">
          <a:xfrm flipH="1">
            <a:off x="8044405" y="4524801"/>
            <a:ext cx="1" cy="1238492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grpSp>
        <p:nvGrpSpPr>
          <p:cNvPr id="16" name="Group 15"/>
          <p:cNvGrpSpPr/>
          <p:nvPr/>
        </p:nvGrpSpPr>
        <p:grpSpPr>
          <a:xfrm>
            <a:off x="5081954" y="4709997"/>
            <a:ext cx="2524542" cy="868100"/>
            <a:chOff x="5081954" y="4330862"/>
            <a:chExt cx="2524542" cy="868100"/>
          </a:xfrm>
        </p:grpSpPr>
        <p:sp>
          <p:nvSpPr>
            <p:cNvPr id="17" name="TextBox 16"/>
            <p:cNvSpPr txBox="1"/>
            <p:nvPr/>
          </p:nvSpPr>
          <p:spPr>
            <a:xfrm>
              <a:off x="5081954" y="4330862"/>
              <a:ext cx="2524542" cy="646331"/>
            </a:xfrm>
            <a:prstGeom prst="rect">
              <a:avLst/>
            </a:prstGeom>
            <a:solidFill>
              <a:srgbClr val="CCFFFF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Do not need ‘\</a:t>
              </a:r>
              <a:r>
                <a:rPr lang="en-US"/>
                <a:t>0’ as </a:t>
              </a:r>
              <a:r>
                <a:rPr lang="en-US" dirty="0"/>
                <a:t>it is automatically added.</a:t>
              </a:r>
              <a:endParaRPr lang="en-SG" dirty="0"/>
            </a:p>
          </p:txBody>
        </p:sp>
        <p:cxnSp>
          <p:nvCxnSpPr>
            <p:cNvPr id="18" name="Straight Arrow Connector 17"/>
            <p:cNvCxnSpPr/>
            <p:nvPr/>
          </p:nvCxnSpPr>
          <p:spPr bwMode="auto">
            <a:xfrm flipH="1">
              <a:off x="5557777" y="4977114"/>
              <a:ext cx="461058" cy="221848"/>
            </a:xfrm>
            <a:prstGeom prst="straightConnector1">
              <a:avLst/>
            </a:prstGeom>
            <a:solidFill>
              <a:schemeClr val="accent1"/>
            </a:solidFill>
            <a:ln w="28575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736381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3.2 Strings: I/O (1/2)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213339"/>
            <a:ext cx="8240102" cy="3675184"/>
          </a:xfrm>
        </p:spPr>
        <p:txBody>
          <a:bodyPr>
            <a:normAutofit/>
          </a:bodyPr>
          <a:lstStyle/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Read string from stdin</a:t>
            </a:r>
          </a:p>
          <a:p>
            <a:pPr marL="719138" lvl="1">
              <a:buClr>
                <a:schemeClr val="bg2"/>
              </a:buClr>
              <a:buSzPct val="75000"/>
            </a:pP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fgets(str, size, stdin) </a:t>
            </a:r>
            <a:r>
              <a:rPr lang="en-US" b="1">
                <a:solidFill>
                  <a:srgbClr val="006600"/>
                </a:solidFill>
                <a:latin typeface="Courier New" pitchFamily="49" charset="0"/>
              </a:rPr>
              <a:t>// reads size – 1 char, </a:t>
            </a:r>
          </a:p>
          <a:p>
            <a:pPr marL="719138" lvl="1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b="1">
                <a:solidFill>
                  <a:srgbClr val="006600"/>
                </a:solidFill>
                <a:latin typeface="Courier New" pitchFamily="49" charset="0"/>
              </a:rPr>
              <a:t>		                 // or until newline</a:t>
            </a:r>
          </a:p>
          <a:p>
            <a:pPr marL="719138" lvl="1">
              <a:buClr>
                <a:schemeClr val="bg2"/>
              </a:buClr>
              <a:buSzPct val="75000"/>
            </a:pP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scanf("%s", str);  </a:t>
            </a:r>
            <a:r>
              <a:rPr lang="en-US" b="1">
                <a:solidFill>
                  <a:srgbClr val="006600"/>
                </a:solidFill>
                <a:latin typeface="Courier New" pitchFamily="49" charset="0"/>
              </a:rPr>
              <a:t>// reads until white space</a:t>
            </a:r>
          </a:p>
          <a:p>
            <a:pPr marL="342900" indent="-342900"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en-US" sz="280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Print string to stdout</a:t>
            </a:r>
            <a:endParaRPr lang="en-US">
              <a:latin typeface="Courier New" pitchFamily="49" charset="0"/>
            </a:endParaRPr>
          </a:p>
          <a:p>
            <a:pPr marL="581978" lvl="4" indent="0">
              <a:buNone/>
            </a:pPr>
            <a:r>
              <a:rPr lang="en-US" sz="2000" b="1">
                <a:solidFill>
                  <a:srgbClr val="800000"/>
                </a:solidFill>
                <a:latin typeface="Courier New" pitchFamily="49" charset="0"/>
              </a:rPr>
              <a:t>puts(str);  </a:t>
            </a:r>
            <a:r>
              <a:rPr lang="en-US" sz="2000" b="1">
                <a:solidFill>
                  <a:srgbClr val="006600"/>
                </a:solidFill>
                <a:latin typeface="Courier New" pitchFamily="49" charset="0"/>
              </a:rPr>
              <a:t>// terminates with newline</a:t>
            </a:r>
          </a:p>
          <a:p>
            <a:pPr marL="581978" lvl="4" indent="0">
              <a:buNone/>
            </a:pPr>
            <a:r>
              <a:rPr lang="en-US" sz="2000" b="1">
                <a:solidFill>
                  <a:srgbClr val="800000"/>
                </a:solidFill>
                <a:latin typeface="Courier New" pitchFamily="49" charset="0"/>
              </a:rPr>
              <a:t>printf("%s\n", str);</a:t>
            </a:r>
            <a:endParaRPr lang="en-US" sz="2000" b="1" dirty="0">
              <a:solidFill>
                <a:srgbClr val="800000"/>
              </a:solidFill>
              <a:latin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8476" y="5226908"/>
            <a:ext cx="6141308" cy="92333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Note: There is another function </a:t>
            </a:r>
            <a:r>
              <a:rPr lang="en-US" dirty="0">
                <a:solidFill>
                  <a:srgbClr val="0000FF"/>
                </a:solidFill>
              </a:rPr>
              <a:t>gets(</a:t>
            </a:r>
            <a:r>
              <a:rPr lang="en-US" dirty="0" err="1">
                <a:solidFill>
                  <a:srgbClr val="0000FF"/>
                </a:solidFill>
              </a:rPr>
              <a:t>str</a:t>
            </a:r>
            <a:r>
              <a:rPr lang="en-US" dirty="0">
                <a:solidFill>
                  <a:srgbClr val="0000FF"/>
                </a:solidFill>
              </a:rPr>
              <a:t>)</a:t>
            </a:r>
            <a:r>
              <a:rPr lang="en-US" dirty="0"/>
              <a:t> to read a string interactively. However, due to security reason, we avoid it and </a:t>
            </a:r>
            <a:r>
              <a:rPr lang="en-US"/>
              <a:t>use </a:t>
            </a:r>
            <a:r>
              <a:rPr lang="en-US">
                <a:solidFill>
                  <a:srgbClr val="0000FF"/>
                </a:solidFill>
              </a:rPr>
              <a:t>fgets()</a:t>
            </a:r>
            <a:r>
              <a:rPr lang="en-US"/>
              <a:t> </a:t>
            </a:r>
            <a:r>
              <a:rPr lang="en-US" dirty="0"/>
              <a:t>function instead.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51637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3.2 Strings: I/O (2/2)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20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213339"/>
            <a:ext cx="8240102" cy="4923692"/>
          </a:xfrm>
        </p:spPr>
        <p:txBody>
          <a:bodyPr>
            <a:normAutofit/>
          </a:bodyPr>
          <a:lstStyle/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fgets()</a:t>
            </a:r>
          </a:p>
          <a:p>
            <a:pPr marL="800100" lvl="1" indent="-342900"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400"/>
              <a:t>On interactive input, </a:t>
            </a:r>
            <a:r>
              <a:rPr lang="en-US" sz="2400">
                <a:solidFill>
                  <a:srgbClr val="0000FF"/>
                </a:solidFill>
              </a:rPr>
              <a:t>fgets() </a:t>
            </a:r>
            <a:r>
              <a:rPr lang="en-US" sz="2400"/>
              <a:t>also reads in the newline character</a:t>
            </a:r>
          </a:p>
          <a:p>
            <a:pPr marL="800100" lvl="1" indent="-342900">
              <a:buSzPct val="100000"/>
              <a:buFont typeface="Wingdings" pitchFamily="2" charset="2"/>
              <a:buChar char="§"/>
            </a:pPr>
            <a:endParaRPr lang="en-US" sz="2400"/>
          </a:p>
          <a:p>
            <a:pPr marL="800100" lvl="1" indent="-342900">
              <a:buSzPct val="100000"/>
              <a:buFont typeface="Wingdings" pitchFamily="2" charset="2"/>
              <a:buChar char="§"/>
            </a:pPr>
            <a:endParaRPr lang="en-US" sz="2400"/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  <a:tabLst>
                <a:tab pos="1320800" algn="l"/>
              </a:tabLst>
            </a:pPr>
            <a:r>
              <a:rPr lang="en-US" sz="2400"/>
              <a:t>Hence, we may need to replace it with '\0' if necessary</a:t>
            </a:r>
            <a:br>
              <a:rPr lang="en-US" sz="2400"/>
            </a:br>
            <a:r>
              <a:rPr lang="en-US" sz="2400"/>
              <a:t>	</a:t>
            </a: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fgets(str, size, stdin);</a:t>
            </a:r>
            <a:br>
              <a:rPr lang="en-US" b="1">
                <a:solidFill>
                  <a:srgbClr val="800000"/>
                </a:solidFill>
                <a:latin typeface="Courier New" pitchFamily="49" charset="0"/>
              </a:rPr>
            </a:b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	len = strlen(str);</a:t>
            </a:r>
            <a:br>
              <a:rPr lang="en-US" b="1">
                <a:solidFill>
                  <a:srgbClr val="800000"/>
                </a:solidFill>
                <a:latin typeface="Courier New" pitchFamily="49" charset="0"/>
              </a:rPr>
            </a:b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	if (str[len – 1] == '\n')</a:t>
            </a:r>
            <a:br>
              <a:rPr lang="en-US" b="1">
                <a:solidFill>
                  <a:srgbClr val="800000"/>
                </a:solidFill>
                <a:latin typeface="Courier New" pitchFamily="49" charset="0"/>
              </a:rPr>
            </a:br>
            <a:r>
              <a:rPr lang="en-US" b="1">
                <a:solidFill>
                  <a:srgbClr val="800000"/>
                </a:solidFill>
                <a:latin typeface="Courier New" pitchFamily="49" charset="0"/>
              </a:rPr>
              <a:t>		str[len – 1] = '\0';</a:t>
            </a:r>
            <a:endParaRPr lang="en-US" sz="2800" dirty="0"/>
          </a:p>
        </p:txBody>
      </p:sp>
      <p:graphicFrame>
        <p:nvGraphicFramePr>
          <p:cNvPr id="9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011396"/>
              </p:ext>
            </p:extLst>
          </p:nvPr>
        </p:nvGraphicFramePr>
        <p:xfrm>
          <a:off x="4927541" y="2619746"/>
          <a:ext cx="3483297" cy="518160"/>
        </p:xfrm>
        <a:graphic>
          <a:graphicData uri="http://schemas.openxmlformats.org/drawingml/2006/table">
            <a:tbl>
              <a:tblPr/>
              <a:tblGrid>
                <a:gridCol w="496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68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10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88588" y="2525890"/>
            <a:ext cx="2322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 input: </a:t>
            </a:r>
            <a:r>
              <a:rPr lang="en-US" sz="2400" b="1" dirty="0">
                <a:solidFill>
                  <a:srgbClr val="7030A0"/>
                </a:solidFill>
              </a:rPr>
              <a:t>eat </a:t>
            </a:r>
          </a:p>
        </p:txBody>
      </p:sp>
    </p:spTree>
    <p:extLst>
      <p:ext uri="{BB962C8B-B14F-4D97-AF65-F5344CB8AC3E}">
        <p14:creationId xmlns:p14="http://schemas.microsoft.com/office/powerpoint/2010/main" val="25505009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3.3 Demo #4: String I/O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21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541338" y="1034534"/>
            <a:ext cx="8229868" cy="2750388"/>
            <a:chOff x="541338" y="1034534"/>
            <a:chExt cx="8229868" cy="2750388"/>
          </a:xfrm>
        </p:grpSpPr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541338" y="1219200"/>
              <a:ext cx="8008302" cy="2565722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rgbClr val="8A8AB9"/>
              </a:solidFill>
              <a:miter lim="800000"/>
              <a:headEnd/>
              <a:tailEnd/>
            </a:ln>
            <a:effectLst>
              <a:outerShdw dist="38100" dir="2700000" algn="tl" rotWithShape="0">
                <a:srgbClr val="808080">
                  <a:alpha val="39999"/>
                </a:srgbClr>
              </a:outerShdw>
            </a:effectLst>
          </p:spPr>
          <p:txBody>
            <a:bodyPr/>
            <a:lstStyle/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7030A0"/>
                  </a:solidFill>
                  <a:latin typeface="Courier New" pitchFamily="49" charset="0"/>
                </a:rPr>
                <a:t>#include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&lt;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</a:rPr>
                <a:t>stdio.h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&gt;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7030A0"/>
                  </a:solidFill>
                  <a:latin typeface="Courier New" pitchFamily="49" charset="0"/>
                </a:rPr>
                <a:t>#define LENGTH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10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endParaRPr lang="en-US" sz="1000" b="1" dirty="0">
                <a:solidFill>
                  <a:srgbClr val="006600"/>
                </a:solidFill>
                <a:latin typeface="Courier New" pitchFamily="49" charset="0"/>
              </a:endParaRP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</a:rPr>
                <a:t>int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main(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</a:rPr>
                <a:t>void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 {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</a:rPr>
                <a:t>char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str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[LENGTH];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endParaRPr lang="en-US" sz="1000" b="1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"Enter string (at most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</a:rPr>
                <a:t>%d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characters): 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LENGTH-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1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scanf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</a:rPr>
                <a:t>%s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str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); 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</a:rPr>
                <a:t>str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</a:rPr>
                <a:t>%s\n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str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); 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</a:rPr>
                <a:t>return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0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}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606384" y="1034534"/>
              <a:ext cx="2164822" cy="36933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/>
                <a:t>Unit16_StringIO1.c</a:t>
              </a:r>
              <a:endParaRPr lang="en-SG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34988" y="3841749"/>
            <a:ext cx="8236219" cy="2787651"/>
            <a:chOff x="534988" y="3841749"/>
            <a:chExt cx="8236219" cy="2787651"/>
          </a:xfrm>
        </p:grpSpPr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534988" y="3841749"/>
              <a:ext cx="8014652" cy="2787651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rgbClr val="8A8AB9"/>
              </a:solidFill>
              <a:miter lim="800000"/>
              <a:headEnd/>
              <a:tailEnd/>
            </a:ln>
            <a:effectLst>
              <a:outerShdw dist="38100" dir="2700000" algn="tl" rotWithShape="0">
                <a:srgbClr val="808080">
                  <a:alpha val="39999"/>
                </a:srgbClr>
              </a:outerShdw>
            </a:effectLst>
          </p:spPr>
          <p:txBody>
            <a:bodyPr/>
            <a:lstStyle/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7030A0"/>
                  </a:solidFill>
                  <a:latin typeface="Courier New" pitchFamily="49" charset="0"/>
                </a:rPr>
                <a:t>#include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&lt;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</a:rPr>
                <a:t>stdio.h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&gt;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7030A0"/>
                  </a:solidFill>
                  <a:latin typeface="Courier New" pitchFamily="49" charset="0"/>
                </a:rPr>
                <a:t>#define LENGTH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10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endParaRPr lang="en-US" sz="1000" b="1" dirty="0">
                <a:solidFill>
                  <a:srgbClr val="006600"/>
                </a:solidFill>
                <a:latin typeface="Courier New" pitchFamily="49" charset="0"/>
              </a:endParaRP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</a:rPr>
                <a:t>int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main(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</a:rPr>
                <a:t>void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 {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</a:rPr>
                <a:t>char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str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[LENGTH];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endParaRPr lang="en-US" sz="1000" b="1" dirty="0">
                <a:solidFill>
                  <a:srgbClr val="000000"/>
                </a:solidFill>
                <a:latin typeface="Courier New" pitchFamily="49" charset="0"/>
              </a:endParaRP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"Enter string (at most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</a:rPr>
                <a:t>%d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characters): 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LENGTH-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1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fgets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str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, LENGTH, 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</a:rPr>
                <a:t>stdin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printf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</a:rPr>
                <a:t>str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 =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puts(</a:t>
              </a:r>
              <a:r>
                <a:rPr lang="en-US" sz="1600" b="1" dirty="0" err="1">
                  <a:solidFill>
                    <a:srgbClr val="000000"/>
                  </a:solidFill>
                  <a:latin typeface="Courier New" pitchFamily="49" charset="0"/>
                </a:rPr>
                <a:t>str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);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	return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0</a:t>
              </a: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</a:p>
            <a:p>
              <a:pPr>
                <a:tabLst>
                  <a:tab pos="354013" algn="l"/>
                  <a:tab pos="720725" algn="l"/>
                  <a:tab pos="1074738" algn="l"/>
                  <a:tab pos="1439863" algn="l"/>
                </a:tabLst>
                <a:defRPr/>
              </a:pPr>
              <a:r>
                <a:rPr lang="en-US" sz="1600" b="1" dirty="0">
                  <a:solidFill>
                    <a:srgbClr val="000000"/>
                  </a:solidFill>
                  <a:latin typeface="Courier New" pitchFamily="49" charset="0"/>
                </a:rPr>
                <a:t>}</a:t>
              </a:r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6606384" y="3908425"/>
              <a:ext cx="2164823" cy="369332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/>
                <a:t>Unit16_StringIO2.c</a:t>
              </a:r>
              <a:endParaRPr lang="en-SG"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212223" y="1536504"/>
            <a:ext cx="3946967" cy="646331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Test out the programs with this input: 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My book</a:t>
            </a:r>
            <a:endParaRPr lang="en-SG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836022" y="5373384"/>
            <a:ext cx="3321449" cy="755688"/>
            <a:chOff x="836022" y="5373384"/>
            <a:chExt cx="3321449" cy="755688"/>
          </a:xfrm>
        </p:grpSpPr>
        <p:sp>
          <p:nvSpPr>
            <p:cNvPr id="27" name="Rectangle 26"/>
            <p:cNvSpPr/>
            <p:nvPr/>
          </p:nvSpPr>
          <p:spPr bwMode="auto">
            <a:xfrm>
              <a:off x="836023" y="5907003"/>
              <a:ext cx="1434737" cy="222069"/>
            </a:xfrm>
            <a:prstGeom prst="rect">
              <a:avLst/>
            </a:prstGeom>
            <a:noFill/>
            <a:ln w="19050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836022" y="5373384"/>
              <a:ext cx="3321449" cy="247127"/>
            </a:xfrm>
            <a:prstGeom prst="rect">
              <a:avLst/>
            </a:prstGeom>
            <a:noFill/>
            <a:ln w="19050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215621" y="2963304"/>
            <a:ext cx="1940169" cy="677108"/>
          </a:xfrm>
          <a:prstGeom prst="rect">
            <a:avLst/>
          </a:prstGeom>
          <a:solidFill>
            <a:srgbClr val="E6E6E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Output:</a:t>
            </a:r>
          </a:p>
          <a:p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 = My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5621" y="3924935"/>
            <a:ext cx="2262675" cy="984885"/>
          </a:xfrm>
          <a:prstGeom prst="rect">
            <a:avLst/>
          </a:prstGeom>
          <a:solidFill>
            <a:srgbClr val="E6E6E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Output:</a:t>
            </a:r>
          </a:p>
          <a:p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 = My book</a:t>
            </a:r>
          </a:p>
          <a:p>
            <a:endParaRPr lang="en-US" sz="2000" b="1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66215" y="5620511"/>
            <a:ext cx="273690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Note that puts(str) adds a newline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8416688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" grpId="0" animBg="1"/>
      <p:bldP spid="29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3.4 Demo #5: Remove Vowels (1/2)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22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95755"/>
            <a:ext cx="8229600" cy="2637692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Write a program </a:t>
            </a:r>
            <a:r>
              <a:rPr lang="en-US" sz="2800">
                <a:solidFill>
                  <a:srgbClr val="0000FF"/>
                </a:solidFill>
              </a:rPr>
              <a:t>Unit16_RemoveVowels.c</a:t>
            </a:r>
            <a:r>
              <a:rPr lang="en-US" sz="2800"/>
              <a:t> to remove all vowels in a given input string.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Assume the input string has at most 100 characters.</a:t>
            </a:r>
            <a:endParaRPr lang="en-US" sz="2400" b="1">
              <a:solidFill>
                <a:srgbClr val="006600"/>
              </a:solidFill>
            </a:endParaRP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Sample run: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816494" y="3987332"/>
            <a:ext cx="7764798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Enter a string: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How HAVE </a:t>
            </a:r>
            <a:r>
              <a:rPr lang="en-US" sz="24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you been, James?</a:t>
            </a:r>
            <a:endParaRPr lang="en-US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Changed </a:t>
            </a:r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string: Hw HV </a:t>
            </a:r>
            <a:r>
              <a:rPr lang="en-US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y bn, Jms?</a:t>
            </a:r>
            <a:endParaRPr lang="en-US" sz="24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8560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445477"/>
          </a:xfrm>
        </p:spPr>
        <p:txBody>
          <a:bodyPr>
            <a:normAutofit/>
          </a:bodyPr>
          <a:lstStyle/>
          <a:p>
            <a:pPr eaLnBrk="1" hangingPunct="1"/>
            <a:r>
              <a:rPr lang="en-GB" sz="2000">
                <a:solidFill>
                  <a:srgbClr val="0000FF"/>
                </a:solidFill>
              </a:rPr>
              <a:t>3.4 Demo #5: Remove Vowels (2/2)</a:t>
            </a:r>
            <a:endParaRPr lang="en-GB" sz="20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23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72427" y="748815"/>
            <a:ext cx="8377555" cy="599606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&lt;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stdio.h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&gt;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&lt;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</a:rPr>
              <a:t>string.h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&gt;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&lt;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ctype.h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&gt;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main(void) {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len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, count = 0;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char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str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[101],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newstr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[101];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endParaRPr lang="en-US" sz="1000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printf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("Enter a string (at most 100 characters): ");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fgets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str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, 101,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stdin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);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//what happens if you use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</a:rPr>
              <a:t>scanf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() here?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len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=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</a:rPr>
              <a:t>strlen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(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</a:rPr>
              <a:t>str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)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//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</a:rPr>
              <a:t>strlen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() returns number of char in string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if (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str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len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– 1] == '\n') 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	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str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len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– 1] = '\0';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len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=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</a:rPr>
              <a:t>strlen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(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</a:rPr>
              <a:t>str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)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// check length again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endParaRPr lang="en-US" sz="1000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for (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=0;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len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;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++) {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	switch (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toupper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str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])) {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		case 'A': case 'E':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		case 'I': case 'O': case 'U': break; 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		default: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newstr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[count++] =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str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];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	}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}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newstr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[count] = '\0';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printf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("New string: %s\n", </a:t>
            </a:r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newstr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	return 0;</a:t>
            </a:r>
          </a:p>
          <a:p>
            <a:pPr>
              <a:tabLst>
                <a:tab pos="354013" algn="l"/>
                <a:tab pos="719138" algn="l"/>
                <a:tab pos="1073150" algn="l"/>
                <a:tab pos="1438275" algn="l"/>
                <a:tab pos="1792288" algn="l"/>
                <a:tab pos="2157413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1907" y="619777"/>
            <a:ext cx="2754793" cy="369332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Unit16_RemoveVowels.c</a:t>
            </a:r>
            <a:endParaRPr lang="en-SG" dirty="0"/>
          </a:p>
        </p:txBody>
      </p:sp>
      <p:sp>
        <p:nvSpPr>
          <p:cNvPr id="13" name="Line Callout 2 (Border and Accent Bar) 12"/>
          <p:cNvSpPr/>
          <p:nvPr/>
        </p:nvSpPr>
        <p:spPr bwMode="auto">
          <a:xfrm>
            <a:off x="4470780" y="1543295"/>
            <a:ext cx="2776538" cy="815012"/>
          </a:xfrm>
          <a:prstGeom prst="accentBorderCallout2">
            <a:avLst>
              <a:gd name="adj1" fmla="val 18750"/>
              <a:gd name="adj2" fmla="val -3266"/>
              <a:gd name="adj3" fmla="val 18750"/>
              <a:gd name="adj4" fmla="val -16667"/>
              <a:gd name="adj5" fmla="val -29026"/>
              <a:gd name="adj6" fmla="val -58096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600" dirty="0"/>
              <a:t>Need to include </a:t>
            </a:r>
            <a:r>
              <a:rPr lang="en-US" sz="1600" dirty="0">
                <a:solidFill>
                  <a:srgbClr val="C00000"/>
                </a:solidFill>
              </a:rPr>
              <a:t>&lt;</a:t>
            </a:r>
            <a:r>
              <a:rPr lang="en-US" sz="1600" dirty="0" err="1">
                <a:solidFill>
                  <a:srgbClr val="C00000"/>
                </a:solidFill>
              </a:rPr>
              <a:t>string.h</a:t>
            </a:r>
            <a:r>
              <a:rPr lang="en-US" sz="1600" dirty="0">
                <a:solidFill>
                  <a:srgbClr val="C00000"/>
                </a:solidFill>
              </a:rPr>
              <a:t>&gt;</a:t>
            </a:r>
            <a:r>
              <a:rPr lang="en-SG" sz="1600" dirty="0">
                <a:solidFill>
                  <a:srgbClr val="C00000"/>
                </a:solidFill>
              </a:rPr>
              <a:t> </a:t>
            </a:r>
            <a:r>
              <a:rPr lang="en-SG" sz="1600" dirty="0"/>
              <a:t>to use string functions such as </a:t>
            </a:r>
            <a:r>
              <a:rPr lang="en-SG" sz="1600" dirty="0" err="1">
                <a:solidFill>
                  <a:srgbClr val="C00000"/>
                </a:solidFill>
              </a:rPr>
              <a:t>strlen</a:t>
            </a:r>
            <a:r>
              <a:rPr lang="en-SG" sz="1600" dirty="0">
                <a:solidFill>
                  <a:srgbClr val="C00000"/>
                </a:solidFill>
              </a:rPr>
              <a:t>()</a:t>
            </a:r>
            <a:r>
              <a:rPr lang="en-SG" sz="1600" dirty="0"/>
              <a:t>.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2578532" y="4991031"/>
            <a:ext cx="3282845" cy="299804"/>
          </a:xfrm>
          <a:prstGeom prst="rect">
            <a:avLst/>
          </a:prstGeom>
          <a:noFill/>
          <a:ln w="19050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0272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610600" cy="838200"/>
          </a:xfrm>
        </p:spPr>
        <p:txBody>
          <a:bodyPr>
            <a:noAutofit/>
          </a:bodyPr>
          <a:lstStyle/>
          <a:p>
            <a:pPr eaLnBrk="1" hangingPunct="1"/>
            <a:r>
              <a:rPr lang="en-GB" sz="3000">
                <a:solidFill>
                  <a:srgbClr val="0000FF"/>
                </a:solidFill>
              </a:rPr>
              <a:t>3.5 Demo #6: Character Array without terminating ‘\0’</a:t>
            </a:r>
            <a:endParaRPr lang="en-GB" sz="30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24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[Content Placeholder 5]"/>
          <p:cNvSpPr>
            <a:spLocks noGrp="1"/>
          </p:cNvSpPr>
          <p:nvPr>
            <p:ph idx="1"/>
          </p:nvPr>
        </p:nvSpPr>
        <p:spPr>
          <a:xfrm>
            <a:off x="587375" y="1213338"/>
            <a:ext cx="8229600" cy="509954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What is the output of this code?</a:t>
            </a:r>
            <a:endParaRPr lang="en-US" dirty="0"/>
          </a:p>
        </p:txBody>
      </p:sp>
      <p:grpSp>
        <p:nvGrpSpPr>
          <p:cNvPr id="9" name="[Group 8]"/>
          <p:cNvGrpSpPr/>
          <p:nvPr/>
        </p:nvGrpSpPr>
        <p:grpSpPr>
          <a:xfrm>
            <a:off x="739787" y="1713582"/>
            <a:ext cx="5507660" cy="4462760"/>
            <a:chOff x="739787" y="1713582"/>
            <a:chExt cx="5507660" cy="4462760"/>
          </a:xfrm>
        </p:grpSpPr>
        <p:sp>
          <p:nvSpPr>
            <p:cNvPr id="10" name="TextBox 9"/>
            <p:cNvSpPr txBox="1"/>
            <p:nvPr/>
          </p:nvSpPr>
          <p:spPr>
            <a:xfrm>
              <a:off x="739787" y="1898248"/>
              <a:ext cx="5162309" cy="4278094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#include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SG" sz="16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stdio.h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#include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SG" sz="16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string.h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endParaRPr lang="en-SG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 main(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[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];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[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] =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'a'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[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] =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'p'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[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] =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'p'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[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] =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'l'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[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4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] =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'e'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endParaRPr lang="en-SG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"Length =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%d\n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strlen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));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6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SG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%s\n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str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); 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endParaRPr lang="en-SG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20941" y="1713582"/>
              <a:ext cx="2926506" cy="36933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/>
                <a:t>Unit16_without_null_char.c</a:t>
              </a:r>
              <a:endParaRPr lang="en-SG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154199" y="2329168"/>
            <a:ext cx="2738971" cy="923330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One possible output:</a:t>
            </a:r>
          </a:p>
          <a:p>
            <a:r>
              <a:rPr lang="en-SG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Length = 8</a:t>
            </a:r>
          </a:p>
          <a:p>
            <a:r>
              <a:rPr lang="en-SG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SG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SG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apple¿ø</a:t>
            </a:r>
            <a:r>
              <a:rPr lang="en-SG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5076" y="3320416"/>
            <a:ext cx="3688094" cy="1384995"/>
          </a:xfrm>
          <a:prstGeom prst="rect">
            <a:avLst/>
          </a:prstGeom>
          <a:solidFill>
            <a:srgbClr val="CCFFCC"/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Compare the output if you add:</a:t>
            </a:r>
          </a:p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[5] = '\0';</a:t>
            </a:r>
          </a:p>
          <a:p>
            <a:endParaRPr lang="en-US" sz="1000" dirty="0"/>
          </a:p>
          <a:p>
            <a:r>
              <a:rPr lang="en-US" dirty="0"/>
              <a:t>or, you have: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[10] = "apple";</a:t>
            </a:r>
            <a:endParaRPr lang="en-SG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94614" y="5564419"/>
            <a:ext cx="5326284" cy="923330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%s and string functions work only on “true</a:t>
            </a:r>
            <a:r>
              <a:rPr lang="en-US"/>
              <a:t>” strings. Without the terminating null character ‘\0’, string functions will not work properly.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051432" y="2082914"/>
            <a:ext cx="177604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printf() will print %s from the starting address of str until it encounters the ‘\0’ character.</a:t>
            </a:r>
          </a:p>
        </p:txBody>
      </p:sp>
      <p:pic>
        <p:nvPicPr>
          <p:cNvPr id="16" name="Picture 2" descr="C:\Users\tantc\Pictures\cliparts\exlamation-hi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950" y="5603730"/>
            <a:ext cx="174122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8219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4. String Functions (1/3)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25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3" name="[Content Placeholder 5]"/>
          <p:cNvSpPr>
            <a:spLocks noGrp="1"/>
          </p:cNvSpPr>
          <p:nvPr>
            <p:ph idx="1"/>
          </p:nvPr>
        </p:nvSpPr>
        <p:spPr>
          <a:xfrm>
            <a:off x="587375" y="1213338"/>
            <a:ext cx="8229600" cy="5363308"/>
          </a:xfrm>
        </p:spPr>
        <p:txBody>
          <a:bodyPr>
            <a:no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C provides a library of string functions 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Must include &lt;string.h&gt;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Table 7.3 (pg 509 – 514)</a:t>
            </a:r>
            <a:endParaRPr lang="en-US">
              <a:hlinkClick r:id="rId3"/>
            </a:endParaRP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>
                <a:hlinkClick r:id="rId3"/>
              </a:rPr>
              <a:t>http://www.edcc.edu/faculty/paul.bladek/c_string_functions.htm</a:t>
            </a:r>
            <a:r>
              <a:rPr lang="en-US"/>
              <a:t> 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>
                <a:hlinkClick r:id="rId4"/>
              </a:rPr>
              <a:t>http://www.cs.cf.ac.uk/Dave/C/node19.html</a:t>
            </a:r>
            <a:r>
              <a:rPr lang="en-US"/>
              <a:t> 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and other links you can find on the Internet</a:t>
            </a: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800000"/>
                </a:solidFill>
              </a:rPr>
              <a:t>strcmp(s1, s2)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Compare the ASCII values of the corresponding characters in strings s1 and s2. 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Return </a:t>
            </a:r>
          </a:p>
          <a:p>
            <a:pPr marL="1257300" lvl="2" indent="-342900">
              <a:buClr>
                <a:schemeClr val="bg1">
                  <a:lumMod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/>
              <a:t>a negative integer if s1 is lexicographically less than s2, or</a:t>
            </a:r>
          </a:p>
          <a:p>
            <a:pPr marL="1257300" lvl="2" indent="-342900">
              <a:buClr>
                <a:schemeClr val="bg1">
                  <a:lumMod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/>
              <a:t>a positive integer if s1 is lexicographically greater than s2, or </a:t>
            </a:r>
          </a:p>
          <a:p>
            <a:pPr marL="1257300" lvl="2" indent="-342900">
              <a:buClr>
                <a:schemeClr val="bg1">
                  <a:lumMod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r>
              <a:rPr lang="en-US"/>
              <a:t>0 if s1 and s2 are equal. </a:t>
            </a: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800000"/>
                </a:solidFill>
              </a:rPr>
              <a:t>strncmp(s1, s2, n)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Compare first n characters of s1 and s2.</a:t>
            </a:r>
            <a:endParaRPr 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3458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4. String Functions (2/3)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26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3" name="[Content Placeholder 5]"/>
          <p:cNvSpPr>
            <a:spLocks noGrp="1"/>
          </p:cNvSpPr>
          <p:nvPr>
            <p:ph idx="1"/>
          </p:nvPr>
        </p:nvSpPr>
        <p:spPr>
          <a:xfrm>
            <a:off x="587375" y="1213338"/>
            <a:ext cx="8229600" cy="5363308"/>
          </a:xfrm>
        </p:spPr>
        <p:txBody>
          <a:bodyPr>
            <a:noAutofit/>
          </a:bodyPr>
          <a:lstStyle/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800000"/>
                </a:solidFill>
              </a:rPr>
              <a:t>strcpy</a:t>
            </a:r>
            <a:r>
              <a:rPr lang="en-US" dirty="0">
                <a:solidFill>
                  <a:srgbClr val="800000"/>
                </a:solidFill>
              </a:rPr>
              <a:t>(s1, s2)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Copy the string pointed to by s2 into array pointed to by s1. 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Function returns s1.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</a:t>
            </a:r>
            <a:endParaRPr lang="en-US" dirty="0">
              <a:latin typeface="Courier New" pitchFamily="49" charset="0"/>
            </a:endParaRPr>
          </a:p>
          <a:p>
            <a:pPr marL="1143000" lvl="2" indent="-228600">
              <a:spcBef>
                <a:spcPts val="3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name[10];</a:t>
            </a:r>
          </a:p>
          <a:p>
            <a:pPr marL="1143000" lvl="2" indent="-22860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strcpy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(name, "Matthew");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following assignment statement </a:t>
            </a:r>
            <a:r>
              <a:rPr lang="en-US" u="sng" dirty="0">
                <a:solidFill>
                  <a:srgbClr val="0000FF"/>
                </a:solidFill>
              </a:rPr>
              <a:t>does not work</a:t>
            </a:r>
            <a:r>
              <a:rPr lang="en-US" dirty="0">
                <a:solidFill>
                  <a:srgbClr val="0000FF"/>
                </a:solidFill>
              </a:rPr>
              <a:t>:</a:t>
            </a:r>
          </a:p>
          <a:p>
            <a:pPr marL="800100" lvl="1" indent="-342900">
              <a:spcBef>
                <a:spcPts val="300"/>
              </a:spcBef>
              <a:buClr>
                <a:schemeClr val="bg2"/>
              </a:buClr>
              <a:buSzPct val="75000"/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name = "Matthew";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What happens when string to be copied is too long?</a:t>
            </a:r>
            <a:endParaRPr lang="en-US" dirty="0">
              <a:latin typeface="Courier New" pitchFamily="49" charset="0"/>
            </a:endParaRPr>
          </a:p>
          <a:p>
            <a:pPr marL="800100" lvl="1" indent="-342900">
              <a:spcBef>
                <a:spcPts val="3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	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</a:rPr>
              <a:t>strcpy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(name, "A very long name");</a:t>
            </a:r>
          </a:p>
          <a:p>
            <a:pPr marL="800100" lvl="1" indent="-342900"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b="1" dirty="0">
              <a:solidFill>
                <a:srgbClr val="0000FF"/>
              </a:solidFill>
              <a:latin typeface="Courier New" pitchFamily="49" charset="0"/>
            </a:endParaRPr>
          </a:p>
          <a:p>
            <a:pPr marL="800100" lvl="1" indent="-342900"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dirty="0"/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800000"/>
                </a:solidFill>
              </a:rPr>
              <a:t>strncpy</a:t>
            </a:r>
            <a:r>
              <a:rPr lang="en-US" dirty="0">
                <a:solidFill>
                  <a:srgbClr val="800000"/>
                </a:solidFill>
              </a:rPr>
              <a:t>(s1, s2, n)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Copy first n characters of string pointed to by s2 to s1.</a:t>
            </a:r>
            <a:endParaRPr lang="en-US" dirty="0">
              <a:latin typeface="Courier New" pitchFamily="49" charset="0"/>
            </a:endParaRPr>
          </a:p>
        </p:txBody>
      </p:sp>
      <p:grpSp>
        <p:nvGrpSpPr>
          <p:cNvPr id="8" name="Group 17"/>
          <p:cNvGrpSpPr>
            <a:grpSpLocks/>
          </p:cNvGrpSpPr>
          <p:nvPr/>
        </p:nvGrpSpPr>
        <p:grpSpPr bwMode="auto">
          <a:xfrm>
            <a:off x="4495800" y="2538680"/>
            <a:ext cx="4137025" cy="371475"/>
            <a:chOff x="4495801" y="2786744"/>
            <a:chExt cx="4136571" cy="370114"/>
          </a:xfrm>
        </p:grpSpPr>
        <p:sp>
          <p:nvSpPr>
            <p:cNvPr id="9" name="TextBox 5"/>
            <p:cNvSpPr txBox="1">
              <a:spLocks noChangeArrowheads="1"/>
            </p:cNvSpPr>
            <p:nvPr/>
          </p:nvSpPr>
          <p:spPr bwMode="auto">
            <a:xfrm>
              <a:off x="4495801" y="2786744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10" name="TextBox 6"/>
            <p:cNvSpPr txBox="1">
              <a:spLocks noChangeArrowheads="1"/>
            </p:cNvSpPr>
            <p:nvPr/>
          </p:nvSpPr>
          <p:spPr bwMode="auto">
            <a:xfrm>
              <a:off x="4909458" y="2786744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>
              <a:off x="5323116" y="2786744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t</a:t>
              </a:r>
            </a:p>
          </p:txBody>
        </p:sp>
        <p:sp>
          <p:nvSpPr>
            <p:cNvPr id="14" name="TextBox 9"/>
            <p:cNvSpPr txBox="1">
              <a:spLocks noChangeArrowheads="1"/>
            </p:cNvSpPr>
            <p:nvPr/>
          </p:nvSpPr>
          <p:spPr bwMode="auto">
            <a:xfrm>
              <a:off x="5736773" y="2786744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t</a:t>
              </a:r>
            </a:p>
          </p:txBody>
        </p:sp>
        <p:sp>
          <p:nvSpPr>
            <p:cNvPr id="15" name="TextBox 10"/>
            <p:cNvSpPr txBox="1">
              <a:spLocks noChangeArrowheads="1"/>
            </p:cNvSpPr>
            <p:nvPr/>
          </p:nvSpPr>
          <p:spPr bwMode="auto">
            <a:xfrm>
              <a:off x="6150430" y="2786744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16" name="TextBox 11"/>
            <p:cNvSpPr txBox="1">
              <a:spLocks noChangeArrowheads="1"/>
            </p:cNvSpPr>
            <p:nvPr/>
          </p:nvSpPr>
          <p:spPr bwMode="auto">
            <a:xfrm>
              <a:off x="6564088" y="2786744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17" name="TextBox 12"/>
            <p:cNvSpPr txBox="1">
              <a:spLocks noChangeArrowheads="1"/>
            </p:cNvSpPr>
            <p:nvPr/>
          </p:nvSpPr>
          <p:spPr bwMode="auto">
            <a:xfrm>
              <a:off x="6977743" y="2786744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w</a:t>
              </a:r>
            </a:p>
          </p:txBody>
        </p:sp>
        <p:sp>
          <p:nvSpPr>
            <p:cNvPr id="18" name="TextBox 13"/>
            <p:cNvSpPr txBox="1">
              <a:spLocks noChangeArrowheads="1"/>
            </p:cNvSpPr>
            <p:nvPr/>
          </p:nvSpPr>
          <p:spPr bwMode="auto">
            <a:xfrm>
              <a:off x="7391400" y="2786744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\0</a:t>
              </a:r>
            </a:p>
          </p:txBody>
        </p:sp>
        <p:sp>
          <p:nvSpPr>
            <p:cNvPr id="19" name="TextBox 14"/>
            <p:cNvSpPr txBox="1">
              <a:spLocks noChangeArrowheads="1"/>
            </p:cNvSpPr>
            <p:nvPr/>
          </p:nvSpPr>
          <p:spPr bwMode="auto">
            <a:xfrm>
              <a:off x="7805058" y="2786744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20" name="TextBox 15"/>
            <p:cNvSpPr txBox="1">
              <a:spLocks noChangeArrowheads="1"/>
            </p:cNvSpPr>
            <p:nvPr/>
          </p:nvSpPr>
          <p:spPr bwMode="auto">
            <a:xfrm>
              <a:off x="8218715" y="2786744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?</a:t>
              </a:r>
            </a:p>
          </p:txBody>
        </p:sp>
      </p:grpSp>
      <p:grpSp>
        <p:nvGrpSpPr>
          <p:cNvPr id="21" name="Group 36"/>
          <p:cNvGrpSpPr>
            <a:grpSpLocks/>
          </p:cNvGrpSpPr>
          <p:nvPr/>
        </p:nvGrpSpPr>
        <p:grpSpPr bwMode="auto">
          <a:xfrm>
            <a:off x="1066800" y="4851935"/>
            <a:ext cx="7032625" cy="369888"/>
            <a:chOff x="968830" y="5399316"/>
            <a:chExt cx="7032171" cy="370114"/>
          </a:xfrm>
        </p:grpSpPr>
        <p:sp>
          <p:nvSpPr>
            <p:cNvPr id="22" name="TextBox 19"/>
            <p:cNvSpPr txBox="1">
              <a:spLocks noChangeArrowheads="1"/>
            </p:cNvSpPr>
            <p:nvPr/>
          </p:nvSpPr>
          <p:spPr bwMode="auto">
            <a:xfrm>
              <a:off x="968830" y="5399316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23" name="TextBox 20"/>
            <p:cNvSpPr txBox="1">
              <a:spLocks noChangeArrowheads="1"/>
            </p:cNvSpPr>
            <p:nvPr/>
          </p:nvSpPr>
          <p:spPr bwMode="auto">
            <a:xfrm>
              <a:off x="1382487" y="5399316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TextBox 21"/>
            <p:cNvSpPr txBox="1">
              <a:spLocks noChangeArrowheads="1"/>
            </p:cNvSpPr>
            <p:nvPr/>
          </p:nvSpPr>
          <p:spPr bwMode="auto">
            <a:xfrm>
              <a:off x="1796145" y="5399316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v</a:t>
              </a:r>
            </a:p>
          </p:txBody>
        </p:sp>
        <p:sp>
          <p:nvSpPr>
            <p:cNvPr id="25" name="TextBox 22"/>
            <p:cNvSpPr txBox="1">
              <a:spLocks noChangeArrowheads="1"/>
            </p:cNvSpPr>
            <p:nvPr/>
          </p:nvSpPr>
          <p:spPr bwMode="auto">
            <a:xfrm>
              <a:off x="2209802" y="5399316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26" name="TextBox 23"/>
            <p:cNvSpPr txBox="1">
              <a:spLocks noChangeArrowheads="1"/>
            </p:cNvSpPr>
            <p:nvPr/>
          </p:nvSpPr>
          <p:spPr bwMode="auto">
            <a:xfrm>
              <a:off x="2623459" y="5399316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r</a:t>
              </a:r>
            </a:p>
          </p:txBody>
        </p:sp>
        <p:sp>
          <p:nvSpPr>
            <p:cNvPr id="27" name="TextBox 24"/>
            <p:cNvSpPr txBox="1">
              <a:spLocks noChangeArrowheads="1"/>
            </p:cNvSpPr>
            <p:nvPr/>
          </p:nvSpPr>
          <p:spPr bwMode="auto">
            <a:xfrm>
              <a:off x="3037117" y="5399316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y</a:t>
              </a:r>
            </a:p>
          </p:txBody>
        </p:sp>
        <p:sp>
          <p:nvSpPr>
            <p:cNvPr id="28" name="TextBox 25"/>
            <p:cNvSpPr txBox="1">
              <a:spLocks noChangeArrowheads="1"/>
            </p:cNvSpPr>
            <p:nvPr/>
          </p:nvSpPr>
          <p:spPr bwMode="auto">
            <a:xfrm>
              <a:off x="3450772" y="5399316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TextBox 26"/>
            <p:cNvSpPr txBox="1">
              <a:spLocks noChangeArrowheads="1"/>
            </p:cNvSpPr>
            <p:nvPr/>
          </p:nvSpPr>
          <p:spPr bwMode="auto">
            <a:xfrm>
              <a:off x="3864429" y="5399316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l</a:t>
              </a:r>
            </a:p>
          </p:txBody>
        </p:sp>
        <p:sp>
          <p:nvSpPr>
            <p:cNvPr id="30" name="TextBox 27"/>
            <p:cNvSpPr txBox="1">
              <a:spLocks noChangeArrowheads="1"/>
            </p:cNvSpPr>
            <p:nvPr/>
          </p:nvSpPr>
          <p:spPr bwMode="auto">
            <a:xfrm>
              <a:off x="4278087" y="5399316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o</a:t>
              </a:r>
            </a:p>
          </p:txBody>
        </p:sp>
        <p:sp>
          <p:nvSpPr>
            <p:cNvPr id="31" name="TextBox 28"/>
            <p:cNvSpPr txBox="1">
              <a:spLocks noChangeArrowheads="1"/>
            </p:cNvSpPr>
            <p:nvPr/>
          </p:nvSpPr>
          <p:spPr bwMode="auto">
            <a:xfrm>
              <a:off x="4691744" y="5399316"/>
              <a:ext cx="413657" cy="3701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n</a:t>
              </a:r>
            </a:p>
          </p:txBody>
        </p:sp>
        <p:sp>
          <p:nvSpPr>
            <p:cNvPr id="32" name="TextBox 29"/>
            <p:cNvSpPr txBox="1">
              <a:spLocks noChangeArrowheads="1"/>
            </p:cNvSpPr>
            <p:nvPr/>
          </p:nvSpPr>
          <p:spPr bwMode="auto">
            <a:xfrm>
              <a:off x="5105402" y="5399316"/>
              <a:ext cx="413657" cy="370114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33" name="TextBox 30"/>
            <p:cNvSpPr txBox="1">
              <a:spLocks noChangeArrowheads="1"/>
            </p:cNvSpPr>
            <p:nvPr/>
          </p:nvSpPr>
          <p:spPr bwMode="auto">
            <a:xfrm>
              <a:off x="5519059" y="5399316"/>
              <a:ext cx="413657" cy="370114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TextBox 31"/>
            <p:cNvSpPr txBox="1">
              <a:spLocks noChangeArrowheads="1"/>
            </p:cNvSpPr>
            <p:nvPr/>
          </p:nvSpPr>
          <p:spPr bwMode="auto">
            <a:xfrm>
              <a:off x="5932717" y="5399316"/>
              <a:ext cx="413657" cy="370114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n</a:t>
              </a:r>
            </a:p>
          </p:txBody>
        </p:sp>
        <p:sp>
          <p:nvSpPr>
            <p:cNvPr id="35" name="TextBox 32"/>
            <p:cNvSpPr txBox="1">
              <a:spLocks noChangeArrowheads="1"/>
            </p:cNvSpPr>
            <p:nvPr/>
          </p:nvSpPr>
          <p:spPr bwMode="auto">
            <a:xfrm>
              <a:off x="6346372" y="5399316"/>
              <a:ext cx="413657" cy="370114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36" name="TextBox 33"/>
            <p:cNvSpPr txBox="1">
              <a:spLocks noChangeArrowheads="1"/>
            </p:cNvSpPr>
            <p:nvPr/>
          </p:nvSpPr>
          <p:spPr bwMode="auto">
            <a:xfrm>
              <a:off x="6760029" y="5399316"/>
              <a:ext cx="413657" cy="369332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37" name="TextBox 34"/>
            <p:cNvSpPr txBox="1">
              <a:spLocks noChangeArrowheads="1"/>
            </p:cNvSpPr>
            <p:nvPr/>
          </p:nvSpPr>
          <p:spPr bwMode="auto">
            <a:xfrm>
              <a:off x="7173687" y="5399316"/>
              <a:ext cx="413657" cy="370114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38" name="TextBox 35"/>
            <p:cNvSpPr txBox="1">
              <a:spLocks noChangeArrowheads="1"/>
            </p:cNvSpPr>
            <p:nvPr/>
          </p:nvSpPr>
          <p:spPr bwMode="auto">
            <a:xfrm>
              <a:off x="7587344" y="5399316"/>
              <a:ext cx="413657" cy="370114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\0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48831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4. String Functions (3/3)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27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3" name="[Content Placeholder 5]"/>
          <p:cNvSpPr>
            <a:spLocks noGrp="1"/>
          </p:cNvSpPr>
          <p:nvPr>
            <p:ph idx="1"/>
          </p:nvPr>
        </p:nvSpPr>
        <p:spPr>
          <a:xfrm>
            <a:off x="587375" y="1213338"/>
            <a:ext cx="8229600" cy="5363308"/>
          </a:xfrm>
        </p:spPr>
        <p:txBody>
          <a:bodyPr>
            <a:no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800000"/>
                </a:solidFill>
              </a:rPr>
              <a:t>strstr</a:t>
            </a:r>
            <a:r>
              <a:rPr lang="en-US" dirty="0">
                <a:solidFill>
                  <a:srgbClr val="800000"/>
                </a:solidFill>
              </a:rPr>
              <a:t>(s1, s2)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Returns a pointer to the first instance of string s2 in s1.</a:t>
            </a:r>
          </a:p>
          <a:p>
            <a:pPr marL="800100" lvl="1" indent="-342900">
              <a:spcBef>
                <a:spcPts val="3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Returns a NULL pointer if s2 is not found in s1,</a:t>
            </a:r>
            <a:endParaRPr lang="en-US" dirty="0">
              <a:latin typeface="Courier New" pitchFamily="49" charset="0"/>
            </a:endParaRP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We will use the functions above in Demo #7.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Read up on the above functions (Table 7.3 [</a:t>
            </a:r>
            <a:r>
              <a:rPr lang="en-US" dirty="0" err="1"/>
              <a:t>pg</a:t>
            </a:r>
            <a:r>
              <a:rPr lang="en-US" dirty="0"/>
              <a:t> 405 – 411] and Table 7.4 [</a:t>
            </a:r>
            <a:r>
              <a:rPr lang="en-US" dirty="0" err="1"/>
              <a:t>pg</a:t>
            </a:r>
            <a:r>
              <a:rPr lang="en-US" dirty="0"/>
              <a:t> 412 – 413])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We will do some more exercises on them next week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Other functions (</a:t>
            </a:r>
            <a:r>
              <a:rPr lang="en-US" dirty="0" err="1"/>
              <a:t>atoi</a:t>
            </a:r>
            <a:r>
              <a:rPr lang="en-US" dirty="0"/>
              <a:t>, </a:t>
            </a:r>
            <a:r>
              <a:rPr lang="en-US" dirty="0" err="1"/>
              <a:t>strcat</a:t>
            </a:r>
            <a:r>
              <a:rPr lang="en-US" dirty="0"/>
              <a:t>, </a:t>
            </a:r>
            <a:r>
              <a:rPr lang="en-US" dirty="0" err="1"/>
              <a:t>strchr</a:t>
            </a:r>
            <a:r>
              <a:rPr lang="en-US" dirty="0"/>
              <a:t>, </a:t>
            </a:r>
            <a:r>
              <a:rPr lang="en-US" dirty="0" err="1"/>
              <a:t>strtok</a:t>
            </a:r>
            <a:r>
              <a:rPr lang="en-US" dirty="0"/>
              <a:t>, etc.)</a:t>
            </a:r>
          </a:p>
          <a:p>
            <a:pPr marL="626745" lvl="1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We will explore these in your discussion session</a:t>
            </a:r>
          </a:p>
        </p:txBody>
      </p:sp>
    </p:spTree>
    <p:extLst>
      <p:ext uri="{BB962C8B-B14F-4D97-AF65-F5344CB8AC3E}">
        <p14:creationId xmlns:p14="http://schemas.microsoft.com/office/powerpoint/2010/main" val="270416297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5. Pointer to String (1/2)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21" name="Group 11"/>
          <p:cNvGrpSpPr>
            <a:grpSpLocks/>
          </p:cNvGrpSpPr>
          <p:nvPr/>
        </p:nvGrpSpPr>
        <p:grpSpPr bwMode="auto">
          <a:xfrm>
            <a:off x="158750" y="1184223"/>
            <a:ext cx="8828088" cy="5220352"/>
            <a:chOff x="158750" y="1501893"/>
            <a:chExt cx="8828088" cy="4903631"/>
          </a:xfrm>
        </p:grpSpPr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158750" y="1501893"/>
              <a:ext cx="8828088" cy="4739514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#include &lt;</a:t>
              </a:r>
              <a:r>
                <a:rPr lang="en-US" sz="1600" b="1" dirty="0" err="1">
                  <a:latin typeface="Courier New" pitchFamily="49" charset="0"/>
                </a:rPr>
                <a:t>stdio.h</a:t>
              </a:r>
              <a:r>
                <a:rPr lang="en-US" sz="1600" b="1" dirty="0">
                  <a:latin typeface="Courier New" pitchFamily="49" charset="0"/>
                </a:rPr>
                <a:t>&gt;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#include &lt;</a:t>
              </a:r>
              <a:r>
                <a:rPr lang="en-US" sz="1600" b="1" dirty="0" err="1">
                  <a:latin typeface="Courier New" pitchFamily="49" charset="0"/>
                </a:rPr>
                <a:t>string.h</a:t>
              </a:r>
              <a:r>
                <a:rPr lang="en-US" sz="1600" b="1" dirty="0">
                  <a:latin typeface="Courier New" pitchFamily="49" charset="0"/>
                </a:rPr>
                <a:t>&gt;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 err="1">
                  <a:latin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</a:rPr>
                <a:t> main(void) {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char name[12] = "Chan Tan";  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char *</a:t>
              </a:r>
              <a:r>
                <a:rPr lang="en-US" sz="1600" b="1" dirty="0" err="1">
                  <a:latin typeface="Courier New" pitchFamily="49" charset="0"/>
                </a:rPr>
                <a:t>namePtr</a:t>
              </a:r>
              <a:r>
                <a:rPr lang="en-US" sz="1600" b="1" dirty="0">
                  <a:latin typeface="Courier New" pitchFamily="49" charset="0"/>
                </a:rPr>
                <a:t> = "Chan Tan";  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							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</a:rPr>
                <a:t>("name = %s\n", name);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</a:rPr>
                <a:t>("</a:t>
              </a:r>
              <a:r>
                <a:rPr lang="en-US" sz="1600" b="1" dirty="0" err="1">
                  <a:latin typeface="Courier New" pitchFamily="49" charset="0"/>
                </a:rPr>
                <a:t>namePtr</a:t>
              </a:r>
              <a:r>
                <a:rPr lang="en-US" sz="1600" b="1" dirty="0">
                  <a:latin typeface="Courier New" pitchFamily="49" charset="0"/>
                </a:rPr>
                <a:t> = %s\n", </a:t>
              </a:r>
              <a:r>
                <a:rPr lang="en-US" sz="1600" b="1" dirty="0" err="1">
                  <a:latin typeface="Courier New" pitchFamily="49" charset="0"/>
                </a:rPr>
                <a:t>namePtr</a:t>
              </a:r>
              <a:r>
                <a:rPr lang="en-US" sz="1600" b="1" dirty="0">
                  <a:latin typeface="Courier New" pitchFamily="49" charset="0"/>
                </a:rPr>
                <a:t>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</a:rPr>
                <a:t>("Address of 1st array element for name = %p\n", name);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</a:rPr>
                <a:t>("Address of 1st array element for </a:t>
              </a:r>
              <a:r>
                <a:rPr lang="en-US" sz="1600" b="1" dirty="0" err="1">
                  <a:latin typeface="Courier New" pitchFamily="49" charset="0"/>
                </a:rPr>
                <a:t>namePtr</a:t>
              </a:r>
              <a:r>
                <a:rPr lang="en-US" sz="1600" b="1" dirty="0">
                  <a:latin typeface="Courier New" pitchFamily="49" charset="0"/>
                </a:rPr>
                <a:t> = %p\</a:t>
              </a:r>
              <a:r>
                <a:rPr lang="en-US" sz="1600" b="1" dirty="0" err="1">
                  <a:latin typeface="Courier New" pitchFamily="49" charset="0"/>
                </a:rPr>
                <a:t>n",namePtr</a:t>
              </a:r>
              <a:r>
                <a:rPr lang="en-US" sz="1600" b="1" dirty="0">
                  <a:latin typeface="Courier New" pitchFamily="49" charset="0"/>
                </a:rPr>
                <a:t>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endParaRPr lang="en-US" sz="1600" b="1" dirty="0">
                <a:latin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C00000"/>
                  </a:solidFill>
                  <a:latin typeface="Courier New" pitchFamily="49" charset="0"/>
                </a:rPr>
                <a:t>strcpy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</a:rPr>
                <a:t>(name, "Lee Hsu");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</a:rPr>
                <a:t>namePtr</a:t>
              </a:r>
              <a:r>
                <a:rPr lang="en-US" sz="1600" b="1" dirty="0">
                  <a:latin typeface="Courier New" pitchFamily="49" charset="0"/>
                </a:rPr>
                <a:t> = "Lee Hsu";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endParaRPr lang="en-US" sz="1600" b="1" dirty="0">
                <a:latin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</a:rPr>
                <a:t>("name = %s\n", name);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</a:rPr>
                <a:t>("</a:t>
              </a:r>
              <a:r>
                <a:rPr lang="en-US" sz="1600" b="1" dirty="0" err="1">
                  <a:latin typeface="Courier New" pitchFamily="49" charset="0"/>
                </a:rPr>
                <a:t>namePtr</a:t>
              </a:r>
              <a:r>
                <a:rPr lang="en-US" sz="1600" b="1" dirty="0">
                  <a:latin typeface="Courier New" pitchFamily="49" charset="0"/>
                </a:rPr>
                <a:t> = %s\n", </a:t>
              </a:r>
              <a:r>
                <a:rPr lang="en-US" sz="1600" b="1" dirty="0" err="1">
                  <a:latin typeface="Courier New" pitchFamily="49" charset="0"/>
                </a:rPr>
                <a:t>namePtr</a:t>
              </a:r>
              <a:r>
                <a:rPr lang="en-US" sz="1600" b="1" dirty="0">
                  <a:latin typeface="Courier New" pitchFamily="49" charset="0"/>
                </a:rPr>
                <a:t>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</a:rPr>
                <a:t>("Address of 1st array element for name = %p\n", name);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</a:rPr>
                <a:t>("Address of 1st array element for </a:t>
              </a:r>
              <a:r>
                <a:rPr lang="en-US" sz="1600" b="1" dirty="0" err="1">
                  <a:latin typeface="Courier New" pitchFamily="49" charset="0"/>
                </a:rPr>
                <a:t>namePtr</a:t>
              </a:r>
              <a:r>
                <a:rPr lang="en-US" sz="1600" b="1" dirty="0">
                  <a:latin typeface="Courier New" pitchFamily="49" charset="0"/>
                </a:rPr>
                <a:t> = %p\</a:t>
              </a:r>
              <a:r>
                <a:rPr lang="en-US" sz="1600" b="1" dirty="0" err="1">
                  <a:latin typeface="Courier New" pitchFamily="49" charset="0"/>
                </a:rPr>
                <a:t>n",namePtr</a:t>
              </a:r>
              <a:r>
                <a:rPr lang="en-US" sz="1600" b="1" dirty="0">
                  <a:latin typeface="Courier New" pitchFamily="49" charset="0"/>
                </a:rPr>
                <a:t>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b="1" dirty="0">
                  <a:latin typeface="Courier New" pitchFamily="49" charset="0"/>
                </a:rPr>
                <a:t>}</a:t>
              </a:r>
              <a:endParaRPr lang="en-US" sz="1600" dirty="0">
                <a:latin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r>
                <a:rPr lang="en-US" sz="1600" dirty="0">
                  <a:latin typeface="Courier New" pitchFamily="49" charset="0"/>
                </a:rPr>
                <a:t>    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9863" algn="l"/>
                  <a:tab pos="1790700" algn="l"/>
                  <a:tab pos="2154238" algn="l"/>
                </a:tabLst>
                <a:defRPr/>
              </a:pPr>
              <a:endParaRPr lang="en-US" sz="1600" dirty="0">
                <a:solidFill>
                  <a:srgbClr val="000000"/>
                </a:solidFill>
                <a:latin typeface="Courier New" pitchFamily="49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73113" y="6058600"/>
              <a:ext cx="2689615" cy="34692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/>
                <a:t>Unit16_StringPointer.c</a:t>
              </a:r>
              <a:endParaRPr lang="en-SG" dirty="0"/>
            </a:p>
          </p:txBody>
        </p:sp>
      </p:grpSp>
      <p:sp>
        <p:nvSpPr>
          <p:cNvPr id="24" name="Line Callout 2 (Border and Accent Bar) 23"/>
          <p:cNvSpPr>
            <a:spLocks/>
          </p:cNvSpPr>
          <p:nvPr/>
        </p:nvSpPr>
        <p:spPr bwMode="auto">
          <a:xfrm>
            <a:off x="4757738" y="1139825"/>
            <a:ext cx="4154487" cy="1847850"/>
          </a:xfrm>
          <a:prstGeom prst="accentBorderCallout2">
            <a:avLst>
              <a:gd name="adj1" fmla="val 36032"/>
              <a:gd name="adj2" fmla="val -2181"/>
              <a:gd name="adj3" fmla="val 36032"/>
              <a:gd name="adj4" fmla="val -6532"/>
              <a:gd name="adj5" fmla="val 56123"/>
              <a:gd name="adj6" fmla="val -17795"/>
            </a:avLst>
          </a:prstGeom>
          <a:solidFill>
            <a:srgbClr val="EBEBF5"/>
          </a:solidFill>
          <a:ln w="12700" cap="sq" algn="ctr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en-US" sz="1600" dirty="0">
                <a:solidFill>
                  <a:srgbClr val="0000FF"/>
                </a:solidFill>
              </a:rPr>
              <a:t>name</a:t>
            </a:r>
            <a:r>
              <a:rPr lang="en-US" sz="1600" dirty="0"/>
              <a:t> is a character array of 12 elements. </a:t>
            </a:r>
            <a:r>
              <a:rPr lang="en-US" sz="1600" dirty="0" err="1">
                <a:solidFill>
                  <a:srgbClr val="0000FF"/>
                </a:solidFill>
              </a:rPr>
              <a:t>namePtr</a:t>
            </a:r>
            <a:r>
              <a:rPr lang="en-US" sz="1600" dirty="0"/>
              <a:t> is a pointer to a character. </a:t>
            </a:r>
          </a:p>
          <a:p>
            <a:r>
              <a:rPr lang="en-US" sz="1600" dirty="0"/>
              <a:t>Both have strings assigned. </a:t>
            </a:r>
          </a:p>
          <a:p>
            <a:r>
              <a:rPr lang="en-US" sz="1600" dirty="0">
                <a:solidFill>
                  <a:srgbClr val="C00000"/>
                </a:solidFill>
              </a:rPr>
              <a:t>Difference</a:t>
            </a:r>
            <a:r>
              <a:rPr lang="en-US" sz="1600" dirty="0"/>
              <a:t> is </a:t>
            </a:r>
            <a:r>
              <a:rPr lang="en-US" sz="1600" dirty="0">
                <a:solidFill>
                  <a:srgbClr val="0000FF"/>
                </a:solidFill>
              </a:rPr>
              <a:t>name</a:t>
            </a:r>
            <a:r>
              <a:rPr lang="en-US" sz="1600" dirty="0"/>
              <a:t> sets aside space for 12 characters, but </a:t>
            </a:r>
            <a:r>
              <a:rPr lang="en-US" sz="1600" dirty="0" err="1">
                <a:solidFill>
                  <a:srgbClr val="0000FF"/>
                </a:solidFill>
              </a:rPr>
              <a:t>namePtr</a:t>
            </a:r>
            <a:r>
              <a:rPr lang="en-US" sz="1600" dirty="0"/>
              <a:t> is a char pointer variable that is initialized to point to a string constant of </a:t>
            </a:r>
            <a:r>
              <a:rPr lang="en-US" sz="1600" u="sng" dirty="0"/>
              <a:t>9</a:t>
            </a:r>
            <a:r>
              <a:rPr lang="en-US" sz="1600" dirty="0"/>
              <a:t> characters.</a:t>
            </a:r>
            <a:endParaRPr lang="en-SG" sz="1600" dirty="0"/>
          </a:p>
        </p:txBody>
      </p:sp>
      <p:sp>
        <p:nvSpPr>
          <p:cNvPr id="25" name="Line Callout 2 (Border and Accent Bar) 10"/>
          <p:cNvSpPr>
            <a:spLocks/>
          </p:cNvSpPr>
          <p:nvPr/>
        </p:nvSpPr>
        <p:spPr bwMode="auto">
          <a:xfrm>
            <a:off x="4315207" y="3797707"/>
            <a:ext cx="4254500" cy="671513"/>
          </a:xfrm>
          <a:prstGeom prst="accentBorderCallout2">
            <a:avLst>
              <a:gd name="adj1" fmla="val 17023"/>
              <a:gd name="adj2" fmla="val -1792"/>
              <a:gd name="adj3" fmla="val 17023"/>
              <a:gd name="adj4" fmla="val -6120"/>
              <a:gd name="adj5" fmla="val 41407"/>
              <a:gd name="adj6" fmla="val -17497"/>
            </a:avLst>
          </a:prstGeom>
          <a:solidFill>
            <a:srgbClr val="EBEBF5"/>
          </a:solidFill>
          <a:ln w="12700" cap="sq" algn="ctr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en-US" sz="1600" dirty="0">
                <a:solidFill>
                  <a:srgbClr val="0000FF"/>
                </a:solidFill>
              </a:rPr>
              <a:t>name</a:t>
            </a:r>
            <a:r>
              <a:rPr lang="en-US" sz="1600" dirty="0"/>
              <a:t> updated using </a:t>
            </a:r>
            <a:r>
              <a:rPr lang="en-US" sz="1600" dirty="0" err="1">
                <a:solidFill>
                  <a:srgbClr val="C00000"/>
                </a:solidFill>
              </a:rPr>
              <a:t>strcpy</a:t>
            </a:r>
            <a:r>
              <a:rPr lang="en-US" sz="1600" dirty="0">
                <a:solidFill>
                  <a:srgbClr val="C00000"/>
                </a:solidFill>
              </a:rPr>
              <a:t>()</a:t>
            </a:r>
            <a:r>
              <a:rPr lang="en-US" sz="1600" dirty="0"/>
              <a:t>. </a:t>
            </a:r>
          </a:p>
          <a:p>
            <a:r>
              <a:rPr lang="en-US" sz="1600" dirty="0" err="1">
                <a:solidFill>
                  <a:srgbClr val="0000FF"/>
                </a:solidFill>
              </a:rPr>
              <a:t>namePtr</a:t>
            </a:r>
            <a:r>
              <a:rPr lang="en-US" sz="1600" dirty="0"/>
              <a:t> assigned to another string using =. </a:t>
            </a:r>
          </a:p>
          <a:p>
            <a:endParaRPr lang="en-SG" sz="1600" dirty="0"/>
          </a:p>
        </p:txBody>
      </p:sp>
      <p:sp>
        <p:nvSpPr>
          <p:cNvPr id="26" name="Line Callout 2 (Border and Accent Bar) 10"/>
          <p:cNvSpPr>
            <a:spLocks/>
          </p:cNvSpPr>
          <p:nvPr/>
        </p:nvSpPr>
        <p:spPr bwMode="auto">
          <a:xfrm>
            <a:off x="4953000" y="5612568"/>
            <a:ext cx="3892550" cy="828675"/>
          </a:xfrm>
          <a:prstGeom prst="accentBorderCallout2">
            <a:avLst>
              <a:gd name="adj1" fmla="val 13792"/>
              <a:gd name="adj2" fmla="val -1958"/>
              <a:gd name="adj3" fmla="val 13792"/>
              <a:gd name="adj4" fmla="val -10116"/>
              <a:gd name="adj5" fmla="val 4795"/>
              <a:gd name="adj6" fmla="val -19890"/>
            </a:avLst>
          </a:prstGeom>
          <a:solidFill>
            <a:srgbClr val="EBEBF5"/>
          </a:solidFill>
          <a:ln w="12700" cap="sq" algn="ctr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en-US" sz="1600"/>
              <a:t>Address of </a:t>
            </a:r>
            <a:r>
              <a:rPr lang="en-US" sz="1600" dirty="0"/>
              <a:t>first array element for </a:t>
            </a:r>
            <a:r>
              <a:rPr lang="en-US" sz="1600" dirty="0">
                <a:solidFill>
                  <a:srgbClr val="0000FF"/>
                </a:solidFill>
              </a:rPr>
              <a:t>name</a:t>
            </a:r>
            <a:r>
              <a:rPr lang="en-US" sz="1600" dirty="0"/>
              <a:t> remains constant, string assigned to </a:t>
            </a:r>
            <a:r>
              <a:rPr lang="en-US" sz="1600" dirty="0" err="1">
                <a:solidFill>
                  <a:srgbClr val="0000FF"/>
                </a:solidFill>
              </a:rPr>
              <a:t>namePtr</a:t>
            </a:r>
            <a:r>
              <a:rPr lang="en-US" sz="1600" dirty="0"/>
              <a:t> changes on new assignment. 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5041757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5. Pointer to String (2/2)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3" name="[Content Placeholder 5]"/>
          <p:cNvSpPr>
            <a:spLocks noGrp="1"/>
          </p:cNvSpPr>
          <p:nvPr>
            <p:ph idx="1"/>
          </p:nvPr>
        </p:nvSpPr>
        <p:spPr>
          <a:xfrm>
            <a:off x="587375" y="1213338"/>
            <a:ext cx="8229600" cy="509954"/>
          </a:xfrm>
        </p:spPr>
        <p:txBody>
          <a:bodyPr>
            <a:no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/>
              <a:t>Comparison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1589088" y="1992654"/>
            <a:ext cx="5535340" cy="46166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char name[12] = "Chan Tan";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9088" y="3902417"/>
            <a:ext cx="5742155" cy="46166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char *</a:t>
            </a:r>
            <a:r>
              <a:rPr lang="en-US" sz="2400" b="1" dirty="0" err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namePtr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= "Chan Tan";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18304" y="4032208"/>
            <a:ext cx="6539696" cy="1367100"/>
            <a:chOff x="318304" y="4252128"/>
            <a:chExt cx="6539696" cy="1367100"/>
          </a:xfrm>
        </p:grpSpPr>
        <p:grpSp>
          <p:nvGrpSpPr>
            <p:cNvPr id="17" name="Group 60"/>
            <p:cNvGrpSpPr>
              <a:grpSpLocks/>
            </p:cNvGrpSpPr>
            <p:nvPr/>
          </p:nvGrpSpPr>
          <p:grpSpPr bwMode="auto">
            <a:xfrm>
              <a:off x="318304" y="4252128"/>
              <a:ext cx="1081352" cy="950511"/>
              <a:chOff x="442686" y="4593772"/>
              <a:chExt cx="1081317" cy="950689"/>
            </a:xfrm>
          </p:grpSpPr>
          <p:sp>
            <p:nvSpPr>
              <p:cNvPr id="34" name="TextBox 42"/>
              <p:cNvSpPr txBox="1">
                <a:spLocks noChangeArrowheads="1"/>
              </p:cNvSpPr>
              <p:nvPr/>
            </p:nvSpPr>
            <p:spPr bwMode="auto">
              <a:xfrm>
                <a:off x="442686" y="4593772"/>
                <a:ext cx="1052286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/>
                  <a:t>namePtr</a:t>
                </a:r>
              </a:p>
            </p:txBody>
          </p:sp>
          <p:sp>
            <p:nvSpPr>
              <p:cNvPr id="35" name="Rectangle 55"/>
              <p:cNvSpPr>
                <a:spLocks noChangeArrowheads="1"/>
              </p:cNvSpPr>
              <p:nvPr/>
            </p:nvSpPr>
            <p:spPr bwMode="auto">
              <a:xfrm>
                <a:off x="769257" y="4949372"/>
                <a:ext cx="551543" cy="43542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36" name="Straight Arrow Connector 57"/>
              <p:cNvCxnSpPr>
                <a:cxnSpLocks noChangeShapeType="1"/>
              </p:cNvCxnSpPr>
              <p:nvPr/>
            </p:nvCxnSpPr>
            <p:spPr bwMode="auto">
              <a:xfrm>
                <a:off x="1132113" y="5167086"/>
                <a:ext cx="391890" cy="377375"/>
              </a:xfrm>
              <a:prstGeom prst="straightConnector1">
                <a:avLst/>
              </a:prstGeom>
              <a:noFill/>
              <a:ln w="19050" cap="sq" algn="ctr">
                <a:solidFill>
                  <a:schemeClr val="tx1"/>
                </a:solidFill>
                <a:round/>
                <a:headEnd/>
                <a:tailEnd type="triangle" w="lg" len="med"/>
              </a:ln>
            </p:spPr>
          </p:cxnSp>
        </p:grpSp>
        <p:grpSp>
          <p:nvGrpSpPr>
            <p:cNvPr id="18" name="Group 17"/>
            <p:cNvGrpSpPr/>
            <p:nvPr/>
          </p:nvGrpSpPr>
          <p:grpSpPr>
            <a:xfrm>
              <a:off x="1452092" y="5095907"/>
              <a:ext cx="5405908" cy="523321"/>
              <a:chOff x="1452092" y="5095907"/>
              <a:chExt cx="5405908" cy="523321"/>
            </a:xfrm>
          </p:grpSpPr>
          <p:sp>
            <p:nvSpPr>
              <p:cNvPr id="19" name="TextBox 16"/>
              <p:cNvSpPr txBox="1">
                <a:spLocks noChangeArrowheads="1"/>
              </p:cNvSpPr>
              <p:nvPr/>
            </p:nvSpPr>
            <p:spPr bwMode="auto">
              <a:xfrm>
                <a:off x="1452092" y="5095907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C</a:t>
                </a:r>
              </a:p>
            </p:txBody>
          </p:sp>
          <p:sp>
            <p:nvSpPr>
              <p:cNvPr id="20" name="TextBox 16"/>
              <p:cNvSpPr txBox="1">
                <a:spLocks noChangeArrowheads="1"/>
              </p:cNvSpPr>
              <p:nvPr/>
            </p:nvSpPr>
            <p:spPr bwMode="auto">
              <a:xfrm>
                <a:off x="2055904" y="5095907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h</a:t>
                </a:r>
              </a:p>
            </p:txBody>
          </p:sp>
          <p:sp>
            <p:nvSpPr>
              <p:cNvPr id="27" name="TextBox 16"/>
              <p:cNvSpPr txBox="1">
                <a:spLocks noChangeArrowheads="1"/>
              </p:cNvSpPr>
              <p:nvPr/>
            </p:nvSpPr>
            <p:spPr bwMode="auto">
              <a:xfrm>
                <a:off x="2657788" y="5095907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a</a:t>
                </a:r>
              </a:p>
            </p:txBody>
          </p:sp>
          <p:sp>
            <p:nvSpPr>
              <p:cNvPr id="28" name="TextBox 16"/>
              <p:cNvSpPr txBox="1">
                <a:spLocks noChangeArrowheads="1"/>
              </p:cNvSpPr>
              <p:nvPr/>
            </p:nvSpPr>
            <p:spPr bwMode="auto">
              <a:xfrm>
                <a:off x="3259672" y="5095907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n</a:t>
                </a:r>
              </a:p>
            </p:txBody>
          </p:sp>
          <p:sp>
            <p:nvSpPr>
              <p:cNvPr id="29" name="TextBox 16"/>
              <p:cNvSpPr txBox="1">
                <a:spLocks noChangeArrowheads="1"/>
              </p:cNvSpPr>
              <p:nvPr/>
            </p:nvSpPr>
            <p:spPr bwMode="auto">
              <a:xfrm>
                <a:off x="3851911" y="5095907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30" name="TextBox 16"/>
              <p:cNvSpPr txBox="1">
                <a:spLocks noChangeArrowheads="1"/>
              </p:cNvSpPr>
              <p:nvPr/>
            </p:nvSpPr>
            <p:spPr bwMode="auto">
              <a:xfrm>
                <a:off x="4453794" y="5095907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T</a:t>
                </a:r>
              </a:p>
            </p:txBody>
          </p:sp>
          <p:sp>
            <p:nvSpPr>
              <p:cNvPr id="31" name="TextBox 16"/>
              <p:cNvSpPr txBox="1">
                <a:spLocks noChangeArrowheads="1"/>
              </p:cNvSpPr>
              <p:nvPr/>
            </p:nvSpPr>
            <p:spPr bwMode="auto">
              <a:xfrm>
                <a:off x="5053748" y="5095907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a</a:t>
                </a:r>
              </a:p>
            </p:txBody>
          </p:sp>
          <p:sp>
            <p:nvSpPr>
              <p:cNvPr id="32" name="TextBox 16"/>
              <p:cNvSpPr txBox="1">
                <a:spLocks noChangeArrowheads="1"/>
              </p:cNvSpPr>
              <p:nvPr/>
            </p:nvSpPr>
            <p:spPr bwMode="auto">
              <a:xfrm>
                <a:off x="5657560" y="5095907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n</a:t>
                </a:r>
              </a:p>
            </p:txBody>
          </p:sp>
          <p:sp>
            <p:nvSpPr>
              <p:cNvPr id="33" name="TextBox 16"/>
              <p:cNvSpPr txBox="1">
                <a:spLocks noChangeArrowheads="1"/>
              </p:cNvSpPr>
              <p:nvPr/>
            </p:nvSpPr>
            <p:spPr bwMode="auto">
              <a:xfrm>
                <a:off x="6259444" y="5095907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\0</a:t>
                </a:r>
              </a:p>
            </p:txBody>
          </p:sp>
        </p:grpSp>
      </p:grpSp>
      <p:grpSp>
        <p:nvGrpSpPr>
          <p:cNvPr id="37" name="Group 36"/>
          <p:cNvGrpSpPr/>
          <p:nvPr/>
        </p:nvGrpSpPr>
        <p:grpSpPr>
          <a:xfrm>
            <a:off x="888819" y="2575267"/>
            <a:ext cx="7740109" cy="856345"/>
            <a:chOff x="888819" y="2725738"/>
            <a:chExt cx="7740109" cy="856345"/>
          </a:xfrm>
        </p:grpSpPr>
        <p:grpSp>
          <p:nvGrpSpPr>
            <p:cNvPr id="38" name="Group 37"/>
            <p:cNvGrpSpPr/>
            <p:nvPr/>
          </p:nvGrpSpPr>
          <p:grpSpPr>
            <a:xfrm>
              <a:off x="1427014" y="3056833"/>
              <a:ext cx="7201914" cy="525250"/>
              <a:chOff x="1299692" y="3056833"/>
              <a:chExt cx="7201914" cy="525250"/>
            </a:xfrm>
          </p:grpSpPr>
          <p:sp>
            <p:nvSpPr>
              <p:cNvPr id="52" name="TextBox 16"/>
              <p:cNvSpPr txBox="1">
                <a:spLocks noChangeArrowheads="1"/>
              </p:cNvSpPr>
              <p:nvPr/>
            </p:nvSpPr>
            <p:spPr bwMode="auto">
              <a:xfrm>
                <a:off x="1299692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C</a:t>
                </a:r>
              </a:p>
            </p:txBody>
          </p:sp>
          <p:sp>
            <p:nvSpPr>
              <p:cNvPr id="53" name="TextBox 16"/>
              <p:cNvSpPr txBox="1">
                <a:spLocks noChangeArrowheads="1"/>
              </p:cNvSpPr>
              <p:nvPr/>
            </p:nvSpPr>
            <p:spPr bwMode="auto">
              <a:xfrm>
                <a:off x="1903504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h</a:t>
                </a:r>
              </a:p>
            </p:txBody>
          </p:sp>
          <p:sp>
            <p:nvSpPr>
              <p:cNvPr id="54" name="TextBox 16"/>
              <p:cNvSpPr txBox="1">
                <a:spLocks noChangeArrowheads="1"/>
              </p:cNvSpPr>
              <p:nvPr/>
            </p:nvSpPr>
            <p:spPr bwMode="auto">
              <a:xfrm>
                <a:off x="2505388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a</a:t>
                </a:r>
              </a:p>
            </p:txBody>
          </p:sp>
          <p:sp>
            <p:nvSpPr>
              <p:cNvPr id="55" name="TextBox 16"/>
              <p:cNvSpPr txBox="1">
                <a:spLocks noChangeArrowheads="1"/>
              </p:cNvSpPr>
              <p:nvPr/>
            </p:nvSpPr>
            <p:spPr bwMode="auto">
              <a:xfrm>
                <a:off x="3107272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n</a:t>
                </a:r>
              </a:p>
            </p:txBody>
          </p:sp>
          <p:sp>
            <p:nvSpPr>
              <p:cNvPr id="56" name="TextBox 16"/>
              <p:cNvSpPr txBox="1">
                <a:spLocks noChangeArrowheads="1"/>
              </p:cNvSpPr>
              <p:nvPr/>
            </p:nvSpPr>
            <p:spPr bwMode="auto">
              <a:xfrm>
                <a:off x="3699511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57" name="TextBox 16"/>
              <p:cNvSpPr txBox="1">
                <a:spLocks noChangeArrowheads="1"/>
              </p:cNvSpPr>
              <p:nvPr/>
            </p:nvSpPr>
            <p:spPr bwMode="auto">
              <a:xfrm>
                <a:off x="4301394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T</a:t>
                </a:r>
              </a:p>
            </p:txBody>
          </p:sp>
          <p:sp>
            <p:nvSpPr>
              <p:cNvPr id="58" name="TextBox 16"/>
              <p:cNvSpPr txBox="1">
                <a:spLocks noChangeArrowheads="1"/>
              </p:cNvSpPr>
              <p:nvPr/>
            </p:nvSpPr>
            <p:spPr bwMode="auto">
              <a:xfrm>
                <a:off x="4901348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a</a:t>
                </a:r>
              </a:p>
            </p:txBody>
          </p:sp>
          <p:sp>
            <p:nvSpPr>
              <p:cNvPr id="59" name="TextBox 16"/>
              <p:cNvSpPr txBox="1">
                <a:spLocks noChangeArrowheads="1"/>
              </p:cNvSpPr>
              <p:nvPr/>
            </p:nvSpPr>
            <p:spPr bwMode="auto">
              <a:xfrm>
                <a:off x="5505160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n</a:t>
                </a:r>
              </a:p>
            </p:txBody>
          </p:sp>
          <p:sp>
            <p:nvSpPr>
              <p:cNvPr id="60" name="TextBox 16"/>
              <p:cNvSpPr txBox="1">
                <a:spLocks noChangeArrowheads="1"/>
              </p:cNvSpPr>
              <p:nvPr/>
            </p:nvSpPr>
            <p:spPr bwMode="auto">
              <a:xfrm>
                <a:off x="6107044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\0</a:t>
                </a:r>
              </a:p>
            </p:txBody>
          </p:sp>
          <p:sp>
            <p:nvSpPr>
              <p:cNvPr id="61" name="TextBox 16"/>
              <p:cNvSpPr txBox="1">
                <a:spLocks noChangeArrowheads="1"/>
              </p:cNvSpPr>
              <p:nvPr/>
            </p:nvSpPr>
            <p:spPr bwMode="auto">
              <a:xfrm>
                <a:off x="6708928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\0</a:t>
                </a:r>
              </a:p>
            </p:txBody>
          </p:sp>
          <p:sp>
            <p:nvSpPr>
              <p:cNvPr id="62" name="TextBox 16"/>
              <p:cNvSpPr txBox="1">
                <a:spLocks noChangeArrowheads="1"/>
              </p:cNvSpPr>
              <p:nvPr/>
            </p:nvSpPr>
            <p:spPr bwMode="auto">
              <a:xfrm>
                <a:off x="7903050" y="3056833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\0</a:t>
                </a:r>
              </a:p>
            </p:txBody>
          </p:sp>
          <p:sp>
            <p:nvSpPr>
              <p:cNvPr id="63" name="TextBox 16"/>
              <p:cNvSpPr txBox="1">
                <a:spLocks noChangeArrowheads="1"/>
              </p:cNvSpPr>
              <p:nvPr/>
            </p:nvSpPr>
            <p:spPr bwMode="auto">
              <a:xfrm>
                <a:off x="7303095" y="3058762"/>
                <a:ext cx="598556" cy="5233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\0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888819" y="2725738"/>
              <a:ext cx="7701525" cy="343081"/>
              <a:chOff x="888819" y="2725738"/>
              <a:chExt cx="7701525" cy="343081"/>
            </a:xfrm>
          </p:grpSpPr>
          <p:sp>
            <p:nvSpPr>
              <p:cNvPr id="40" name="TextBox 19"/>
              <p:cNvSpPr txBox="1">
                <a:spLocks noChangeArrowheads="1"/>
              </p:cNvSpPr>
              <p:nvPr/>
            </p:nvSpPr>
            <p:spPr bwMode="auto">
              <a:xfrm>
                <a:off x="888819" y="2728270"/>
                <a:ext cx="943367" cy="3386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/>
                  <a:t>name[0]</a:t>
                </a:r>
              </a:p>
            </p:txBody>
          </p:sp>
          <p:sp>
            <p:nvSpPr>
              <p:cNvPr id="41" name="TextBox 20"/>
              <p:cNvSpPr txBox="1">
                <a:spLocks noChangeArrowheads="1"/>
              </p:cNvSpPr>
              <p:nvPr/>
            </p:nvSpPr>
            <p:spPr bwMode="auto">
              <a:xfrm>
                <a:off x="2057324" y="2725738"/>
                <a:ext cx="413629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/>
                  <a:t>[1]</a:t>
                </a:r>
              </a:p>
            </p:txBody>
          </p:sp>
          <p:sp>
            <p:nvSpPr>
              <p:cNvPr id="42" name="TextBox 21"/>
              <p:cNvSpPr txBox="1">
                <a:spLocks noChangeArrowheads="1"/>
              </p:cNvSpPr>
              <p:nvPr/>
            </p:nvSpPr>
            <p:spPr bwMode="auto">
              <a:xfrm>
                <a:off x="2703168" y="2725738"/>
                <a:ext cx="413629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/>
                  <a:t>[2]</a:t>
                </a:r>
              </a:p>
            </p:txBody>
          </p:sp>
          <p:sp>
            <p:nvSpPr>
              <p:cNvPr id="43" name="TextBox 22"/>
              <p:cNvSpPr txBox="1">
                <a:spLocks noChangeArrowheads="1"/>
              </p:cNvSpPr>
              <p:nvPr/>
            </p:nvSpPr>
            <p:spPr bwMode="auto">
              <a:xfrm>
                <a:off x="3301333" y="2725738"/>
                <a:ext cx="413629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/>
                  <a:t>[3]</a:t>
                </a:r>
              </a:p>
            </p:txBody>
          </p:sp>
          <p:sp>
            <p:nvSpPr>
              <p:cNvPr id="44" name="TextBox 23"/>
              <p:cNvSpPr txBox="1">
                <a:spLocks noChangeArrowheads="1"/>
              </p:cNvSpPr>
              <p:nvPr/>
            </p:nvSpPr>
            <p:spPr bwMode="auto">
              <a:xfrm>
                <a:off x="3899499" y="2725738"/>
                <a:ext cx="413629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/>
                  <a:t>[4]</a:t>
                </a:r>
              </a:p>
            </p:txBody>
          </p:sp>
          <p:sp>
            <p:nvSpPr>
              <p:cNvPr id="45" name="TextBox 24"/>
              <p:cNvSpPr txBox="1">
                <a:spLocks noChangeArrowheads="1"/>
              </p:cNvSpPr>
              <p:nvPr/>
            </p:nvSpPr>
            <p:spPr bwMode="auto">
              <a:xfrm>
                <a:off x="4497664" y="2725738"/>
                <a:ext cx="413629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/>
                  <a:t>[5]</a:t>
                </a:r>
              </a:p>
            </p:txBody>
          </p:sp>
          <p:sp>
            <p:nvSpPr>
              <p:cNvPr id="46" name="TextBox 25"/>
              <p:cNvSpPr txBox="1">
                <a:spLocks noChangeArrowheads="1"/>
              </p:cNvSpPr>
              <p:nvPr/>
            </p:nvSpPr>
            <p:spPr bwMode="auto">
              <a:xfrm>
                <a:off x="5081317" y="2725738"/>
                <a:ext cx="413629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/>
                  <a:t>[6]</a:t>
                </a:r>
              </a:p>
            </p:txBody>
          </p:sp>
          <p:sp>
            <p:nvSpPr>
              <p:cNvPr id="47" name="TextBox 26"/>
              <p:cNvSpPr txBox="1">
                <a:spLocks noChangeArrowheads="1"/>
              </p:cNvSpPr>
              <p:nvPr/>
            </p:nvSpPr>
            <p:spPr bwMode="auto">
              <a:xfrm>
                <a:off x="5705390" y="2725738"/>
                <a:ext cx="413629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/>
                  <a:t>[7]</a:t>
                </a:r>
              </a:p>
            </p:txBody>
          </p:sp>
          <p:sp>
            <p:nvSpPr>
              <p:cNvPr id="48" name="TextBox 38"/>
              <p:cNvSpPr txBox="1">
                <a:spLocks noChangeArrowheads="1"/>
              </p:cNvSpPr>
              <p:nvPr/>
            </p:nvSpPr>
            <p:spPr bwMode="auto">
              <a:xfrm>
                <a:off x="6275909" y="2725738"/>
                <a:ext cx="413629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/>
                  <a:t>[8]</a:t>
                </a:r>
              </a:p>
            </p:txBody>
          </p:sp>
          <p:sp>
            <p:nvSpPr>
              <p:cNvPr id="49" name="TextBox 39"/>
              <p:cNvSpPr txBox="1">
                <a:spLocks noChangeArrowheads="1"/>
              </p:cNvSpPr>
              <p:nvPr/>
            </p:nvSpPr>
            <p:spPr bwMode="auto">
              <a:xfrm>
                <a:off x="6917614" y="2725738"/>
                <a:ext cx="413629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/>
                  <a:t>[9]</a:t>
                </a:r>
              </a:p>
            </p:txBody>
          </p:sp>
          <p:sp>
            <p:nvSpPr>
              <p:cNvPr id="50" name="TextBox 39"/>
              <p:cNvSpPr txBox="1">
                <a:spLocks noChangeArrowheads="1"/>
              </p:cNvSpPr>
              <p:nvPr/>
            </p:nvSpPr>
            <p:spPr bwMode="auto">
              <a:xfrm>
                <a:off x="7428829" y="2725738"/>
                <a:ext cx="569277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/>
                  <a:t>[10]</a:t>
                </a:r>
              </a:p>
            </p:txBody>
          </p:sp>
          <p:sp>
            <p:nvSpPr>
              <p:cNvPr id="51" name="TextBox 39"/>
              <p:cNvSpPr txBox="1">
                <a:spLocks noChangeArrowheads="1"/>
              </p:cNvSpPr>
              <p:nvPr/>
            </p:nvSpPr>
            <p:spPr bwMode="auto">
              <a:xfrm>
                <a:off x="8021067" y="2727667"/>
                <a:ext cx="569277" cy="341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/>
                  <a:t>[11]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55765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6. Array of Strings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4" name="Rectangle 8"/>
          <p:cNvSpPr>
            <a:spLocks noChangeArrowheads="1"/>
          </p:cNvSpPr>
          <p:nvPr/>
        </p:nvSpPr>
        <p:spPr bwMode="auto">
          <a:xfrm>
            <a:off x="373063" y="1284791"/>
            <a:ext cx="8453437" cy="4519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Declaration</a:t>
            </a:r>
            <a:endParaRPr lang="en-US" sz="2800" dirty="0">
              <a:latin typeface="Courier New" pitchFamily="49" charset="0"/>
            </a:endParaRPr>
          </a:p>
          <a:p>
            <a:pPr lvl="1">
              <a:spcBef>
                <a:spcPts val="600"/>
              </a:spcBef>
              <a:buClr>
                <a:schemeClr val="bg2"/>
              </a:buClr>
              <a:buSzPct val="75000"/>
            </a:pPr>
            <a:r>
              <a:rPr lang="en-US" sz="2000" b="1" dirty="0">
                <a:solidFill>
                  <a:srgbClr val="800000"/>
                </a:solidFill>
                <a:latin typeface="Courier New" pitchFamily="49" charset="0"/>
              </a:rPr>
              <a:t>	char fruits[MAXNUM][STRSIZE]; </a:t>
            </a:r>
          </a:p>
          <a:p>
            <a:pPr lvl="1">
              <a:buClr>
                <a:schemeClr val="bg2"/>
              </a:buClr>
              <a:buSzPct val="75000"/>
            </a:pPr>
            <a:r>
              <a:rPr lang="en-US" sz="2000" b="1" dirty="0">
                <a:solidFill>
                  <a:srgbClr val="8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// where MAXNUM is the maximum number of names</a:t>
            </a:r>
          </a:p>
          <a:p>
            <a:pPr lvl="1">
              <a:buClr>
                <a:schemeClr val="bg2"/>
              </a:buClr>
              <a:buSzPct val="75000"/>
            </a:pP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	// and STRSIZE is the size of each name</a:t>
            </a:r>
          </a:p>
          <a:p>
            <a:pPr marL="457200" indent="-457200">
              <a:spcBef>
                <a:spcPct val="200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Initialization</a:t>
            </a:r>
          </a:p>
          <a:p>
            <a:pPr lvl="1">
              <a:spcBef>
                <a:spcPts val="600"/>
              </a:spcBef>
              <a:buClr>
                <a:schemeClr val="bg2"/>
              </a:buClr>
              <a:buSzPct val="75000"/>
            </a:pPr>
            <a:r>
              <a:rPr lang="en-US" sz="2400" dirty="0"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800000"/>
                </a:solidFill>
                <a:latin typeface="Courier New" pitchFamily="49" charset="0"/>
              </a:rPr>
              <a:t>char fruits[][6] = {"apple", "mango", </a:t>
            </a:r>
            <a:r>
              <a:rPr lang="en-US" dirty="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2000" b="1" dirty="0">
                <a:solidFill>
                  <a:srgbClr val="800000"/>
                </a:solidFill>
                <a:latin typeface="Courier New" pitchFamily="49" charset="0"/>
              </a:rPr>
              <a:t>pear"};</a:t>
            </a:r>
          </a:p>
          <a:p>
            <a:pPr lvl="1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sz="2000" i="1" dirty="0">
                <a:latin typeface="+mn-lt"/>
              </a:rPr>
              <a:t>or</a:t>
            </a:r>
          </a:p>
          <a:p>
            <a:pPr lvl="1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en-US" sz="2000" b="1" dirty="0">
                <a:solidFill>
                  <a:srgbClr val="800000"/>
                </a:solidFill>
                <a:latin typeface="Courier New" pitchFamily="49" charset="0"/>
              </a:rPr>
              <a:t>	char fruits[3][6] = {"apple", "mango", </a:t>
            </a:r>
            <a:r>
              <a:rPr lang="en-US" sz="2000" dirty="0">
                <a:solidFill>
                  <a:srgbClr val="800000"/>
                </a:solidFill>
                <a:latin typeface="Courier New" pitchFamily="49" charset="0"/>
              </a:rPr>
              <a:t>"</a:t>
            </a:r>
            <a:r>
              <a:rPr lang="en-US" sz="2000" b="1" dirty="0">
                <a:solidFill>
                  <a:srgbClr val="800000"/>
                </a:solidFill>
                <a:latin typeface="Courier New" pitchFamily="49" charset="0"/>
              </a:rPr>
              <a:t>pear"};</a:t>
            </a:r>
          </a:p>
          <a:p>
            <a:pPr marL="457200" indent="-4572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Output</a:t>
            </a:r>
            <a:endParaRPr lang="en-US" sz="2400" dirty="0">
              <a:latin typeface="Courier New" pitchFamily="49" charset="0"/>
            </a:endParaRPr>
          </a:p>
          <a:p>
            <a:pPr lvl="1">
              <a:spcBef>
                <a:spcPts val="300"/>
              </a:spcBef>
              <a:buClr>
                <a:schemeClr val="bg2"/>
              </a:buClr>
              <a:buSzPct val="75000"/>
            </a:pPr>
            <a:r>
              <a:rPr lang="en-US" sz="2000" b="1" dirty="0" err="1">
                <a:solidFill>
                  <a:srgbClr val="800000"/>
                </a:solidFill>
                <a:latin typeface="Courier New" pitchFamily="49" charset="0"/>
              </a:rPr>
              <a:t>printf</a:t>
            </a:r>
            <a:r>
              <a:rPr lang="en-US" sz="2000" b="1" dirty="0">
                <a:solidFill>
                  <a:srgbClr val="800000"/>
                </a:solidFill>
                <a:latin typeface="Courier New" pitchFamily="49" charset="0"/>
              </a:rPr>
              <a:t>("fruits: %s %s\n", fruits[0], fruits[1]);</a:t>
            </a:r>
          </a:p>
          <a:p>
            <a:pPr lvl="1">
              <a:spcBef>
                <a:spcPts val="300"/>
              </a:spcBef>
              <a:buClr>
                <a:schemeClr val="bg2"/>
              </a:buClr>
              <a:buSzPct val="75000"/>
            </a:pPr>
            <a:r>
              <a:rPr lang="en-US" sz="2000" b="1" dirty="0" err="1">
                <a:solidFill>
                  <a:srgbClr val="800000"/>
                </a:solidFill>
                <a:latin typeface="Courier New" pitchFamily="49" charset="0"/>
              </a:rPr>
              <a:t>printf</a:t>
            </a:r>
            <a:r>
              <a:rPr lang="en-US" sz="2000" b="1" dirty="0">
                <a:solidFill>
                  <a:srgbClr val="800000"/>
                </a:solidFill>
                <a:latin typeface="Courier New" pitchFamily="49" charset="0"/>
              </a:rPr>
              <a:t>("character: %c\n", fruits[2][1]);</a:t>
            </a:r>
          </a:p>
        </p:txBody>
      </p:sp>
      <p:sp>
        <p:nvSpPr>
          <p:cNvPr id="65" name="[TextBox 64]"/>
          <p:cNvSpPr txBox="1"/>
          <p:nvPr/>
        </p:nvSpPr>
        <p:spPr>
          <a:xfrm>
            <a:off x="4467828" y="5567424"/>
            <a:ext cx="3460830" cy="707886"/>
          </a:xfrm>
          <a:prstGeom prst="rect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000" b="1" dirty="0">
                <a:latin typeface="Courier New" pitchFamily="49" charset="0"/>
                <a:cs typeface="Courier New" pitchFamily="49" charset="0"/>
              </a:rPr>
              <a:t>fruits: apple mango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character: e</a:t>
            </a:r>
            <a:endParaRPr lang="en-SG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4021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7. Demo #7: Using String Functions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92125" y="1143000"/>
            <a:ext cx="7915275" cy="543007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sz="1100" b="1" dirty="0">
                <a:latin typeface="Courier New" pitchFamily="49" charset="0"/>
              </a:rPr>
              <a:t>#include &lt;</a:t>
            </a:r>
            <a:r>
              <a:rPr lang="en-US" sz="1100" b="1" dirty="0" err="1">
                <a:latin typeface="Courier New" pitchFamily="49" charset="0"/>
              </a:rPr>
              <a:t>stdio.h</a:t>
            </a:r>
            <a:r>
              <a:rPr lang="en-US" sz="1100" b="1" dirty="0">
                <a:latin typeface="Courier New" pitchFamily="49" charset="0"/>
              </a:rPr>
              <a:t>&gt;</a:t>
            </a:r>
          </a:p>
          <a:p>
            <a:pPr marL="342900" indent="-342900">
              <a:defRPr/>
            </a:pPr>
            <a:r>
              <a:rPr lang="en-US" sz="1100" b="1" dirty="0">
                <a:latin typeface="Courier New" pitchFamily="49" charset="0"/>
              </a:rPr>
              <a:t>#include &lt;</a:t>
            </a:r>
            <a:r>
              <a:rPr lang="en-US" sz="1100" b="1" dirty="0" err="1">
                <a:latin typeface="Courier New" pitchFamily="49" charset="0"/>
              </a:rPr>
              <a:t>string.h</a:t>
            </a:r>
            <a:r>
              <a:rPr lang="en-US" sz="1100" b="1" dirty="0">
                <a:latin typeface="Courier New" pitchFamily="49" charset="0"/>
              </a:rPr>
              <a:t>&gt;</a:t>
            </a:r>
          </a:p>
          <a:p>
            <a:pPr marL="342900" indent="-342900">
              <a:defRPr/>
            </a:pPr>
            <a:r>
              <a:rPr lang="en-US" sz="1100" b="1" dirty="0">
                <a:latin typeface="Courier New" pitchFamily="49" charset="0"/>
              </a:rPr>
              <a:t>#define MAX_LEN 10</a:t>
            </a:r>
          </a:p>
          <a:p>
            <a:pPr marL="342900" indent="-342900">
              <a:defRPr/>
            </a:pPr>
            <a:r>
              <a:rPr lang="en-US" sz="1400" b="1" dirty="0" err="1">
                <a:latin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</a:rPr>
              <a:t> main(void) {	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char s1[MAX_LEN + 1], s2[MAX_LEN + 1], *p;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</a:rPr>
              <a:t> </a:t>
            </a:r>
            <a:r>
              <a:rPr lang="en-US" sz="1400" b="1" dirty="0" err="1">
                <a:latin typeface="Courier New" pitchFamily="49" charset="0"/>
              </a:rPr>
              <a:t>len</a:t>
            </a:r>
            <a:r>
              <a:rPr lang="en-US" sz="14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endParaRPr lang="en-US" sz="800" b="1" dirty="0">
              <a:latin typeface="Courier New" pitchFamily="49" charset="0"/>
            </a:endParaRP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</a:rPr>
              <a:t>printf</a:t>
            </a:r>
            <a:r>
              <a:rPr lang="en-US" sz="1400" b="1" dirty="0">
                <a:latin typeface="Courier New" pitchFamily="49" charset="0"/>
              </a:rPr>
              <a:t>("Enter string (at most %d characters) for s1: ", MAX_LEN);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</a:rPr>
              <a:t>fgets</a:t>
            </a:r>
            <a:r>
              <a:rPr lang="en-US" sz="1400" b="1" dirty="0">
                <a:latin typeface="Courier New" pitchFamily="49" charset="0"/>
              </a:rPr>
              <a:t>(s1, MAX_LEN+1, </a:t>
            </a:r>
            <a:r>
              <a:rPr lang="en-US" sz="1400" b="1" dirty="0" err="1">
                <a:latin typeface="Courier New" pitchFamily="49" charset="0"/>
              </a:rPr>
              <a:t>stdin</a:t>
            </a:r>
            <a:r>
              <a:rPr lang="en-US" sz="1400" b="1" dirty="0">
                <a:latin typeface="Courier New" pitchFamily="49" charset="0"/>
              </a:rPr>
              <a:t>);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</a:rPr>
              <a:t>len</a:t>
            </a:r>
            <a:r>
              <a:rPr lang="en-US" sz="1400" b="1" dirty="0">
                <a:latin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</a:rPr>
              <a:t>strlen</a:t>
            </a:r>
            <a:r>
              <a:rPr lang="en-US" sz="1400" b="1" dirty="0">
                <a:latin typeface="Courier New" pitchFamily="49" charset="0"/>
              </a:rPr>
              <a:t>(s1);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if (s1[</a:t>
            </a:r>
            <a:r>
              <a:rPr lang="en-US" sz="1400" b="1" dirty="0" err="1">
                <a:latin typeface="Courier New" pitchFamily="49" charset="0"/>
              </a:rPr>
              <a:t>len</a:t>
            </a:r>
            <a:r>
              <a:rPr lang="en-US" sz="1400" b="1" dirty="0">
                <a:latin typeface="Courier New" pitchFamily="49" charset="0"/>
              </a:rPr>
              <a:t> – 1] == '\n') s1[</a:t>
            </a:r>
            <a:r>
              <a:rPr lang="en-US" sz="1400" b="1" dirty="0" err="1">
                <a:latin typeface="Courier New" pitchFamily="49" charset="0"/>
              </a:rPr>
              <a:t>len</a:t>
            </a:r>
            <a:r>
              <a:rPr lang="en-US" sz="1400" b="1" dirty="0">
                <a:latin typeface="Courier New" pitchFamily="49" charset="0"/>
              </a:rPr>
              <a:t> – 1] = '\0';</a:t>
            </a:r>
          </a:p>
          <a:p>
            <a:pPr marL="342900" indent="-342900">
              <a:defRPr/>
            </a:pPr>
            <a:endParaRPr lang="en-US" sz="800" b="1" dirty="0">
              <a:latin typeface="Courier New" pitchFamily="49" charset="0"/>
            </a:endParaRP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</a:rPr>
              <a:t>printf</a:t>
            </a:r>
            <a:r>
              <a:rPr lang="en-US" sz="1400" b="1" dirty="0">
                <a:latin typeface="Courier New" pitchFamily="49" charset="0"/>
              </a:rPr>
              <a:t>("Enter string (at most %d characters) for s2: ", MAX_LEN);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</a:rPr>
              <a:t>fgets</a:t>
            </a:r>
            <a:r>
              <a:rPr lang="en-US" sz="1400" b="1" dirty="0">
                <a:latin typeface="Courier New" pitchFamily="49" charset="0"/>
              </a:rPr>
              <a:t>(s2, MAX_LEN+1, </a:t>
            </a:r>
            <a:r>
              <a:rPr lang="en-US" sz="1400" b="1" dirty="0" err="1">
                <a:latin typeface="Courier New" pitchFamily="49" charset="0"/>
              </a:rPr>
              <a:t>stdin</a:t>
            </a:r>
            <a:r>
              <a:rPr lang="en-US" sz="1400" b="1" dirty="0">
                <a:latin typeface="Courier New" pitchFamily="49" charset="0"/>
              </a:rPr>
              <a:t>);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</a:rPr>
              <a:t>len</a:t>
            </a:r>
            <a:r>
              <a:rPr lang="en-US" sz="1400" b="1" dirty="0">
                <a:latin typeface="Courier New" pitchFamily="49" charset="0"/>
              </a:rPr>
              <a:t> = </a:t>
            </a:r>
            <a:r>
              <a:rPr lang="en-US" sz="1400" b="1" dirty="0" err="1">
                <a:latin typeface="Courier New" pitchFamily="49" charset="0"/>
              </a:rPr>
              <a:t>strlen</a:t>
            </a:r>
            <a:r>
              <a:rPr lang="en-US" sz="1400" b="1" dirty="0">
                <a:latin typeface="Courier New" pitchFamily="49" charset="0"/>
              </a:rPr>
              <a:t>(s2);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if (s2[</a:t>
            </a:r>
            <a:r>
              <a:rPr lang="en-US" sz="1400" b="1" dirty="0" err="1">
                <a:latin typeface="Courier New" pitchFamily="49" charset="0"/>
              </a:rPr>
              <a:t>len</a:t>
            </a:r>
            <a:r>
              <a:rPr lang="en-US" sz="1400" b="1" dirty="0">
                <a:latin typeface="Courier New" pitchFamily="49" charset="0"/>
              </a:rPr>
              <a:t> – 1] == '\n') s2[</a:t>
            </a:r>
            <a:r>
              <a:rPr lang="en-US" sz="1400" b="1" dirty="0" err="1">
                <a:latin typeface="Courier New" pitchFamily="49" charset="0"/>
              </a:rPr>
              <a:t>len</a:t>
            </a:r>
            <a:r>
              <a:rPr lang="en-US" sz="1400" b="1" dirty="0">
                <a:latin typeface="Courier New" pitchFamily="49" charset="0"/>
              </a:rPr>
              <a:t> – 1] = '\0';</a:t>
            </a:r>
          </a:p>
          <a:p>
            <a:pPr marL="342900" indent="-342900">
              <a:defRPr/>
            </a:pPr>
            <a:endParaRPr lang="en-US" sz="800" b="1" dirty="0">
              <a:latin typeface="Courier New" pitchFamily="49" charset="0"/>
            </a:endParaRP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</a:rPr>
              <a:t>printf</a:t>
            </a:r>
            <a:r>
              <a:rPr lang="en-US" sz="1400" b="1" dirty="0">
                <a:latin typeface="Courier New" pitchFamily="49" charset="0"/>
              </a:rPr>
              <a:t>("</a:t>
            </a:r>
            <a:r>
              <a:rPr lang="en-US" sz="1400" b="1" dirty="0" err="1">
                <a:latin typeface="Courier New" pitchFamily="49" charset="0"/>
              </a:rPr>
              <a:t>strcmp</a:t>
            </a:r>
            <a:r>
              <a:rPr lang="en-US" sz="1400" b="1" dirty="0">
                <a:latin typeface="Courier New" pitchFamily="49" charset="0"/>
              </a:rPr>
              <a:t>(s1,s2) = %d\n", </a:t>
            </a:r>
            <a:r>
              <a:rPr lang="en-US" b="1" dirty="0" err="1">
                <a:solidFill>
                  <a:srgbClr val="800000"/>
                </a:solidFill>
                <a:latin typeface="Courier New" pitchFamily="49" charset="0"/>
              </a:rPr>
              <a:t>strcmp</a:t>
            </a:r>
            <a:r>
              <a:rPr lang="en-US" b="1" dirty="0">
                <a:solidFill>
                  <a:srgbClr val="800000"/>
                </a:solidFill>
                <a:latin typeface="Courier New" pitchFamily="49" charset="0"/>
              </a:rPr>
              <a:t>(s1,s2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</a:rPr>
              <a:t>)</a:t>
            </a:r>
            <a:r>
              <a:rPr lang="en-US" sz="1400" b="1" dirty="0">
                <a:latin typeface="Courier New" pitchFamily="49" charset="0"/>
              </a:rPr>
              <a:t>);</a:t>
            </a:r>
          </a:p>
          <a:p>
            <a:pPr marL="342900" indent="-342900">
              <a:defRPr/>
            </a:pPr>
            <a:endParaRPr lang="en-US" sz="800" b="1" dirty="0">
              <a:latin typeface="Courier New" pitchFamily="49" charset="0"/>
            </a:endParaRP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p = </a:t>
            </a:r>
            <a:r>
              <a:rPr lang="en-US" sz="1600" b="1" dirty="0" err="1">
                <a:solidFill>
                  <a:srgbClr val="800000"/>
                </a:solidFill>
                <a:latin typeface="Courier New" pitchFamily="49" charset="0"/>
              </a:rPr>
              <a:t>strstr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</a:rPr>
              <a:t>(s1,s2)</a:t>
            </a:r>
            <a:r>
              <a:rPr lang="en-US" sz="14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if (p != NULL) </a:t>
            </a:r>
            <a:r>
              <a:rPr lang="en-US" sz="1400" b="1" dirty="0" err="1">
                <a:latin typeface="Courier New" pitchFamily="49" charset="0"/>
              </a:rPr>
              <a:t>printf</a:t>
            </a:r>
            <a:r>
              <a:rPr lang="en-US" sz="1400" b="1" dirty="0">
                <a:latin typeface="Courier New" pitchFamily="49" charset="0"/>
              </a:rPr>
              <a:t>("</a:t>
            </a:r>
            <a:r>
              <a:rPr lang="en-US" sz="1400" b="1" dirty="0" err="1">
                <a:latin typeface="Courier New" pitchFamily="49" charset="0"/>
              </a:rPr>
              <a:t>strstr</a:t>
            </a:r>
            <a:r>
              <a:rPr lang="en-US" sz="1400" b="1" dirty="0">
                <a:latin typeface="Courier New" pitchFamily="49" charset="0"/>
              </a:rPr>
              <a:t>(s1,s2) returns %s\n", p);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else </a:t>
            </a:r>
            <a:r>
              <a:rPr lang="en-US" sz="1400" b="1" dirty="0" err="1">
                <a:latin typeface="Courier New" pitchFamily="49" charset="0"/>
              </a:rPr>
              <a:t>printf</a:t>
            </a:r>
            <a:r>
              <a:rPr lang="en-US" sz="1400" b="1" dirty="0">
                <a:latin typeface="Courier New" pitchFamily="49" charset="0"/>
              </a:rPr>
              <a:t>("</a:t>
            </a:r>
            <a:r>
              <a:rPr lang="en-US" sz="1400" b="1" dirty="0" err="1">
                <a:latin typeface="Courier New" pitchFamily="49" charset="0"/>
              </a:rPr>
              <a:t>strstr</a:t>
            </a:r>
            <a:r>
              <a:rPr lang="en-US" sz="1400" b="1" dirty="0">
                <a:latin typeface="Courier New" pitchFamily="49" charset="0"/>
              </a:rPr>
              <a:t>(s1,s2) returns NULL\n");</a:t>
            </a:r>
          </a:p>
          <a:p>
            <a:pPr marL="342900" indent="-342900">
              <a:defRPr/>
            </a:pPr>
            <a:endParaRPr lang="en-US" sz="800" b="1" dirty="0">
              <a:latin typeface="Courier New" pitchFamily="49" charset="0"/>
            </a:endParaRP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600" b="1" dirty="0" err="1">
                <a:solidFill>
                  <a:srgbClr val="800000"/>
                </a:solidFill>
                <a:latin typeface="Courier New" pitchFamily="49" charset="0"/>
              </a:rPr>
              <a:t>strcpy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</a:rPr>
              <a:t>(s1,s2)</a:t>
            </a:r>
            <a:r>
              <a:rPr lang="en-US" sz="16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</a:rPr>
              <a:t>printf</a:t>
            </a:r>
            <a:r>
              <a:rPr lang="en-US" sz="1400" b="1" dirty="0">
                <a:latin typeface="Courier New" pitchFamily="49" charset="0"/>
              </a:rPr>
              <a:t>("After </a:t>
            </a:r>
            <a:r>
              <a:rPr lang="en-US" sz="1400" b="1" dirty="0" err="1">
                <a:latin typeface="Courier New" pitchFamily="49" charset="0"/>
              </a:rPr>
              <a:t>strcpy</a:t>
            </a:r>
            <a:r>
              <a:rPr lang="en-US" sz="1400" b="1" dirty="0">
                <a:latin typeface="Courier New" pitchFamily="49" charset="0"/>
              </a:rPr>
              <a:t>(s1,s2), s1 = %s\n", s1);</a:t>
            </a:r>
            <a:endParaRPr lang="en-US" sz="1000" b="1" dirty="0">
              <a:latin typeface="Courier New" pitchFamily="49" charset="0"/>
            </a:endParaRP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	return 0;</a:t>
            </a:r>
          </a:p>
          <a:p>
            <a:pPr marL="342900" indent="-342900">
              <a:defRPr/>
            </a:pPr>
            <a:r>
              <a:rPr lang="en-US" sz="1400" b="1" dirty="0">
                <a:latin typeface="Courier New" pitchFamily="49" charset="0"/>
              </a:rPr>
              <a:t>}</a:t>
            </a:r>
          </a:p>
          <a:p>
            <a:pPr marL="342900" indent="-342900">
              <a:defRPr/>
            </a:pPr>
            <a:endParaRPr lang="en-US" sz="1400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5677" y="1209545"/>
            <a:ext cx="2789848" cy="36988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Unit16_StringFunctions.c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252138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8. Strings and Pointers (1/4)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4" name="Rectangle 8"/>
          <p:cNvSpPr>
            <a:spLocks noChangeArrowheads="1"/>
          </p:cNvSpPr>
          <p:nvPr/>
        </p:nvSpPr>
        <p:spPr bwMode="auto">
          <a:xfrm>
            <a:off x="373063" y="1284791"/>
            <a:ext cx="8453437" cy="4519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We discussed in </a:t>
            </a:r>
            <a:r>
              <a:rPr lang="en-US" sz="2400">
                <a:solidFill>
                  <a:srgbClr val="0000FF"/>
                </a:solidFill>
              </a:rPr>
              <a:t>Unit #9 Section 4 </a:t>
            </a:r>
            <a:r>
              <a:rPr lang="en-US" sz="2400"/>
              <a:t>that an array name is a pointer (that points to the first array element)</a:t>
            </a:r>
            <a:endParaRPr lang="en-US" sz="2400" b="1">
              <a:solidFill>
                <a:srgbClr val="006600"/>
              </a:solidFill>
              <a:latin typeface="Courier New" pitchFamily="49" charset="0"/>
            </a:endParaRPr>
          </a:p>
          <a:p>
            <a:pPr marL="457200" indent="-4572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Likewise, since a string is physically an array of characters, the name of a string is also a pointer (that points to the first character of the string)</a:t>
            </a:r>
            <a:endParaRPr lang="en-US" sz="2400" b="1">
              <a:solidFill>
                <a:srgbClr val="800000"/>
              </a:solidFill>
              <a:latin typeface="Courier New" pitchFamily="49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78827" y="3389982"/>
            <a:ext cx="7337413" cy="2275413"/>
            <a:chOff x="678827" y="3389982"/>
            <a:chExt cx="7337413" cy="2275413"/>
          </a:xfrm>
        </p:grpSpPr>
        <p:sp>
          <p:nvSpPr>
            <p:cNvPr id="9" name="TextBox 8"/>
            <p:cNvSpPr txBox="1"/>
            <p:nvPr/>
          </p:nvSpPr>
          <p:spPr>
            <a:xfrm>
              <a:off x="678827" y="3634070"/>
              <a:ext cx="7199300" cy="203132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</a:t>
              </a:r>
              <a:r>
                <a:rPr lang="en-SG" b="1">
                  <a:latin typeface="Courier New" pitchFamily="49" charset="0"/>
                  <a:cs typeface="Courier New" pitchFamily="49" charset="0"/>
                </a:rPr>
                <a:t> str[] = 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"apple"</a:t>
              </a:r>
              <a:r>
                <a:rPr lang="en-SG" b="1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endParaRPr lang="en-SG" b="1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b="1">
                  <a:latin typeface="Courier New" pitchFamily="49" charset="0"/>
                  <a:cs typeface="Courier New" pitchFamily="49" charset="0"/>
                </a:rPr>
                <a:t>printf(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"1st character: </a:t>
              </a:r>
              <a:r>
                <a:rPr lang="en-SG" b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b="1">
                  <a:latin typeface="Courier New" pitchFamily="49" charset="0"/>
                  <a:cs typeface="Courier New" pitchFamily="49" charset="0"/>
                </a:rPr>
                <a:t>, str[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SG" b="1">
                  <a:latin typeface="Courier New" pitchFamily="49" charset="0"/>
                  <a:cs typeface="Courier New" pitchFamily="49" charset="0"/>
                </a:rPr>
                <a:t>]);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b="1">
                  <a:latin typeface="Courier New" pitchFamily="49" charset="0"/>
                  <a:cs typeface="Courier New" pitchFamily="49" charset="0"/>
                </a:rPr>
                <a:t>printf(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"1st character: </a:t>
              </a:r>
              <a:r>
                <a:rPr lang="en-SG" b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b="1">
                  <a:latin typeface="Courier New" pitchFamily="49" charset="0"/>
                  <a:cs typeface="Courier New" pitchFamily="49" charset="0"/>
                </a:rPr>
                <a:t>, *str);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endParaRPr lang="en-SG" b="1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b="1">
                  <a:latin typeface="Courier New" pitchFamily="49" charset="0"/>
                  <a:cs typeface="Courier New" pitchFamily="49" charset="0"/>
                </a:rPr>
                <a:t>printf(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"5th character: </a:t>
              </a:r>
              <a:r>
                <a:rPr lang="en-SG" b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b="1">
                  <a:latin typeface="Courier New" pitchFamily="49" charset="0"/>
                  <a:cs typeface="Courier New" pitchFamily="49" charset="0"/>
                </a:rPr>
                <a:t>, str[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4</a:t>
              </a:r>
              <a:r>
                <a:rPr lang="en-SG" b="1">
                  <a:latin typeface="Courier New" pitchFamily="49" charset="0"/>
                  <a:cs typeface="Courier New" pitchFamily="49" charset="0"/>
                </a:rPr>
                <a:t>]);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b="1">
                  <a:latin typeface="Courier New" pitchFamily="49" charset="0"/>
                  <a:cs typeface="Courier New" pitchFamily="49" charset="0"/>
                </a:rPr>
                <a:t>printf(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"5th character: </a:t>
              </a:r>
              <a:r>
                <a:rPr lang="en-SG" b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b="1">
                  <a:latin typeface="Courier New" pitchFamily="49" charset="0"/>
                  <a:cs typeface="Courier New" pitchFamily="49" charset="0"/>
                </a:rPr>
                <a:t>, *(str+</a:t>
              </a:r>
              <a:r>
                <a:rPr lang="en-SG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4</a:t>
              </a:r>
              <a:r>
                <a:rPr lang="en-SG" b="1">
                  <a:latin typeface="Courier New" pitchFamily="49" charset="0"/>
                  <a:cs typeface="Courier New" pitchFamily="49" charset="0"/>
                </a:rPr>
                <a:t>));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68240" y="3389982"/>
              <a:ext cx="3048000" cy="36933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/>
                <a:t>Unit16_String_vs_Pointer.c</a:t>
              </a:r>
              <a:endParaRPr lang="en-SG" dirty="0"/>
            </a:p>
          </p:txBody>
        </p:sp>
      </p:grpSp>
      <p:sp>
        <p:nvSpPr>
          <p:cNvPr id="13" name="[TextBox 64]"/>
          <p:cNvSpPr txBox="1"/>
          <p:nvPr/>
        </p:nvSpPr>
        <p:spPr>
          <a:xfrm>
            <a:off x="6200140" y="3988012"/>
            <a:ext cx="2852420" cy="1323439"/>
          </a:xfrm>
          <a:prstGeom prst="rect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1st character: a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1st character: a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5th character: e</a:t>
            </a:r>
          </a:p>
          <a:p>
            <a:r>
              <a:rPr lang="en-US" sz="2000" b="1">
                <a:latin typeface="Courier New" pitchFamily="49" charset="0"/>
                <a:cs typeface="Courier New" pitchFamily="49" charset="0"/>
              </a:rPr>
              <a:t>5th character: e</a:t>
            </a:r>
          </a:p>
        </p:txBody>
      </p:sp>
    </p:spTree>
    <p:extLst>
      <p:ext uri="{BB962C8B-B14F-4D97-AF65-F5344CB8AC3E}">
        <p14:creationId xmlns:p14="http://schemas.microsoft.com/office/powerpoint/2010/main" val="4633862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8. Strings and Pointers (2/4)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4" name="Rectangle 8"/>
          <p:cNvSpPr>
            <a:spLocks noChangeArrowheads="1"/>
          </p:cNvSpPr>
          <p:nvPr/>
        </p:nvSpPr>
        <p:spPr bwMode="auto">
          <a:xfrm>
            <a:off x="373063" y="1284791"/>
            <a:ext cx="8453437" cy="1519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FF"/>
                </a:solidFill>
              </a:rPr>
              <a:t>Unit16_strlen.c</a:t>
            </a:r>
            <a:r>
              <a:rPr lang="en-US" sz="2400"/>
              <a:t> shows how we could compute the length of a string if we are not using strlen()</a:t>
            </a:r>
          </a:p>
          <a:p>
            <a:pPr marL="457200" indent="-4572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See full program on CS1010 website</a:t>
            </a:r>
          </a:p>
        </p:txBody>
      </p:sp>
      <p:grpSp>
        <p:nvGrpSpPr>
          <p:cNvPr id="2" name="[Group 1]"/>
          <p:cNvGrpSpPr/>
          <p:nvPr/>
        </p:nvGrpSpPr>
        <p:grpSpPr>
          <a:xfrm>
            <a:off x="1479083" y="2804160"/>
            <a:ext cx="6044665" cy="3063236"/>
            <a:chOff x="2164080" y="3433156"/>
            <a:chExt cx="6044665" cy="3063236"/>
          </a:xfrm>
        </p:grpSpPr>
        <p:sp>
          <p:nvSpPr>
            <p:cNvPr id="9" name="TextBox 8"/>
            <p:cNvSpPr txBox="1"/>
            <p:nvPr/>
          </p:nvSpPr>
          <p:spPr>
            <a:xfrm>
              <a:off x="2164080" y="3634070"/>
              <a:ext cx="5714047" cy="2862322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 mystrlen(</a:t>
              </a:r>
              <a:r>
                <a:rPr lang="en-SG" sz="2000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 *p) {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2000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 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count = </a:t>
              </a:r>
              <a:r>
                <a:rPr lang="en-SG" sz="2000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endParaRPr lang="en-SG" sz="1000" b="1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2000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while 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(*p != </a:t>
              </a:r>
              <a:r>
                <a:rPr lang="en-SG" sz="2000" b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'\0'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		count++;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		p++;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	}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endParaRPr lang="en-SG" sz="1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	return 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count;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12305" y="3433156"/>
              <a:ext cx="1996440" cy="36933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/>
                <a:t>Unit16_strlen.c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11086861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8. Strings and Pointers (3/4)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4" name="[Rectangle 8]"/>
          <p:cNvSpPr>
            <a:spLocks noChangeArrowheads="1"/>
          </p:cNvSpPr>
          <p:nvPr/>
        </p:nvSpPr>
        <p:spPr bwMode="auto">
          <a:xfrm>
            <a:off x="373063" y="1284791"/>
            <a:ext cx="8453437" cy="2009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Since ASCII value of null character </a:t>
            </a:r>
            <a:r>
              <a:rPr lang="en-US" sz="2400">
                <a:solidFill>
                  <a:srgbClr val="C00000"/>
                </a:solidFill>
              </a:rPr>
              <a:t>'\0' </a:t>
            </a:r>
            <a:r>
              <a:rPr lang="en-US" sz="2400"/>
              <a:t>is zero, the condition in the while loop is equivalent to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(*p != 0)  </a:t>
            </a:r>
            <a:r>
              <a:rPr lang="en-US" sz="2400"/>
              <a:t>and that can be further simplified to just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(*p)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see left box)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We can combine *p with p++ (see right box) (why?)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204" y="3404108"/>
            <a:ext cx="3915876" cy="286232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66700" algn="l"/>
                <a:tab pos="531813" algn="l"/>
                <a:tab pos="809625" algn="l"/>
                <a:tab pos="1076325" algn="l"/>
              </a:tabLst>
            </a:pPr>
            <a:r>
              <a:rPr lang="en-SG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SG" sz="2000" b="1">
                <a:latin typeface="Courier New" pitchFamily="49" charset="0"/>
                <a:cs typeface="Courier New" pitchFamily="49" charset="0"/>
              </a:rPr>
              <a:t> mystrlen(</a:t>
            </a:r>
            <a:r>
              <a:rPr lang="en-SG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SG" sz="2000" b="1">
                <a:latin typeface="Courier New" pitchFamily="49" charset="0"/>
                <a:cs typeface="Courier New" pitchFamily="49" charset="0"/>
              </a:rPr>
              <a:t> *p) {</a:t>
            </a:r>
          </a:p>
          <a:p>
            <a:pPr>
              <a:tabLst>
                <a:tab pos="266700" algn="l"/>
                <a:tab pos="531813" algn="l"/>
                <a:tab pos="809625" algn="l"/>
                <a:tab pos="1076325" algn="l"/>
              </a:tabLst>
            </a:pPr>
            <a:r>
              <a:rPr lang="en-SG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SG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 </a:t>
            </a:r>
            <a:r>
              <a:rPr lang="en-SG" sz="2000" b="1">
                <a:latin typeface="Courier New" pitchFamily="49" charset="0"/>
                <a:cs typeface="Courier New" pitchFamily="49" charset="0"/>
              </a:rPr>
              <a:t>count = </a:t>
            </a:r>
            <a:r>
              <a:rPr lang="en-SG" sz="20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SG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66700" algn="l"/>
                <a:tab pos="531813" algn="l"/>
                <a:tab pos="809625" algn="l"/>
                <a:tab pos="1076325" algn="l"/>
              </a:tabLst>
            </a:pPr>
            <a:endParaRPr lang="en-SG" sz="1000" b="1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6700" algn="l"/>
                <a:tab pos="531813" algn="l"/>
                <a:tab pos="809625" algn="l"/>
                <a:tab pos="1076325" algn="l"/>
              </a:tabLst>
            </a:pPr>
            <a:r>
              <a:rPr lang="en-SG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SG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 </a:t>
            </a:r>
            <a:r>
              <a:rPr lang="en-SG" sz="2000" b="1">
                <a:latin typeface="Courier New" pitchFamily="49" charset="0"/>
                <a:cs typeface="Courier New" pitchFamily="49" charset="0"/>
              </a:rPr>
              <a:t>(*p) {</a:t>
            </a:r>
          </a:p>
          <a:p>
            <a:pPr>
              <a:tabLst>
                <a:tab pos="266700" algn="l"/>
                <a:tab pos="531813" algn="l"/>
                <a:tab pos="809625" algn="l"/>
                <a:tab pos="1076325" algn="l"/>
              </a:tabLst>
            </a:pPr>
            <a:r>
              <a:rPr lang="en-SG" sz="2000" b="1">
                <a:latin typeface="Courier New" pitchFamily="49" charset="0"/>
                <a:cs typeface="Courier New" pitchFamily="49" charset="0"/>
              </a:rPr>
              <a:t>		count++;</a:t>
            </a:r>
          </a:p>
          <a:p>
            <a:pPr>
              <a:tabLst>
                <a:tab pos="266700" algn="l"/>
                <a:tab pos="531813" algn="l"/>
                <a:tab pos="809625" algn="l"/>
                <a:tab pos="1076325" algn="l"/>
              </a:tabLst>
            </a:pPr>
            <a:r>
              <a:rPr lang="en-SG" sz="2000" b="1">
                <a:latin typeface="Courier New" pitchFamily="49" charset="0"/>
                <a:cs typeface="Courier New" pitchFamily="49" charset="0"/>
              </a:rPr>
              <a:t>		p++;</a:t>
            </a:r>
          </a:p>
          <a:p>
            <a:pPr>
              <a:tabLst>
                <a:tab pos="266700" algn="l"/>
                <a:tab pos="531813" algn="l"/>
                <a:tab pos="809625" algn="l"/>
                <a:tab pos="1076325" algn="l"/>
              </a:tabLst>
            </a:pPr>
            <a:r>
              <a:rPr lang="en-SG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tabLst>
                <a:tab pos="266700" algn="l"/>
                <a:tab pos="531813" algn="l"/>
                <a:tab pos="809625" algn="l"/>
                <a:tab pos="1076325" algn="l"/>
              </a:tabLst>
            </a:pPr>
            <a:endParaRPr lang="en-SG" sz="1000" b="1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6700" algn="l"/>
                <a:tab pos="531813" algn="l"/>
                <a:tab pos="809625" algn="l"/>
                <a:tab pos="1076325" algn="l"/>
              </a:tabLst>
            </a:pPr>
            <a:r>
              <a:rPr lang="en-SG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return </a:t>
            </a:r>
            <a:r>
              <a:rPr lang="en-SG" sz="2000" b="1">
                <a:latin typeface="Courier New" pitchFamily="49" charset="0"/>
                <a:cs typeface="Courier New" pitchFamily="49" charset="0"/>
              </a:rPr>
              <a:t>count;</a:t>
            </a:r>
          </a:p>
          <a:p>
            <a:pPr>
              <a:tabLst>
                <a:tab pos="266700" algn="l"/>
                <a:tab pos="531813" algn="l"/>
                <a:tab pos="809625" algn="l"/>
                <a:tab pos="1076325" algn="l"/>
              </a:tabLst>
            </a:pPr>
            <a:r>
              <a:rPr lang="en-SG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602480" y="3404108"/>
            <a:ext cx="4056380" cy="2677656"/>
            <a:chOff x="4602480" y="3404108"/>
            <a:chExt cx="4056380" cy="2677656"/>
          </a:xfrm>
        </p:grpSpPr>
        <p:sp>
          <p:nvSpPr>
            <p:cNvPr id="11" name="TextBox 10"/>
            <p:cNvSpPr txBox="1"/>
            <p:nvPr/>
          </p:nvSpPr>
          <p:spPr>
            <a:xfrm>
              <a:off x="4602480" y="3404108"/>
              <a:ext cx="3915876" cy="255454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 mystrlen(</a:t>
              </a:r>
              <a:r>
                <a:rPr lang="en-SG" sz="2000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 *p) {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2000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 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count = </a:t>
              </a:r>
              <a:r>
                <a:rPr lang="en-SG" sz="2000" b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endParaRPr lang="en-SG" sz="1000" b="1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2000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while 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(*p++) {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		count++;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	}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endParaRPr lang="en-SG" sz="1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	return </a:t>
              </a: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count;</a:t>
              </a:r>
            </a:p>
            <a:p>
              <a:pPr>
                <a:tabLst>
                  <a:tab pos="266700" algn="l"/>
                  <a:tab pos="531813" algn="l"/>
                  <a:tab pos="809625" algn="l"/>
                  <a:tab pos="1076325" algn="l"/>
                </a:tabLst>
              </a:pPr>
              <a:r>
                <a:rPr lang="en-SG" sz="2000" b="1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92778" y="5712432"/>
              <a:ext cx="2266082" cy="36933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/>
                <a:t>Unit16_strlen_v2.c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18782641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8. Strings and Pointers (4/4)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0" name="[Rectangle 8]"/>
          <p:cNvSpPr>
            <a:spLocks noChangeArrowheads="1"/>
          </p:cNvSpPr>
          <p:nvPr/>
        </p:nvSpPr>
        <p:spPr bwMode="auto">
          <a:xfrm>
            <a:off x="373063" y="1284791"/>
            <a:ext cx="8453437" cy="726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How to interpret the following?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87880" y="1800850"/>
            <a:ext cx="4099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while (*p++)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85800" y="2324070"/>
            <a:ext cx="3718560" cy="1838526"/>
            <a:chOff x="685800" y="2324070"/>
            <a:chExt cx="3718560" cy="1838526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3154680" y="2324070"/>
              <a:ext cx="609600" cy="83061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685800" y="2962267"/>
              <a:ext cx="3718560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/>
                <a:t>Check whether </a:t>
              </a:r>
              <a:r>
                <a:rPr lang="en-US" sz="2400">
                  <a:solidFill>
                    <a:srgbClr val="C00000"/>
                  </a:solidFill>
                </a:rPr>
                <a:t>*p </a:t>
              </a:r>
              <a:r>
                <a:rPr lang="en-US" sz="2400"/>
                <a:t>is 0 (that is, whether </a:t>
              </a:r>
              <a:r>
                <a:rPr lang="en-US" sz="2400">
                  <a:solidFill>
                    <a:srgbClr val="C00000"/>
                  </a:solidFill>
                </a:rPr>
                <a:t>*p </a:t>
              </a:r>
              <a:r>
                <a:rPr lang="en-US" sz="2400"/>
                <a:t>is the null character ‘\0’)…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599782" y="2324071"/>
            <a:ext cx="4226718" cy="1834700"/>
            <a:chOff x="4599782" y="2324071"/>
            <a:chExt cx="4226718" cy="1834700"/>
          </a:xfrm>
        </p:grpSpPr>
        <p:cxnSp>
          <p:nvCxnSpPr>
            <p:cNvPr id="15" name="Straight Arrow Connector 14"/>
            <p:cNvCxnSpPr/>
            <p:nvPr/>
          </p:nvCxnSpPr>
          <p:spPr>
            <a:xfrm flipH="1" flipV="1">
              <a:off x="4599782" y="2324071"/>
              <a:ext cx="2014378" cy="62295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107940" y="2589111"/>
              <a:ext cx="3718560" cy="15696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/>
                <a:t>Then, increment </a:t>
              </a:r>
              <a:r>
                <a:rPr lang="en-US" sz="2400">
                  <a:solidFill>
                    <a:srgbClr val="C00000"/>
                  </a:solidFill>
                </a:rPr>
                <a:t>p</a:t>
              </a:r>
              <a:r>
                <a:rPr lang="en-US" sz="2400"/>
                <a:t> by 1 (so that </a:t>
              </a:r>
              <a:r>
                <a:rPr lang="en-US" sz="2400">
                  <a:solidFill>
                    <a:srgbClr val="C00000"/>
                  </a:solidFill>
                </a:rPr>
                <a:t>p</a:t>
              </a:r>
              <a:r>
                <a:rPr lang="en-US" sz="2400"/>
                <a:t> points to the next character).</a:t>
              </a:r>
            </a:p>
            <a:p>
              <a:r>
                <a:rPr lang="en-US" sz="2400"/>
                <a:t>Not increment </a:t>
              </a:r>
              <a:r>
                <a:rPr lang="en-US" sz="2400">
                  <a:solidFill>
                    <a:srgbClr val="C00000"/>
                  </a:solidFill>
                </a:rPr>
                <a:t>*p </a:t>
              </a:r>
              <a:r>
                <a:rPr lang="en-US" sz="2400"/>
                <a:t>by 1!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424940" y="4424660"/>
            <a:ext cx="65760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(*p++)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800" u="sng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the same as </a:t>
            </a:r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(*p)++</a:t>
            </a:r>
          </a:p>
          <a:p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(*p)++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is to increment *p (the character that p points to) by 1.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(Hence, if p is pointing to character ‘a’, that character becomes ‘b’.)</a:t>
            </a:r>
            <a:endParaRPr 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3481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Extra topics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20" y="1219200"/>
            <a:ext cx="8127386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/>
              <a:t>2 additional topics that are not in the syllabus are in the file </a:t>
            </a:r>
            <a:r>
              <a:rPr lang="en-US" sz="2800">
                <a:solidFill>
                  <a:srgbClr val="0000FF"/>
                </a:solidFill>
              </a:rPr>
              <a:t>Unit16_Extra.pptx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>
                <a:solidFill>
                  <a:srgbClr val="C00000"/>
                </a:solidFill>
              </a:rPr>
              <a:t>Array of Pointers to Strings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>
                <a:solidFill>
                  <a:srgbClr val="C00000"/>
                </a:solidFill>
              </a:rPr>
              <a:t>Command-line arguments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063929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Summary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Unit16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20" y="1219200"/>
            <a:ext cx="8127386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In this unit, you have learned about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>
                <a:solidFill>
                  <a:srgbClr val="C00000"/>
                </a:solidFill>
              </a:rPr>
              <a:t>Characters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/>
              <a:t>Declaring and using characters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/>
              <a:t>Characters I/O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/>
              <a:t>Character functions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>
                <a:solidFill>
                  <a:srgbClr val="C00000"/>
                </a:solidFill>
              </a:rPr>
              <a:t>Strings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/>
              <a:t>Declaring and initialising strings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/>
              <a:t>String I/O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/>
              <a:t>String functions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/>
              <a:t>Array of strings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712045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3163" y="2824163"/>
            <a:ext cx="6751637" cy="1143000"/>
          </a:xfrm>
        </p:spPr>
        <p:txBody>
          <a:bodyPr/>
          <a:lstStyle/>
          <a:p>
            <a:pPr algn="ctr" eaLnBrk="1" hangingPunct="1"/>
            <a:r>
              <a:rPr lang="en-GB" dirty="0">
                <a:solidFill>
                  <a:srgbClr val="9933FF"/>
                </a:solidFill>
                <a:latin typeface="+mn-lt"/>
              </a:rPr>
              <a:t>End of File</a:t>
            </a:r>
          </a:p>
        </p:txBody>
      </p:sp>
      <p:sp>
        <p:nvSpPr>
          <p:cNvPr id="3" name="[Slide Number Placeholder 8]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4" name="[Date Placeholder 3]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Unit16</a:t>
            </a:r>
            <a:r>
              <a:t> </a:t>
            </a:r>
            <a:r>
              <a:rPr dirty="0"/>
              <a:t>- </a:t>
            </a:r>
            <a:fld id="{24D17162-63A3-49DC-92B1-933428BCC85F}" type="slidenum">
              <a:rPr smtClean="0"/>
              <a:pPr>
                <a:defRPr/>
              </a:pPr>
              <a:t>38</a:t>
            </a:fld>
            <a:endParaRPr dirty="0"/>
          </a:p>
        </p:txBody>
      </p:sp>
      <p:sp>
        <p:nvSpPr>
          <p:cNvPr id="5" name="[Footer Placeholder 6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22318</TotalTime>
  <Words>4534</Words>
  <Application>Microsoft Macintosh PowerPoint</Application>
  <PresentationFormat>On-screen Show (4:3)</PresentationFormat>
  <Paragraphs>727</Paragraphs>
  <Slides>38</Slides>
  <Notes>35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 Unicode MS</vt:lpstr>
      <vt:lpstr>ＭＳ Ｐゴシック</vt:lpstr>
      <vt:lpstr>Arial</vt:lpstr>
      <vt:lpstr>Calibri</vt:lpstr>
      <vt:lpstr>Courier New</vt:lpstr>
      <vt:lpstr>Times New Roman</vt:lpstr>
      <vt:lpstr>Wingdings</vt:lpstr>
      <vt:lpstr>Clarity</vt:lpstr>
      <vt:lpstr>http://www.comp.nus.edu.sg/~cs1010/</vt:lpstr>
      <vt:lpstr>Programming Methodology (phương pháp LẬP TRÌNH) </vt:lpstr>
      <vt:lpstr>Acknowledgement</vt:lpstr>
      <vt:lpstr>Policies for students</vt:lpstr>
      <vt:lpstr>Recording of modifications</vt:lpstr>
      <vt:lpstr>Unit 16: Characters and Strings</vt:lpstr>
      <vt:lpstr>Unit 16: Characters and Strings (1/2)</vt:lpstr>
      <vt:lpstr>Unit 16: Characters and Strings (2/2)</vt:lpstr>
      <vt:lpstr>1. Motivation </vt:lpstr>
      <vt:lpstr>2. Characters</vt:lpstr>
      <vt:lpstr>2.1 Characters: ASCII Table</vt:lpstr>
      <vt:lpstr>2.2 Demo #1: Using Characters (1/2)</vt:lpstr>
      <vt:lpstr>2.2 Demo #1: Using Characters (2/2)</vt:lpstr>
      <vt:lpstr>2.3 Demo #2: Character I/O</vt:lpstr>
      <vt:lpstr>2.4 Demo #3: Character Functions</vt:lpstr>
      <vt:lpstr>2.5 Characters: Common Error</vt:lpstr>
      <vt:lpstr>3. Strings</vt:lpstr>
      <vt:lpstr>3.1 Strings: Basics</vt:lpstr>
      <vt:lpstr>3.2 Strings: I/O (1/2)</vt:lpstr>
      <vt:lpstr>3.2 Strings: I/O (2/2)</vt:lpstr>
      <vt:lpstr>3.3 Demo #4: String I/O</vt:lpstr>
      <vt:lpstr>3.4 Demo #5: Remove Vowels (1/2)</vt:lpstr>
      <vt:lpstr>3.4 Demo #5: Remove Vowels (2/2)</vt:lpstr>
      <vt:lpstr>3.5 Demo #6: Character Array without terminating ‘\0’</vt:lpstr>
      <vt:lpstr>4. String Functions (1/3)</vt:lpstr>
      <vt:lpstr>4. String Functions (2/3)</vt:lpstr>
      <vt:lpstr>4. String Functions (3/3)</vt:lpstr>
      <vt:lpstr>5. Pointer to String (1/2)</vt:lpstr>
      <vt:lpstr>5. Pointer to String (2/2)</vt:lpstr>
      <vt:lpstr>6. Array of Strings</vt:lpstr>
      <vt:lpstr>7. Demo #7: Using String Functions</vt:lpstr>
      <vt:lpstr>8. Strings and Pointers (1/4)</vt:lpstr>
      <vt:lpstr>8. Strings and Pointers (2/4)</vt:lpstr>
      <vt:lpstr>8. Strings and Pointers (3/4)</vt:lpstr>
      <vt:lpstr>8. Strings and Pointers (4/4)</vt:lpstr>
      <vt:lpstr>Extra topics</vt:lpstr>
      <vt:lpstr>Summary</vt:lpstr>
      <vt:lpstr>End of File</vt:lpstr>
    </vt:vector>
  </TitlesOfParts>
  <Company>SoC, NUS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Microsoft Office User</cp:lastModifiedBy>
  <cp:revision>1557</cp:revision>
  <cp:lastPrinted>2014-07-01T03:51:49Z</cp:lastPrinted>
  <dcterms:created xsi:type="dcterms:W3CDTF">1998-09-05T15:03:32Z</dcterms:created>
  <dcterms:modified xsi:type="dcterms:W3CDTF">2022-12-13T08:15:25Z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