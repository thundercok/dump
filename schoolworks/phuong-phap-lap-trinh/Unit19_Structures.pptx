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42"/>
  </p:notesMasterIdLst>
  <p:handoutMasterIdLst>
    <p:handoutMasterId r:id="rId43"/>
  </p:handoutMasterIdLst>
  <p:sldIdLst>
    <p:sldId id="256" r:id="rId2"/>
    <p:sldId id="663" r:id="rId3"/>
    <p:sldId id="664" r:id="rId4"/>
    <p:sldId id="665" r:id="rId5"/>
    <p:sldId id="666" r:id="rId6"/>
    <p:sldId id="468" r:id="rId7"/>
    <p:sldId id="509" r:id="rId8"/>
    <p:sldId id="636" r:id="rId9"/>
    <p:sldId id="582" r:id="rId10"/>
    <p:sldId id="637" r:id="rId11"/>
    <p:sldId id="638" r:id="rId12"/>
    <p:sldId id="639" r:id="rId13"/>
    <p:sldId id="546" r:id="rId14"/>
    <p:sldId id="640" r:id="rId15"/>
    <p:sldId id="641" r:id="rId16"/>
    <p:sldId id="642" r:id="rId17"/>
    <p:sldId id="643" r:id="rId18"/>
    <p:sldId id="644" r:id="rId19"/>
    <p:sldId id="645" r:id="rId20"/>
    <p:sldId id="646" r:id="rId21"/>
    <p:sldId id="647" r:id="rId22"/>
    <p:sldId id="611" r:id="rId23"/>
    <p:sldId id="648" r:id="rId24"/>
    <p:sldId id="649" r:id="rId25"/>
    <p:sldId id="630" r:id="rId26"/>
    <p:sldId id="650" r:id="rId27"/>
    <p:sldId id="651" r:id="rId28"/>
    <p:sldId id="652" r:id="rId29"/>
    <p:sldId id="653" r:id="rId30"/>
    <p:sldId id="634" r:id="rId31"/>
    <p:sldId id="655" r:id="rId32"/>
    <p:sldId id="654" r:id="rId33"/>
    <p:sldId id="657" r:id="rId34"/>
    <p:sldId id="658" r:id="rId35"/>
    <p:sldId id="656" r:id="rId36"/>
    <p:sldId id="660" r:id="rId37"/>
    <p:sldId id="659" r:id="rId38"/>
    <p:sldId id="662" r:id="rId39"/>
    <p:sldId id="506" r:id="rId40"/>
    <p:sldId id="308" r:id="rId4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CCECFF"/>
    <a:srgbClr val="0000FF"/>
    <a:srgbClr val="FFFF99"/>
    <a:srgbClr val="E6E6E6"/>
    <a:srgbClr val="9900CC"/>
    <a:srgbClr val="FFCC66"/>
    <a:srgbClr val="CCFFCC"/>
    <a:srgbClr val="99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01" autoAdjust="0"/>
    <p:restoredTop sz="91643" autoAdjust="0"/>
  </p:normalViewPr>
  <p:slideViewPr>
    <p:cSldViewPr snapToGrid="0">
      <p:cViewPr varScale="1">
        <p:scale>
          <a:sx n="113" d="100"/>
          <a:sy n="113" d="100"/>
        </p:scale>
        <p:origin x="236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3384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1/8/23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091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64A34B-1A74-4CEE-BBDF-2018B78805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60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645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81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963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872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804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21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067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549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317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952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6126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441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023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488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759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2730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625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9777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5231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385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6187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5577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464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7317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2451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9968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6140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147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54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5416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5367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7012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4805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7790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3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p.nus.edu.sg/~cs101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gif"/><Relationship Id="rId5" Type="http://schemas.openxmlformats.org/officeDocument/2006/relationships/hyperlink" Target="http://www.comp.nus.edu.sg/~cs1010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9667" y="2252133"/>
            <a:ext cx="4004733" cy="364067"/>
          </a:xfrm>
        </p:spPr>
        <p:txBody>
          <a:bodyPr>
            <a:noAutofit/>
          </a:bodyPr>
          <a:lstStyle/>
          <a:p>
            <a:pPr algn="dist" eaLnBrk="1" hangingPunct="1"/>
            <a:r>
              <a:rPr lang="en-GB" sz="1800" cap="none" dirty="0">
                <a:latin typeface="Calibri" panose="020F0502020204030204" pitchFamily="34" charset="0"/>
                <a:hlinkClick r:id="rId3"/>
              </a:rPr>
              <a:t>http://www.comp.nus.edu.sg/~cs1010/</a:t>
            </a:r>
            <a:endParaRPr lang="en-GB" sz="1800" cap="none" dirty="0">
              <a:latin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pic>
        <p:nvPicPr>
          <p:cNvPr id="7" name="[Picture 6]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92" y="1368425"/>
            <a:ext cx="5687149" cy="934508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19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Structures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65222"/>
            <a:ext cx="9144000" cy="1249931"/>
          </a:xfrm>
        </p:spPr>
        <p:txBody>
          <a:bodyPr>
            <a:noAutofit/>
          </a:bodyPr>
          <a:lstStyle/>
          <a:p>
            <a:pPr algn="ctr"/>
            <a:r>
              <a:rPr lang="en-US" sz="40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Programming Methodology</a:t>
            </a:r>
            <a:br>
              <a:rPr lang="en-US" sz="32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US" sz="3200" b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(phương pháp LẬP </a:t>
            </a:r>
            <a:r>
              <a:rPr lang="en-US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TRÌNH) </a:t>
            </a:r>
          </a:p>
        </p:txBody>
      </p:sp>
      <p:sp>
        <p:nvSpPr>
          <p:cNvPr id="9" name="[TextBox 7]"/>
          <p:cNvSpPr txBox="1"/>
          <p:nvPr/>
        </p:nvSpPr>
        <p:spPr>
          <a:xfrm>
            <a:off x="1" y="3781012"/>
            <a:ext cx="9143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C00000"/>
                </a:solidFill>
                <a:latin typeface="Calibri" panose="020F0502020204030204" pitchFamily="34" charset="0"/>
              </a:rPr>
              <a:t>UNIT 19: Structures</a:t>
            </a:r>
            <a:endParaRPr lang="en-US" sz="4400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127" y="670904"/>
            <a:ext cx="1747742" cy="96512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276371673"/>
      </p:ext>
    </p:extLst>
  </p:cSld>
  <p:clrMapOvr>
    <a:masterClrMapping/>
  </p:clrMapOvr>
  <p:transition>
    <p:diamond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contents of these slides have origin from School of Computing, National University of Singapore.</a:t>
            </a:r>
          </a:p>
          <a:p>
            <a:pPr algn="just"/>
            <a:r>
              <a:rPr lang="en-US" dirty="0"/>
              <a:t>We greatly appreciate support from Mr. Aaron Tan </a:t>
            </a:r>
            <a:r>
              <a:rPr lang="en-US"/>
              <a:t>Tuck Choy for </a:t>
            </a:r>
            <a:r>
              <a:rPr lang="en-US" dirty="0"/>
              <a:t>kindly sharing these materials.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04726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These contents are only used for students PERSONALLY.</a:t>
            </a:r>
          </a:p>
          <a:p>
            <a:pPr algn="just"/>
            <a:r>
              <a:rPr lang="en-US" dirty="0"/>
              <a:t>Students are NOT allowed to modify or deliver these contents to anywhere or anyone for any purpose.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6237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Recording of modifications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Currently, there are no modification </a:t>
            </a:r>
            <a:r>
              <a:rPr lang="en-US"/>
              <a:t>on these contents</a:t>
            </a:r>
            <a:r>
              <a:rPr lang="en-US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85188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109541485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19: Structures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73100" y="1280212"/>
            <a:ext cx="8083442" cy="3143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None/>
            </a:pPr>
            <a:r>
              <a:rPr lang="en-GB" sz="2800" dirty="0">
                <a:solidFill>
                  <a:srgbClr val="C00000"/>
                </a:solidFill>
              </a:rPr>
              <a:t>Objectives:</a:t>
            </a:r>
          </a:p>
          <a:p>
            <a:pPr marL="685800" lvl="1" indent="-411163">
              <a:buClr>
                <a:schemeClr val="tx1">
                  <a:lumMod val="90000"/>
                  <a:lumOff val="1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 dirty="0">
                <a:cs typeface="Arial" pitchFamily="34" charset="0"/>
              </a:rPr>
              <a:t>Learn how to create and use structure</a:t>
            </a:r>
            <a:r>
              <a:rPr lang="en-GB" sz="2400" dirty="0">
                <a:cs typeface="Arial" charset="0"/>
              </a:rPr>
              <a:t>s</a:t>
            </a:r>
          </a:p>
          <a:p>
            <a:pPr marL="685800" lvl="1" indent="-411163">
              <a:buClr>
                <a:schemeClr val="tx1">
                  <a:lumMod val="90000"/>
                  <a:lumOff val="1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 dirty="0">
                <a:cs typeface="Arial" pitchFamily="34" charset="0"/>
              </a:rPr>
              <a:t>Learn how to pass structures to function</a:t>
            </a:r>
            <a:r>
              <a:rPr lang="en-GB" sz="2400" dirty="0">
                <a:cs typeface="Arial" charset="0"/>
              </a:rPr>
              <a:t>s</a:t>
            </a:r>
          </a:p>
          <a:p>
            <a:pPr marL="685800" lvl="1" indent="-411163">
              <a:buClr>
                <a:schemeClr val="tx1">
                  <a:lumMod val="90000"/>
                  <a:lumOff val="1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 dirty="0">
                <a:cs typeface="Arial" pitchFamily="34" charset="0"/>
              </a:rPr>
              <a:t>Return structures as results of function</a:t>
            </a:r>
            <a:r>
              <a:rPr lang="en-GB" sz="2400" dirty="0"/>
              <a:t>s</a:t>
            </a:r>
          </a:p>
          <a:p>
            <a:pPr marL="685800" lvl="1" indent="-411163">
              <a:buClr>
                <a:schemeClr val="tx1">
                  <a:lumMod val="90000"/>
                  <a:lumOff val="1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 dirty="0">
                <a:cs typeface="Arial" pitchFamily="34" charset="0"/>
              </a:rPr>
              <a:t>Learn how to use an array of structures</a:t>
            </a:r>
            <a:endParaRPr lang="en-GB" sz="2400" dirty="0">
              <a:cs typeface="Arial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73100" y="4449076"/>
            <a:ext cx="7620000" cy="133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120000"/>
              <a:defRPr/>
            </a:pPr>
            <a:r>
              <a:rPr lang="en-GB" sz="2800" kern="0" dirty="0">
                <a:solidFill>
                  <a:srgbClr val="C00000"/>
                </a:solidFill>
                <a:latin typeface="+mn-lt"/>
                <a:cs typeface="+mn-cs"/>
              </a:rPr>
              <a:t>Reference: </a:t>
            </a:r>
          </a:p>
          <a:p>
            <a:pPr marL="738188" lvl="1" indent="-457200" eaLnBrk="1" hangingPunct="1">
              <a:buClr>
                <a:schemeClr val="tx1">
                  <a:lumMod val="90000"/>
                  <a:lumOff val="10000"/>
                </a:schemeClr>
              </a:buClr>
              <a:buSzPct val="120000"/>
              <a:buFont typeface="Wingdings" pitchFamily="2" charset="2"/>
              <a:buChar char="§"/>
            </a:pPr>
            <a:r>
              <a:rPr lang="en-GB" sz="2400" dirty="0"/>
              <a:t>Chapter 8, Lessons 8.1 – 8.5 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9220919398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Unit 19: Structures (1/2)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48741"/>
            <a:ext cx="8420559" cy="4983480"/>
          </a:xfrm>
        </p:spPr>
        <p:txBody>
          <a:bodyPr>
            <a:normAutofit/>
          </a:bodyPr>
          <a:lstStyle/>
          <a:p>
            <a:pPr marL="514350" indent="-514350" eaLnBrk="1" hangingPunct="1">
              <a:spcBef>
                <a:spcPts val="12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C00000"/>
                </a:solidFill>
              </a:rPr>
              <a:t>Organizing Data</a:t>
            </a:r>
          </a:p>
          <a:p>
            <a:pPr marL="514350" indent="-514350" eaLnBrk="1" hangingPunct="1">
              <a:spcBef>
                <a:spcPts val="12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0000FF"/>
                </a:solidFill>
              </a:rPr>
              <a:t>Structure Types</a:t>
            </a: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C00000"/>
                </a:solidFill>
              </a:rPr>
              <a:t>Structure Variables</a:t>
            </a:r>
          </a:p>
          <a:p>
            <a:pPr marL="1206500" lvl="1" indent="-590550">
              <a:spcBef>
                <a:spcPts val="600"/>
              </a:spcBef>
              <a:buClrTx/>
              <a:buSzPct val="100000"/>
              <a:buNone/>
            </a:pPr>
            <a:r>
              <a:rPr lang="en-GB" dirty="0"/>
              <a:t>3.1	Initializing Structure Variables</a:t>
            </a:r>
          </a:p>
          <a:p>
            <a:pPr marL="1206500" lvl="1" indent="-590550">
              <a:spcBef>
                <a:spcPts val="600"/>
              </a:spcBef>
              <a:buClrTx/>
              <a:buSzPct val="100000"/>
              <a:buNone/>
            </a:pPr>
            <a:r>
              <a:rPr lang="en-GB" dirty="0"/>
              <a:t>3.2	Accessing Members of a Structure Variable</a:t>
            </a:r>
          </a:p>
          <a:p>
            <a:pPr marL="1206500" lvl="1" indent="-590550">
              <a:spcBef>
                <a:spcPts val="600"/>
              </a:spcBef>
              <a:buClrTx/>
              <a:buSzPct val="100000"/>
              <a:buNone/>
            </a:pPr>
            <a:r>
              <a:rPr lang="en-GB" dirty="0"/>
              <a:t>3.3	Demo #1: Initializing and Accessing Structure Members</a:t>
            </a:r>
          </a:p>
          <a:p>
            <a:pPr marL="1206500" lvl="1" indent="-590550">
              <a:spcBef>
                <a:spcPts val="600"/>
              </a:spcBef>
              <a:buClrTx/>
              <a:buSzPct val="100000"/>
              <a:buNone/>
            </a:pPr>
            <a:r>
              <a:rPr lang="en-GB" dirty="0"/>
              <a:t>3.4	Reading a Structure Member</a:t>
            </a: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/>
            </a:pPr>
            <a:r>
              <a:rPr lang="en-GB" dirty="0">
                <a:solidFill>
                  <a:srgbClr val="0000FF"/>
                </a:solidFill>
              </a:rPr>
              <a:t>Assigning Structures</a:t>
            </a:r>
          </a:p>
        </p:txBody>
      </p:sp>
    </p:spTree>
    <p:extLst>
      <p:ext uri="{BB962C8B-B14F-4D97-AF65-F5344CB8AC3E}">
        <p14:creationId xmlns:p14="http://schemas.microsoft.com/office/powerpoint/2010/main" val="215165727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Unit 19: Structures (2/2)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48741"/>
            <a:ext cx="8420559" cy="4983480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5"/>
            </a:pPr>
            <a:r>
              <a:rPr lang="en-GB" dirty="0">
                <a:solidFill>
                  <a:srgbClr val="C00000"/>
                </a:solidFill>
              </a:rPr>
              <a:t>Passing Structures to Functions (with Demo #2)</a:t>
            </a: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5"/>
            </a:pPr>
            <a:r>
              <a:rPr lang="en-GB" dirty="0">
                <a:solidFill>
                  <a:srgbClr val="0000FF"/>
                </a:solidFill>
              </a:rPr>
              <a:t>Array of Structures (with Demo #3)</a:t>
            </a: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5"/>
            </a:pPr>
            <a:r>
              <a:rPr lang="en-GB" dirty="0">
                <a:solidFill>
                  <a:srgbClr val="C00000"/>
                </a:solidFill>
              </a:rPr>
              <a:t>Passing Address of Structure to Functions (with Demos #4 and </a:t>
            </a:r>
            <a:r>
              <a:rPr lang="en-GB">
                <a:solidFill>
                  <a:srgbClr val="C00000"/>
                </a:solidFill>
              </a:rPr>
              <a:t>#5)</a:t>
            </a:r>
            <a:endParaRPr lang="en-GB" dirty="0">
              <a:solidFill>
                <a:srgbClr val="C00000"/>
              </a:solidFill>
            </a:endParaRP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5"/>
            </a:pPr>
            <a:r>
              <a:rPr lang="en-GB" dirty="0">
                <a:solidFill>
                  <a:srgbClr val="0000FF"/>
                </a:solidFill>
              </a:rPr>
              <a:t>The Arrow Operator (-&gt;) with Demo #6</a:t>
            </a:r>
          </a:p>
          <a:p>
            <a:pPr marL="514350" indent="-514350">
              <a:spcBef>
                <a:spcPts val="1200"/>
              </a:spcBef>
              <a:buClrTx/>
              <a:buSzPct val="100000"/>
              <a:buFont typeface="+mj-lt"/>
              <a:buAutoNum type="arabicPeriod" startAt="5"/>
            </a:pPr>
            <a:r>
              <a:rPr lang="en-GB" dirty="0">
                <a:solidFill>
                  <a:srgbClr val="C00000"/>
                </a:solidFill>
              </a:rPr>
              <a:t>Returning Structure from Functions with Demo #7</a:t>
            </a:r>
          </a:p>
        </p:txBody>
      </p:sp>
    </p:spTree>
    <p:extLst>
      <p:ext uri="{BB962C8B-B14F-4D97-AF65-F5344CB8AC3E}">
        <p14:creationId xmlns:p14="http://schemas.microsoft.com/office/powerpoint/2010/main" val="314561582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1. Organizing Data (1/4)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</a:t>
            </a:r>
            <a:r>
              <a:rPr lang="en-US" dirty="0"/>
              <a:t>9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33425" y="1457325"/>
            <a:ext cx="783431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Write a program to compute the volume of 2 boxes.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85800" y="4467225"/>
            <a:ext cx="7772400" cy="159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en-US" sz="2800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03363" y="2005013"/>
            <a:ext cx="5897562" cy="66675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/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length1, width1, height1;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// for 1st box</a:t>
            </a:r>
          </a:p>
          <a:p>
            <a:pPr marL="342900" indent="-342900"/>
            <a:r>
              <a:rPr lang="en-US" sz="1600" b="1" dirty="0" err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length2, width2, height2;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</a:rPr>
              <a:t>// for 2nd box</a:t>
            </a: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3732213"/>
            <a:ext cx="8064500" cy="163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More logical to organize related data as a “box” </a:t>
            </a:r>
            <a:r>
              <a:rPr lang="en-US" sz="2400" i="1" dirty="0"/>
              <a:t>group</a:t>
            </a:r>
            <a:r>
              <a:rPr lang="en-US" sz="2400" dirty="0"/>
              <a:t>, with length, width and height as its components (members). Then declare two variables </a:t>
            </a:r>
            <a:r>
              <a:rPr lang="en-US" sz="2400" dirty="0">
                <a:solidFill>
                  <a:srgbClr val="0000FF"/>
                </a:solidFill>
              </a:rPr>
              <a:t>box1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000FF"/>
                </a:solidFill>
              </a:rPr>
              <a:t>box2</a:t>
            </a:r>
            <a:r>
              <a:rPr lang="en-US" sz="2400" dirty="0"/>
              <a:t> of such a </a:t>
            </a:r>
            <a:r>
              <a:rPr lang="en-US" sz="2400" i="1" dirty="0"/>
              <a:t>group</a:t>
            </a:r>
            <a:r>
              <a:rPr lang="en-US" sz="2400" dirty="0"/>
              <a:t>. </a:t>
            </a:r>
          </a:p>
        </p:txBody>
      </p:sp>
      <p:grpSp>
        <p:nvGrpSpPr>
          <p:cNvPr id="14" name="Group 15"/>
          <p:cNvGrpSpPr>
            <a:grpSpLocks/>
          </p:cNvGrpSpPr>
          <p:nvPr/>
        </p:nvGrpSpPr>
        <p:grpSpPr bwMode="auto">
          <a:xfrm>
            <a:off x="1162050" y="2865438"/>
            <a:ext cx="2635250" cy="593725"/>
            <a:chOff x="1161536" y="3002692"/>
            <a:chExt cx="2636108" cy="593125"/>
          </a:xfrm>
        </p:grpSpPr>
        <p:sp>
          <p:nvSpPr>
            <p:cNvPr id="15" name="Rectangle 14"/>
            <p:cNvSpPr/>
            <p:nvPr/>
          </p:nvSpPr>
          <p:spPr bwMode="auto">
            <a:xfrm>
              <a:off x="1593477" y="3262779"/>
              <a:ext cx="495461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2401778" y="3262779"/>
              <a:ext cx="493873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254542" y="3262779"/>
              <a:ext cx="493874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8" name="TextBox 12"/>
            <p:cNvSpPr txBox="1">
              <a:spLocks noChangeArrowheads="1"/>
            </p:cNvSpPr>
            <p:nvPr/>
          </p:nvSpPr>
          <p:spPr bwMode="auto">
            <a:xfrm>
              <a:off x="1161536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length1</a:t>
              </a:r>
              <a:endParaRPr lang="en-SG" sz="1400"/>
            </a:p>
          </p:txBody>
        </p:sp>
        <p:sp>
          <p:nvSpPr>
            <p:cNvPr id="19" name="TextBox 13"/>
            <p:cNvSpPr txBox="1">
              <a:spLocks noChangeArrowheads="1"/>
            </p:cNvSpPr>
            <p:nvPr/>
          </p:nvSpPr>
          <p:spPr bwMode="auto">
            <a:xfrm>
              <a:off x="2092411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width1</a:t>
              </a:r>
              <a:endParaRPr lang="en-SG" sz="1400"/>
            </a:p>
          </p:txBody>
        </p:sp>
        <p:sp>
          <p:nvSpPr>
            <p:cNvPr id="20" name="TextBox 14"/>
            <p:cNvSpPr txBox="1">
              <a:spLocks noChangeArrowheads="1"/>
            </p:cNvSpPr>
            <p:nvPr/>
          </p:nvSpPr>
          <p:spPr bwMode="auto">
            <a:xfrm>
              <a:off x="2969742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height1</a:t>
              </a:r>
              <a:endParaRPr lang="en-SG" sz="1400"/>
            </a:p>
          </p:txBody>
        </p:sp>
      </p:grpSp>
      <p:grpSp>
        <p:nvGrpSpPr>
          <p:cNvPr id="21" name="Group 23"/>
          <p:cNvGrpSpPr>
            <a:grpSpLocks/>
          </p:cNvGrpSpPr>
          <p:nvPr/>
        </p:nvGrpSpPr>
        <p:grpSpPr bwMode="auto">
          <a:xfrm>
            <a:off x="4341813" y="2865438"/>
            <a:ext cx="2635250" cy="593725"/>
            <a:chOff x="1161536" y="3002692"/>
            <a:chExt cx="2636108" cy="593125"/>
          </a:xfrm>
        </p:grpSpPr>
        <p:sp>
          <p:nvSpPr>
            <p:cNvPr id="22" name="Rectangle 21"/>
            <p:cNvSpPr/>
            <p:nvPr/>
          </p:nvSpPr>
          <p:spPr bwMode="auto">
            <a:xfrm>
              <a:off x="1593477" y="3262779"/>
              <a:ext cx="495461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2401777" y="3262779"/>
              <a:ext cx="493874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3254542" y="3262779"/>
              <a:ext cx="493873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5" name="TextBox 27"/>
            <p:cNvSpPr txBox="1">
              <a:spLocks noChangeArrowheads="1"/>
            </p:cNvSpPr>
            <p:nvPr/>
          </p:nvSpPr>
          <p:spPr bwMode="auto">
            <a:xfrm>
              <a:off x="1161536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length2</a:t>
              </a:r>
              <a:endParaRPr lang="en-SG" sz="1400"/>
            </a:p>
          </p:txBody>
        </p:sp>
        <p:sp>
          <p:nvSpPr>
            <p:cNvPr id="26" name="TextBox 28"/>
            <p:cNvSpPr txBox="1">
              <a:spLocks noChangeArrowheads="1"/>
            </p:cNvSpPr>
            <p:nvPr/>
          </p:nvSpPr>
          <p:spPr bwMode="auto">
            <a:xfrm>
              <a:off x="2092411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width2</a:t>
              </a:r>
              <a:endParaRPr lang="en-SG" sz="1400"/>
            </a:p>
          </p:txBody>
        </p:sp>
        <p:sp>
          <p:nvSpPr>
            <p:cNvPr id="27" name="TextBox 29"/>
            <p:cNvSpPr txBox="1">
              <a:spLocks noChangeArrowheads="1"/>
            </p:cNvSpPr>
            <p:nvPr/>
          </p:nvSpPr>
          <p:spPr bwMode="auto">
            <a:xfrm>
              <a:off x="2969742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height2</a:t>
              </a:r>
              <a:endParaRPr lang="en-SG" sz="1400"/>
            </a:p>
          </p:txBody>
        </p:sp>
      </p:grpSp>
      <p:grpSp>
        <p:nvGrpSpPr>
          <p:cNvPr id="28" name="Group 45"/>
          <p:cNvGrpSpPr>
            <a:grpSpLocks/>
          </p:cNvGrpSpPr>
          <p:nvPr/>
        </p:nvGrpSpPr>
        <p:grpSpPr bwMode="auto">
          <a:xfrm>
            <a:off x="1050925" y="5197475"/>
            <a:ext cx="3249613" cy="1004888"/>
            <a:chOff x="1050323" y="4790303"/>
            <a:chExt cx="3249828" cy="1005016"/>
          </a:xfrm>
        </p:grpSpPr>
        <p:sp>
          <p:nvSpPr>
            <p:cNvPr id="29" name="Rectangle 28"/>
            <p:cNvSpPr/>
            <p:nvPr/>
          </p:nvSpPr>
          <p:spPr bwMode="auto">
            <a:xfrm>
              <a:off x="1869527" y="5353938"/>
              <a:ext cx="495333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2677619" y="5353938"/>
              <a:ext cx="493745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3530162" y="5353938"/>
              <a:ext cx="493746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2" name="TextBox 20"/>
            <p:cNvSpPr txBox="1">
              <a:spLocks noChangeArrowheads="1"/>
            </p:cNvSpPr>
            <p:nvPr/>
          </p:nvSpPr>
          <p:spPr bwMode="auto">
            <a:xfrm>
              <a:off x="1437505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</a:t>
              </a:r>
              <a:endParaRPr lang="en-SG" sz="1400"/>
            </a:p>
          </p:txBody>
        </p:sp>
        <p:sp>
          <p:nvSpPr>
            <p:cNvPr id="33" name="TextBox 21"/>
            <p:cNvSpPr txBox="1">
              <a:spLocks noChangeArrowheads="1"/>
            </p:cNvSpPr>
            <p:nvPr/>
          </p:nvSpPr>
          <p:spPr bwMode="auto">
            <a:xfrm>
              <a:off x="2368380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</a:t>
              </a:r>
              <a:endParaRPr lang="en-SG" sz="1400"/>
            </a:p>
          </p:txBody>
        </p:sp>
        <p:sp>
          <p:nvSpPr>
            <p:cNvPr id="34" name="TextBox 22"/>
            <p:cNvSpPr txBox="1">
              <a:spLocks noChangeArrowheads="1"/>
            </p:cNvSpPr>
            <p:nvPr/>
          </p:nvSpPr>
          <p:spPr bwMode="auto">
            <a:xfrm>
              <a:off x="3245711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</a:t>
              </a:r>
              <a:endParaRPr lang="en-SG" sz="1400"/>
            </a:p>
          </p:txBody>
        </p:sp>
        <p:sp>
          <p:nvSpPr>
            <p:cNvPr id="35" name="TextBox 41"/>
            <p:cNvSpPr txBox="1">
              <a:spLocks noChangeArrowheads="1"/>
            </p:cNvSpPr>
            <p:nvPr/>
          </p:nvSpPr>
          <p:spPr bwMode="auto">
            <a:xfrm>
              <a:off x="1050323" y="4790303"/>
              <a:ext cx="68786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box1</a:t>
              </a:r>
              <a:endParaRPr lang="en-SG" sz="1400"/>
            </a:p>
          </p:txBody>
        </p:sp>
        <p:sp>
          <p:nvSpPr>
            <p:cNvPr id="36" name="Rectangle 44"/>
            <p:cNvSpPr>
              <a:spLocks noChangeArrowheads="1"/>
            </p:cNvSpPr>
            <p:nvPr/>
          </p:nvSpPr>
          <p:spPr bwMode="auto">
            <a:xfrm>
              <a:off x="1396314" y="5053914"/>
              <a:ext cx="2903837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4922838" y="5197475"/>
            <a:ext cx="3249612" cy="1004888"/>
            <a:chOff x="1050323" y="4790303"/>
            <a:chExt cx="3249828" cy="1005016"/>
          </a:xfrm>
        </p:grpSpPr>
        <p:sp>
          <p:nvSpPr>
            <p:cNvPr id="38" name="Rectangle 37"/>
            <p:cNvSpPr/>
            <p:nvPr/>
          </p:nvSpPr>
          <p:spPr bwMode="auto">
            <a:xfrm>
              <a:off x="1869527" y="5353938"/>
              <a:ext cx="495333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2677618" y="5353938"/>
              <a:ext cx="493746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3530163" y="5353938"/>
              <a:ext cx="493745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1" name="TextBox 50"/>
            <p:cNvSpPr txBox="1">
              <a:spLocks noChangeArrowheads="1"/>
            </p:cNvSpPr>
            <p:nvPr/>
          </p:nvSpPr>
          <p:spPr bwMode="auto">
            <a:xfrm>
              <a:off x="1437505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</a:t>
              </a:r>
              <a:endParaRPr lang="en-SG" sz="1400"/>
            </a:p>
          </p:txBody>
        </p:sp>
        <p:sp>
          <p:nvSpPr>
            <p:cNvPr id="42" name="TextBox 51"/>
            <p:cNvSpPr txBox="1">
              <a:spLocks noChangeArrowheads="1"/>
            </p:cNvSpPr>
            <p:nvPr/>
          </p:nvSpPr>
          <p:spPr bwMode="auto">
            <a:xfrm>
              <a:off x="2368380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</a:t>
              </a:r>
              <a:endParaRPr lang="en-SG" sz="1400"/>
            </a:p>
          </p:txBody>
        </p:sp>
        <p:sp>
          <p:nvSpPr>
            <p:cNvPr id="43" name="TextBox 52"/>
            <p:cNvSpPr txBox="1">
              <a:spLocks noChangeArrowheads="1"/>
            </p:cNvSpPr>
            <p:nvPr/>
          </p:nvSpPr>
          <p:spPr bwMode="auto">
            <a:xfrm>
              <a:off x="3245711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</a:t>
              </a:r>
              <a:endParaRPr lang="en-SG" sz="1400"/>
            </a:p>
          </p:txBody>
        </p:sp>
        <p:sp>
          <p:nvSpPr>
            <p:cNvPr id="44" name="TextBox 53"/>
            <p:cNvSpPr txBox="1">
              <a:spLocks noChangeArrowheads="1"/>
            </p:cNvSpPr>
            <p:nvPr/>
          </p:nvSpPr>
          <p:spPr bwMode="auto">
            <a:xfrm>
              <a:off x="1050323" y="4790303"/>
              <a:ext cx="68786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box2</a:t>
              </a:r>
              <a:endParaRPr lang="en-SG" sz="1400"/>
            </a:p>
          </p:txBody>
        </p:sp>
        <p:sp>
          <p:nvSpPr>
            <p:cNvPr id="45" name="Rectangle 54"/>
            <p:cNvSpPr>
              <a:spLocks noChangeArrowheads="1"/>
            </p:cNvSpPr>
            <p:nvPr/>
          </p:nvSpPr>
          <p:spPr bwMode="auto">
            <a:xfrm>
              <a:off x="1396314" y="5053914"/>
              <a:ext cx="2903837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0478819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1. Organizing Data (2/4)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</a:t>
            </a:r>
            <a:r>
              <a:rPr lang="en-US" dirty="0"/>
              <a:t>9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733425" y="1457325"/>
            <a:ext cx="783431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members of a </a:t>
            </a:r>
            <a:r>
              <a:rPr lang="en-US" sz="2400" i="1" dirty="0"/>
              <a:t>group</a:t>
            </a:r>
            <a:r>
              <a:rPr lang="en-US" sz="2400" dirty="0"/>
              <a:t> may be </a:t>
            </a:r>
            <a:r>
              <a:rPr lang="en-US" sz="2400" dirty="0">
                <a:solidFill>
                  <a:srgbClr val="0000FF"/>
                </a:solidFill>
              </a:rPr>
              <a:t>heterogeneous </a:t>
            </a:r>
            <a:r>
              <a:rPr lang="en-US" sz="2400" dirty="0"/>
              <a:t>(of different types) (as opposed to an array whose elements must be homogeneous)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Examples:</a:t>
            </a:r>
          </a:p>
        </p:txBody>
      </p:sp>
      <p:grpSp>
        <p:nvGrpSpPr>
          <p:cNvPr id="47" name="Group 91"/>
          <p:cNvGrpSpPr>
            <a:grpSpLocks/>
          </p:cNvGrpSpPr>
          <p:nvPr/>
        </p:nvGrpSpPr>
        <p:grpSpPr bwMode="auto">
          <a:xfrm>
            <a:off x="1901825" y="2930525"/>
            <a:ext cx="6030913" cy="1385888"/>
            <a:chOff x="1901651" y="2525486"/>
            <a:chExt cx="6030685" cy="1386301"/>
          </a:xfrm>
        </p:grpSpPr>
        <p:sp>
          <p:nvSpPr>
            <p:cNvPr id="48" name="Rectangle 47"/>
            <p:cNvSpPr/>
            <p:nvPr/>
          </p:nvSpPr>
          <p:spPr bwMode="auto">
            <a:xfrm>
              <a:off x="3838328" y="3089217"/>
              <a:ext cx="893729" cy="333474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5184477" y="3089217"/>
              <a:ext cx="495281" cy="333474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50" name="TextBox 46"/>
            <p:cNvSpPr txBox="1">
              <a:spLocks noChangeArrowheads="1"/>
            </p:cNvSpPr>
            <p:nvPr/>
          </p:nvSpPr>
          <p:spPr bwMode="auto">
            <a:xfrm>
              <a:off x="3583486" y="2830286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dirty="0"/>
                <a:t>code</a:t>
              </a:r>
              <a:endParaRPr lang="en-SG" sz="1400" dirty="0"/>
            </a:p>
          </p:txBody>
        </p:sp>
        <p:sp>
          <p:nvSpPr>
            <p:cNvPr id="51" name="TextBox 55"/>
            <p:cNvSpPr txBox="1">
              <a:spLocks noChangeArrowheads="1"/>
            </p:cNvSpPr>
            <p:nvPr/>
          </p:nvSpPr>
          <p:spPr bwMode="auto">
            <a:xfrm>
              <a:off x="4876100" y="2830286"/>
              <a:ext cx="1079530" cy="307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dirty="0"/>
                <a:t>enrolment</a:t>
              </a:r>
              <a:endParaRPr lang="en-SG" sz="1400" dirty="0"/>
            </a:p>
          </p:txBody>
        </p:sp>
        <p:sp>
          <p:nvSpPr>
            <p:cNvPr id="52" name="TextBox 57"/>
            <p:cNvSpPr txBox="1">
              <a:spLocks noChangeArrowheads="1"/>
            </p:cNvSpPr>
            <p:nvPr/>
          </p:nvSpPr>
          <p:spPr bwMode="auto">
            <a:xfrm>
              <a:off x="3006970" y="2525486"/>
              <a:ext cx="108522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dirty="0"/>
                <a:t>module</a:t>
              </a:r>
              <a:endParaRPr lang="en-SG" sz="1400" dirty="0"/>
            </a:p>
          </p:txBody>
        </p:sp>
        <p:sp>
          <p:nvSpPr>
            <p:cNvPr id="53" name="Rectangle 58"/>
            <p:cNvSpPr>
              <a:spLocks noChangeArrowheads="1"/>
            </p:cNvSpPr>
            <p:nvPr/>
          </p:nvSpPr>
          <p:spPr bwMode="auto">
            <a:xfrm>
              <a:off x="3456634" y="2789097"/>
              <a:ext cx="2723102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cxnSp>
          <p:nvCxnSpPr>
            <p:cNvPr id="54" name="Straight Arrow Connector 68"/>
            <p:cNvCxnSpPr>
              <a:cxnSpLocks noChangeShapeType="1"/>
              <a:stCxn id="55" idx="3"/>
            </p:cNvCxnSpPr>
            <p:nvPr/>
          </p:nvCxnSpPr>
          <p:spPr bwMode="auto">
            <a:xfrm flipV="1">
              <a:off x="3439050" y="3376248"/>
              <a:ext cx="894303" cy="381651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55" name="TextBox 69"/>
            <p:cNvSpPr txBox="1">
              <a:spLocks noChangeArrowheads="1"/>
            </p:cNvSpPr>
            <p:nvPr/>
          </p:nvSpPr>
          <p:spPr bwMode="auto">
            <a:xfrm>
              <a:off x="1901651" y="3604010"/>
              <a:ext cx="1537399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 string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cxnSp>
          <p:nvCxnSpPr>
            <p:cNvPr id="56" name="Straight Arrow Connector 71"/>
            <p:cNvCxnSpPr>
              <a:cxnSpLocks noChangeShapeType="1"/>
            </p:cNvCxnSpPr>
            <p:nvPr/>
          </p:nvCxnSpPr>
          <p:spPr bwMode="auto">
            <a:xfrm rot="10800000">
              <a:off x="5560927" y="3367873"/>
              <a:ext cx="751951" cy="249534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57" name="TextBox 73"/>
            <p:cNvSpPr txBox="1">
              <a:spLocks noChangeArrowheads="1"/>
            </p:cNvSpPr>
            <p:nvPr/>
          </p:nvSpPr>
          <p:spPr bwMode="auto">
            <a:xfrm>
              <a:off x="6152103" y="3604010"/>
              <a:ext cx="178023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an integer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</p:grpSp>
      <p:grpSp>
        <p:nvGrpSpPr>
          <p:cNvPr id="58" name="Group 31"/>
          <p:cNvGrpSpPr>
            <a:grpSpLocks/>
          </p:cNvGrpSpPr>
          <p:nvPr/>
        </p:nvGrpSpPr>
        <p:grpSpPr bwMode="auto">
          <a:xfrm>
            <a:off x="1579563" y="4578350"/>
            <a:ext cx="6916737" cy="1389063"/>
            <a:chOff x="1579563" y="4578435"/>
            <a:chExt cx="6916737" cy="1388591"/>
          </a:xfrm>
        </p:grpSpPr>
        <p:sp>
          <p:nvSpPr>
            <p:cNvPr id="59" name="TextBox 79"/>
            <p:cNvSpPr txBox="1">
              <a:spLocks noChangeArrowheads="1"/>
            </p:cNvSpPr>
            <p:nvPr/>
          </p:nvSpPr>
          <p:spPr bwMode="auto">
            <a:xfrm>
              <a:off x="4754563" y="5660639"/>
              <a:ext cx="1779587" cy="306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an integer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3065463" y="5141807"/>
              <a:ext cx="1687512" cy="333262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5264150" y="5141807"/>
              <a:ext cx="495300" cy="333262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6210300" y="5141807"/>
              <a:ext cx="311150" cy="333262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63" name="TextBox 62"/>
            <p:cNvSpPr txBox="1">
              <a:spLocks noChangeArrowheads="1"/>
            </p:cNvSpPr>
            <p:nvPr/>
          </p:nvSpPr>
          <p:spPr bwMode="auto">
            <a:xfrm>
              <a:off x="2839388" y="4882908"/>
              <a:ext cx="827916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name</a:t>
              </a:r>
              <a:endParaRPr lang="en-SG" sz="1400"/>
            </a:p>
          </p:txBody>
        </p:sp>
        <p:sp>
          <p:nvSpPr>
            <p:cNvPr id="64" name="TextBox 63"/>
            <p:cNvSpPr txBox="1">
              <a:spLocks noChangeArrowheads="1"/>
            </p:cNvSpPr>
            <p:nvPr/>
          </p:nvSpPr>
          <p:spPr bwMode="auto">
            <a:xfrm>
              <a:off x="4956005" y="4882908"/>
              <a:ext cx="827916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age</a:t>
              </a:r>
              <a:endParaRPr lang="en-SG" sz="1400"/>
            </a:p>
          </p:txBody>
        </p:sp>
        <p:sp>
          <p:nvSpPr>
            <p:cNvPr id="65" name="TextBox 64"/>
            <p:cNvSpPr txBox="1">
              <a:spLocks noChangeArrowheads="1"/>
            </p:cNvSpPr>
            <p:nvPr/>
          </p:nvSpPr>
          <p:spPr bwMode="auto">
            <a:xfrm>
              <a:off x="5803206" y="4882908"/>
              <a:ext cx="827916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gender</a:t>
              </a:r>
              <a:endParaRPr lang="en-SG" sz="1400"/>
            </a:p>
          </p:txBody>
        </p:sp>
        <p:sp>
          <p:nvSpPr>
            <p:cNvPr id="66" name="TextBox 65"/>
            <p:cNvSpPr txBox="1">
              <a:spLocks noChangeArrowheads="1"/>
            </p:cNvSpPr>
            <p:nvPr/>
          </p:nvSpPr>
          <p:spPr bwMode="auto">
            <a:xfrm>
              <a:off x="2492305" y="4578435"/>
              <a:ext cx="803882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player</a:t>
              </a:r>
              <a:endParaRPr lang="en-SG" sz="1400"/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2733469" y="4841763"/>
              <a:ext cx="4330915" cy="740609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cxnSp>
          <p:nvCxnSpPr>
            <p:cNvPr id="68" name="Straight Arrow Connector 76"/>
            <p:cNvCxnSpPr>
              <a:cxnSpLocks noChangeShapeType="1"/>
            </p:cNvCxnSpPr>
            <p:nvPr/>
          </p:nvCxnSpPr>
          <p:spPr bwMode="auto">
            <a:xfrm flipV="1">
              <a:off x="2763615" y="5398172"/>
              <a:ext cx="654829" cy="259299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69" name="TextBox 77"/>
            <p:cNvSpPr txBox="1">
              <a:spLocks noChangeArrowheads="1"/>
            </p:cNvSpPr>
            <p:nvPr/>
          </p:nvSpPr>
          <p:spPr bwMode="auto">
            <a:xfrm>
              <a:off x="1579563" y="5645763"/>
              <a:ext cx="1537426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 string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cxnSp>
          <p:nvCxnSpPr>
            <p:cNvPr id="70" name="Straight Arrow Connector 78"/>
            <p:cNvCxnSpPr>
              <a:cxnSpLocks noChangeShapeType="1"/>
            </p:cNvCxnSpPr>
            <p:nvPr/>
          </p:nvCxnSpPr>
          <p:spPr bwMode="auto">
            <a:xfrm rot="5400000" flipH="1" flipV="1">
              <a:off x="5324494" y="5552077"/>
              <a:ext cx="327893" cy="3351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71" name="TextBox 84"/>
            <p:cNvSpPr txBox="1">
              <a:spLocks noChangeArrowheads="1"/>
            </p:cNvSpPr>
            <p:nvPr/>
          </p:nvSpPr>
          <p:spPr bwMode="auto">
            <a:xfrm>
              <a:off x="6632297" y="5617324"/>
              <a:ext cx="1864003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 character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cxnSp>
          <p:nvCxnSpPr>
            <p:cNvPr id="72" name="Straight Arrow Connector 85"/>
            <p:cNvCxnSpPr>
              <a:cxnSpLocks noChangeShapeType="1"/>
            </p:cNvCxnSpPr>
            <p:nvPr/>
          </p:nvCxnSpPr>
          <p:spPr bwMode="auto">
            <a:xfrm rot="10800000">
              <a:off x="6434678" y="5389806"/>
              <a:ext cx="1001503" cy="267666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358495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1. Organizing Data (3/4)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</a:t>
            </a:r>
            <a:r>
              <a:rPr lang="en-US" dirty="0"/>
              <a:t>9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733425" y="1457325"/>
            <a:ext cx="783431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 </a:t>
            </a:r>
            <a:r>
              <a:rPr lang="en-US" sz="2400" i="1" dirty="0"/>
              <a:t>group </a:t>
            </a:r>
            <a:r>
              <a:rPr lang="en-US" sz="2400" dirty="0"/>
              <a:t>can be a member of another </a:t>
            </a:r>
            <a:r>
              <a:rPr lang="en-US" sz="2400" i="1" dirty="0"/>
              <a:t>group</a:t>
            </a:r>
            <a:r>
              <a:rPr lang="en-US" sz="2400" dirty="0"/>
              <a:t>.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Example: person’s birthday is of “date” group</a:t>
            </a:r>
          </a:p>
        </p:txBody>
      </p:sp>
      <p:grpSp>
        <p:nvGrpSpPr>
          <p:cNvPr id="33" name="Group 34"/>
          <p:cNvGrpSpPr>
            <a:grpSpLocks/>
          </p:cNvGrpSpPr>
          <p:nvPr/>
        </p:nvGrpSpPr>
        <p:grpSpPr bwMode="auto">
          <a:xfrm>
            <a:off x="2995613" y="2547938"/>
            <a:ext cx="3171825" cy="966787"/>
            <a:chOff x="2994829" y="2547466"/>
            <a:chExt cx="3172886" cy="967645"/>
          </a:xfrm>
        </p:grpSpPr>
        <p:sp>
          <p:nvSpPr>
            <p:cNvPr id="34" name="Rectangle 33"/>
            <p:cNvSpPr/>
            <p:nvPr/>
          </p:nvSpPr>
          <p:spPr bwMode="auto">
            <a:xfrm>
              <a:off x="5443573" y="3087695"/>
              <a:ext cx="495466" cy="333671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5" name="TextBox 46"/>
            <p:cNvSpPr txBox="1">
              <a:spLocks noChangeArrowheads="1"/>
            </p:cNvSpPr>
            <p:nvPr/>
          </p:nvSpPr>
          <p:spPr bwMode="auto">
            <a:xfrm>
              <a:off x="3571368" y="2815105"/>
              <a:ext cx="494006" cy="307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day</a:t>
              </a:r>
              <a:endParaRPr lang="en-SG" sz="1400"/>
            </a:p>
          </p:txBody>
        </p:sp>
        <p:sp>
          <p:nvSpPr>
            <p:cNvPr id="36" name="TextBox 55"/>
            <p:cNvSpPr txBox="1">
              <a:spLocks noChangeArrowheads="1"/>
            </p:cNvSpPr>
            <p:nvPr/>
          </p:nvSpPr>
          <p:spPr bwMode="auto">
            <a:xfrm>
              <a:off x="5308873" y="2815105"/>
              <a:ext cx="597658" cy="307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year</a:t>
              </a:r>
              <a:endParaRPr lang="en-SG" sz="1400"/>
            </a:p>
          </p:txBody>
        </p:sp>
        <p:sp>
          <p:nvSpPr>
            <p:cNvPr id="37" name="TextBox 57"/>
            <p:cNvSpPr txBox="1">
              <a:spLocks noChangeArrowheads="1"/>
            </p:cNvSpPr>
            <p:nvPr/>
          </p:nvSpPr>
          <p:spPr bwMode="auto">
            <a:xfrm>
              <a:off x="2994829" y="2547466"/>
              <a:ext cx="625701" cy="307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date</a:t>
              </a:r>
              <a:endParaRPr lang="en-SG" sz="1400"/>
            </a:p>
          </p:txBody>
        </p:sp>
        <p:sp>
          <p:nvSpPr>
            <p:cNvPr id="38" name="Rectangle 58"/>
            <p:cNvSpPr>
              <a:spLocks noChangeArrowheads="1"/>
            </p:cNvSpPr>
            <p:nvPr/>
          </p:nvSpPr>
          <p:spPr bwMode="auto">
            <a:xfrm>
              <a:off x="3444510" y="2817340"/>
              <a:ext cx="2723205" cy="697771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3680858" y="3087695"/>
              <a:ext cx="495466" cy="333671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4595564" y="3087695"/>
              <a:ext cx="495466" cy="333671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1" name="TextBox 46"/>
            <p:cNvSpPr txBox="1">
              <a:spLocks noChangeArrowheads="1"/>
            </p:cNvSpPr>
            <p:nvPr/>
          </p:nvSpPr>
          <p:spPr bwMode="auto">
            <a:xfrm>
              <a:off x="4353962" y="2815105"/>
              <a:ext cx="737021" cy="307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month</a:t>
              </a:r>
              <a:endParaRPr lang="en-SG" sz="1400"/>
            </a:p>
          </p:txBody>
        </p:sp>
      </p:grpSp>
      <p:grpSp>
        <p:nvGrpSpPr>
          <p:cNvPr id="42" name="Group 48"/>
          <p:cNvGrpSpPr>
            <a:grpSpLocks/>
          </p:cNvGrpSpPr>
          <p:nvPr/>
        </p:nvGrpSpPr>
        <p:grpSpPr bwMode="auto">
          <a:xfrm>
            <a:off x="1663700" y="3997325"/>
            <a:ext cx="5676900" cy="1414463"/>
            <a:chOff x="1664402" y="3997582"/>
            <a:chExt cx="5675512" cy="1414677"/>
          </a:xfrm>
        </p:grpSpPr>
        <p:grpSp>
          <p:nvGrpSpPr>
            <p:cNvPr id="43" name="Group 47"/>
            <p:cNvGrpSpPr>
              <a:grpSpLocks/>
            </p:cNvGrpSpPr>
            <p:nvPr/>
          </p:nvGrpSpPr>
          <p:grpSpPr bwMode="auto">
            <a:xfrm>
              <a:off x="2036199" y="4425726"/>
              <a:ext cx="1913587" cy="592362"/>
              <a:chOff x="1331864" y="4302158"/>
              <a:chExt cx="1913587" cy="592362"/>
            </a:xfrm>
          </p:grpSpPr>
          <p:sp>
            <p:nvSpPr>
              <p:cNvPr id="82" name="Rectangle 81"/>
              <p:cNvSpPr/>
              <p:nvPr/>
            </p:nvSpPr>
            <p:spPr bwMode="auto">
              <a:xfrm>
                <a:off x="1556821" y="4561506"/>
                <a:ext cx="1688687" cy="333426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83" name="TextBox 62"/>
              <p:cNvSpPr txBox="1">
                <a:spLocks noChangeArrowheads="1"/>
              </p:cNvSpPr>
              <p:nvPr/>
            </p:nvSpPr>
            <p:spPr bwMode="auto">
              <a:xfrm>
                <a:off x="1331864" y="4302158"/>
                <a:ext cx="827916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name</a:t>
                </a:r>
                <a:endParaRPr lang="en-SG" sz="1400"/>
              </a:p>
            </p:txBody>
          </p:sp>
        </p:grpSp>
        <p:sp>
          <p:nvSpPr>
            <p:cNvPr id="44" name="TextBox 65"/>
            <p:cNvSpPr txBox="1">
              <a:spLocks noChangeArrowheads="1"/>
            </p:cNvSpPr>
            <p:nvPr/>
          </p:nvSpPr>
          <p:spPr bwMode="auto">
            <a:xfrm>
              <a:off x="1664402" y="3997582"/>
              <a:ext cx="1004657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person</a:t>
              </a:r>
              <a:endParaRPr lang="en-SG" sz="1400"/>
            </a:p>
          </p:txBody>
        </p:sp>
        <p:sp>
          <p:nvSpPr>
            <p:cNvPr id="45" name="Rectangle 66"/>
            <p:cNvSpPr>
              <a:spLocks noChangeArrowheads="1"/>
            </p:cNvSpPr>
            <p:nvPr/>
          </p:nvSpPr>
          <p:spPr bwMode="auto">
            <a:xfrm>
              <a:off x="1952367" y="4261000"/>
              <a:ext cx="5387547" cy="1151259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73" name="Group 46"/>
            <p:cNvGrpSpPr>
              <a:grpSpLocks/>
            </p:cNvGrpSpPr>
            <p:nvPr/>
          </p:nvGrpSpPr>
          <p:grpSpPr bwMode="auto">
            <a:xfrm>
              <a:off x="3900991" y="4330958"/>
              <a:ext cx="3172886" cy="967645"/>
              <a:chOff x="3653856" y="5591347"/>
              <a:chExt cx="3172886" cy="967645"/>
            </a:xfrm>
          </p:grpSpPr>
          <p:sp>
            <p:nvSpPr>
              <p:cNvPr id="74" name="Rectangle 73"/>
              <p:cNvSpPr/>
              <p:nvPr/>
            </p:nvSpPr>
            <p:spPr bwMode="auto">
              <a:xfrm>
                <a:off x="6102421" y="6131227"/>
                <a:ext cx="495179" cy="333425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75" name="TextBox 46"/>
              <p:cNvSpPr txBox="1">
                <a:spLocks noChangeArrowheads="1"/>
              </p:cNvSpPr>
              <p:nvPr/>
            </p:nvSpPr>
            <p:spPr bwMode="auto">
              <a:xfrm>
                <a:off x="4230395" y="5858986"/>
                <a:ext cx="494006" cy="3076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day</a:t>
                </a:r>
                <a:endParaRPr lang="en-SG" sz="1400"/>
              </a:p>
            </p:txBody>
          </p:sp>
          <p:sp>
            <p:nvSpPr>
              <p:cNvPr id="76" name="TextBox 55"/>
              <p:cNvSpPr txBox="1">
                <a:spLocks noChangeArrowheads="1"/>
              </p:cNvSpPr>
              <p:nvPr/>
            </p:nvSpPr>
            <p:spPr bwMode="auto">
              <a:xfrm>
                <a:off x="5967900" y="5858986"/>
                <a:ext cx="597658" cy="3076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year</a:t>
                </a:r>
                <a:endParaRPr lang="en-SG" sz="1400"/>
              </a:p>
            </p:txBody>
          </p:sp>
          <p:sp>
            <p:nvSpPr>
              <p:cNvPr id="77" name="TextBox 57"/>
              <p:cNvSpPr txBox="1">
                <a:spLocks noChangeArrowheads="1"/>
              </p:cNvSpPr>
              <p:nvPr/>
            </p:nvSpPr>
            <p:spPr bwMode="auto">
              <a:xfrm>
                <a:off x="3653856" y="5591347"/>
                <a:ext cx="1313560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birthday</a:t>
                </a:r>
                <a:endParaRPr lang="en-SG" sz="1400"/>
              </a:p>
            </p:txBody>
          </p:sp>
          <p:sp>
            <p:nvSpPr>
              <p:cNvPr id="78" name="Rectangle 58"/>
              <p:cNvSpPr>
                <a:spLocks noChangeArrowheads="1"/>
              </p:cNvSpPr>
              <p:nvPr/>
            </p:nvSpPr>
            <p:spPr bwMode="auto">
              <a:xfrm>
                <a:off x="4103537" y="5861221"/>
                <a:ext cx="2723205" cy="697771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79" name="Rectangle 78"/>
              <p:cNvSpPr/>
              <p:nvPr/>
            </p:nvSpPr>
            <p:spPr bwMode="auto">
              <a:xfrm>
                <a:off x="4340727" y="6131227"/>
                <a:ext cx="495179" cy="333425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 bwMode="auto">
              <a:xfrm>
                <a:off x="5254903" y="6131227"/>
                <a:ext cx="495179" cy="333425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81" name="TextBox 46"/>
              <p:cNvSpPr txBox="1">
                <a:spLocks noChangeArrowheads="1"/>
              </p:cNvSpPr>
              <p:nvPr/>
            </p:nvSpPr>
            <p:spPr bwMode="auto">
              <a:xfrm>
                <a:off x="5012989" y="5858986"/>
                <a:ext cx="737021" cy="3076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month</a:t>
                </a:r>
                <a:endParaRPr lang="en-SG" sz="1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5528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1. Organizing Data (4/4)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</a:t>
            </a:r>
            <a:r>
              <a:rPr lang="en-US" dirty="0"/>
              <a:t>9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733425" y="1460500"/>
            <a:ext cx="7834313" cy="4687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We can also create array of </a:t>
            </a:r>
            <a:r>
              <a:rPr lang="en-US" sz="2400" i="1" dirty="0"/>
              <a:t>groups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Recall Week 10 Exercise #3: Module Sorting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Using two parallel arrays</a:t>
            </a:r>
          </a:p>
          <a:p>
            <a:pPr marL="1257300" lvl="2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Courier New" pitchFamily="49" charset="0"/>
              <a:buChar char="o"/>
            </a:pPr>
            <a:r>
              <a:rPr lang="en-US" dirty="0"/>
              <a:t>codes[</a:t>
            </a:r>
            <a:r>
              <a:rPr lang="en-US" i="1" dirty="0" err="1"/>
              <a:t>i</a:t>
            </a:r>
            <a:r>
              <a:rPr lang="en-US" dirty="0"/>
              <a:t>] and enrolments[</a:t>
            </a:r>
            <a:r>
              <a:rPr lang="en-US" i="1" dirty="0" err="1"/>
              <a:t>i</a:t>
            </a:r>
            <a:r>
              <a:rPr lang="en-US" dirty="0"/>
              <a:t>] are</a:t>
            </a:r>
            <a:br>
              <a:rPr lang="en-US" dirty="0"/>
            </a:br>
            <a:r>
              <a:rPr lang="en-US" dirty="0"/>
              <a:t>related to the same module </a:t>
            </a:r>
            <a:r>
              <a:rPr lang="en-US" i="1" dirty="0" err="1"/>
              <a:t>i</a:t>
            </a:r>
            <a:endParaRPr lang="en-US" dirty="0"/>
          </a:p>
          <a:p>
            <a:pPr marL="800100" lvl="1" indent="-342900">
              <a:spcBef>
                <a:spcPts val="600"/>
              </a:spcBef>
              <a:buClr>
                <a:schemeClr val="bg2"/>
              </a:buClr>
              <a:buSzPct val="100000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Using an array of “module” </a:t>
            </a:r>
            <a:r>
              <a:rPr lang="en-US" sz="2000" i="1" dirty="0"/>
              <a:t>group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Which is more logical? </a:t>
            </a:r>
          </a:p>
        </p:txBody>
      </p:sp>
      <p:grpSp>
        <p:nvGrpSpPr>
          <p:cNvPr id="32" name="Group 56"/>
          <p:cNvGrpSpPr>
            <a:grpSpLocks/>
          </p:cNvGrpSpPr>
          <p:nvPr/>
        </p:nvGrpSpPr>
        <p:grpSpPr bwMode="auto">
          <a:xfrm>
            <a:off x="5857104" y="2495550"/>
            <a:ext cx="2409567" cy="1525588"/>
            <a:chOff x="5856514" y="2495340"/>
            <a:chExt cx="2409352" cy="1525305"/>
          </a:xfrm>
        </p:grpSpPr>
        <p:sp>
          <p:nvSpPr>
            <p:cNvPr id="47" name="TextBox 31"/>
            <p:cNvSpPr txBox="1">
              <a:spLocks noChangeArrowheads="1"/>
            </p:cNvSpPr>
            <p:nvPr/>
          </p:nvSpPr>
          <p:spPr bwMode="auto">
            <a:xfrm>
              <a:off x="6018961" y="2793442"/>
              <a:ext cx="864159" cy="3077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latin typeface="Calibri" pitchFamily="34" charset="0"/>
                </a:rPr>
                <a:t>CS1010</a:t>
              </a:r>
              <a:endParaRPr lang="en-SG" sz="1400">
                <a:latin typeface="Calibri" pitchFamily="34" charset="0"/>
              </a:endParaRPr>
            </a:p>
          </p:txBody>
        </p:sp>
        <p:sp>
          <p:nvSpPr>
            <p:cNvPr id="48" name="TextBox 32"/>
            <p:cNvSpPr txBox="1">
              <a:spLocks noChangeArrowheads="1"/>
            </p:cNvSpPr>
            <p:nvPr/>
          </p:nvSpPr>
          <p:spPr bwMode="auto">
            <a:xfrm>
              <a:off x="6020635" y="3106616"/>
              <a:ext cx="862485" cy="3077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latin typeface="Calibri" pitchFamily="34" charset="0"/>
                </a:rPr>
                <a:t>CS1234</a:t>
              </a:r>
              <a:endParaRPr lang="en-SG" sz="1400">
                <a:latin typeface="Calibri" pitchFamily="34" charset="0"/>
              </a:endParaRPr>
            </a:p>
          </p:txBody>
        </p:sp>
        <p:sp>
          <p:nvSpPr>
            <p:cNvPr id="49" name="TextBox 33"/>
            <p:cNvSpPr txBox="1">
              <a:spLocks noChangeArrowheads="1"/>
            </p:cNvSpPr>
            <p:nvPr/>
          </p:nvSpPr>
          <p:spPr bwMode="auto">
            <a:xfrm>
              <a:off x="6022309" y="3419790"/>
              <a:ext cx="860811" cy="3077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latin typeface="Calibri" pitchFamily="34" charset="0"/>
                </a:rPr>
                <a:t>CS1010E</a:t>
              </a:r>
              <a:endParaRPr lang="en-SG" sz="1400">
                <a:latin typeface="Calibri" pitchFamily="34" charset="0"/>
              </a:endParaRPr>
            </a:p>
          </p:txBody>
        </p:sp>
        <p:sp>
          <p:nvSpPr>
            <p:cNvPr id="50" name="TextBox 34"/>
            <p:cNvSpPr txBox="1">
              <a:spLocks noChangeArrowheads="1"/>
            </p:cNvSpPr>
            <p:nvPr/>
          </p:nvSpPr>
          <p:spPr bwMode="auto">
            <a:xfrm>
              <a:off x="6023984" y="3712868"/>
              <a:ext cx="86081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>
                  <a:latin typeface="Calibri" pitchFamily="34" charset="0"/>
                </a:rPr>
                <a:t>:</a:t>
              </a:r>
              <a:endParaRPr lang="en-SG" sz="1400">
                <a:latin typeface="Calibri" pitchFamily="34" charset="0"/>
              </a:endParaRPr>
            </a:p>
          </p:txBody>
        </p:sp>
        <p:sp>
          <p:nvSpPr>
            <p:cNvPr id="51" name="TextBox 35"/>
            <p:cNvSpPr txBox="1">
              <a:spLocks noChangeArrowheads="1"/>
            </p:cNvSpPr>
            <p:nvPr/>
          </p:nvSpPr>
          <p:spPr bwMode="auto">
            <a:xfrm>
              <a:off x="5856514" y="2503714"/>
              <a:ext cx="72683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Calibri" pitchFamily="34" charset="0"/>
                </a:rPr>
                <a:t>codes</a:t>
              </a:r>
              <a:endParaRPr lang="en-SG" sz="1400" dirty="0">
                <a:latin typeface="Calibri" pitchFamily="34" charset="0"/>
              </a:endParaRPr>
            </a:p>
          </p:txBody>
        </p:sp>
        <p:sp>
          <p:nvSpPr>
            <p:cNvPr id="52" name="TextBox 36"/>
            <p:cNvSpPr txBox="1">
              <a:spLocks noChangeArrowheads="1"/>
            </p:cNvSpPr>
            <p:nvPr/>
          </p:nvSpPr>
          <p:spPr bwMode="auto">
            <a:xfrm>
              <a:off x="7497744" y="2785068"/>
              <a:ext cx="490696" cy="3077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latin typeface="Calibri" pitchFamily="34" charset="0"/>
                </a:rPr>
                <a:t>292</a:t>
              </a:r>
              <a:endParaRPr lang="en-SG" sz="1400">
                <a:latin typeface="Calibri" pitchFamily="34" charset="0"/>
              </a:endParaRPr>
            </a:p>
          </p:txBody>
        </p:sp>
        <p:sp>
          <p:nvSpPr>
            <p:cNvPr id="53" name="TextBox 37"/>
            <p:cNvSpPr txBox="1">
              <a:spLocks noChangeArrowheads="1"/>
            </p:cNvSpPr>
            <p:nvPr/>
          </p:nvSpPr>
          <p:spPr bwMode="auto">
            <a:xfrm>
              <a:off x="7499418" y="3098242"/>
              <a:ext cx="489022" cy="3077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latin typeface="Calibri" pitchFamily="34" charset="0"/>
                </a:rPr>
                <a:t>178</a:t>
              </a:r>
              <a:endParaRPr lang="en-SG" sz="1400">
                <a:latin typeface="Calibri" pitchFamily="34" charset="0"/>
              </a:endParaRPr>
            </a:p>
          </p:txBody>
        </p:sp>
        <p:sp>
          <p:nvSpPr>
            <p:cNvPr id="54" name="TextBox 38"/>
            <p:cNvSpPr txBox="1">
              <a:spLocks noChangeArrowheads="1"/>
            </p:cNvSpPr>
            <p:nvPr/>
          </p:nvSpPr>
          <p:spPr bwMode="auto">
            <a:xfrm>
              <a:off x="7501092" y="3401368"/>
              <a:ext cx="487348" cy="3077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latin typeface="Calibri" pitchFamily="34" charset="0"/>
                </a:rPr>
                <a:t>358</a:t>
              </a:r>
              <a:endParaRPr lang="en-SG" sz="1400">
                <a:latin typeface="Calibri" pitchFamily="34" charset="0"/>
              </a:endParaRPr>
            </a:p>
          </p:txBody>
        </p:sp>
        <p:sp>
          <p:nvSpPr>
            <p:cNvPr id="55" name="TextBox 39"/>
            <p:cNvSpPr txBox="1">
              <a:spLocks noChangeArrowheads="1"/>
            </p:cNvSpPr>
            <p:nvPr/>
          </p:nvSpPr>
          <p:spPr bwMode="auto">
            <a:xfrm>
              <a:off x="7502766" y="3704494"/>
              <a:ext cx="48567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>
                  <a:latin typeface="Calibri" pitchFamily="34" charset="0"/>
                </a:rPr>
                <a:t>:</a:t>
              </a:r>
              <a:endParaRPr lang="en-SG" sz="1400">
                <a:latin typeface="Calibri" pitchFamily="34" charset="0"/>
              </a:endParaRPr>
            </a:p>
          </p:txBody>
        </p:sp>
        <p:sp>
          <p:nvSpPr>
            <p:cNvPr id="56" name="TextBox 40"/>
            <p:cNvSpPr txBox="1">
              <a:spLocks noChangeArrowheads="1"/>
            </p:cNvSpPr>
            <p:nvPr/>
          </p:nvSpPr>
          <p:spPr bwMode="auto">
            <a:xfrm>
              <a:off x="7215636" y="2495340"/>
              <a:ext cx="1050230" cy="307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Calibri" pitchFamily="34" charset="0"/>
                </a:rPr>
                <a:t>enrolments</a:t>
              </a:r>
              <a:endParaRPr lang="en-SG" sz="1400" dirty="0">
                <a:latin typeface="Calibri" pitchFamily="34" charset="0"/>
              </a:endParaRPr>
            </a:p>
          </p:txBody>
        </p:sp>
      </p:grpSp>
      <p:grpSp>
        <p:nvGrpSpPr>
          <p:cNvPr id="57" name="Group 89"/>
          <p:cNvGrpSpPr>
            <a:grpSpLocks/>
          </p:cNvGrpSpPr>
          <p:nvPr/>
        </p:nvGrpSpPr>
        <p:grpSpPr bwMode="auto">
          <a:xfrm>
            <a:off x="5830888" y="4405313"/>
            <a:ext cx="1768475" cy="1917700"/>
            <a:chOff x="5831391" y="4404526"/>
            <a:chExt cx="1768512" cy="1918865"/>
          </a:xfrm>
        </p:grpSpPr>
        <p:sp>
          <p:nvSpPr>
            <p:cNvPr id="58" name="TextBox 52"/>
            <p:cNvSpPr txBox="1">
              <a:spLocks noChangeArrowheads="1"/>
            </p:cNvSpPr>
            <p:nvPr/>
          </p:nvSpPr>
          <p:spPr bwMode="auto">
            <a:xfrm>
              <a:off x="5831391" y="4404526"/>
              <a:ext cx="112206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dirty="0">
                  <a:latin typeface="Calibri" pitchFamily="34" charset="0"/>
                </a:rPr>
                <a:t>modules</a:t>
              </a:r>
              <a:endParaRPr lang="en-SG" sz="1400" dirty="0">
                <a:latin typeface="Calibri" pitchFamily="34" charset="0"/>
              </a:endParaRPr>
            </a:p>
          </p:txBody>
        </p:sp>
        <p:grpSp>
          <p:nvGrpSpPr>
            <p:cNvPr id="59" name="Group 88"/>
            <p:cNvGrpSpPr>
              <a:grpSpLocks/>
            </p:cNvGrpSpPr>
            <p:nvPr/>
          </p:nvGrpSpPr>
          <p:grpSpPr bwMode="auto">
            <a:xfrm>
              <a:off x="6079253" y="4682532"/>
              <a:ext cx="1520650" cy="1640859"/>
              <a:chOff x="6079253" y="4682532"/>
              <a:chExt cx="1520650" cy="1640859"/>
            </a:xfrm>
          </p:grpSpPr>
          <p:sp>
            <p:nvSpPr>
              <p:cNvPr id="60" name="TextBox 47"/>
              <p:cNvSpPr txBox="1">
                <a:spLocks noChangeArrowheads="1"/>
              </p:cNvSpPr>
              <p:nvPr/>
            </p:nvSpPr>
            <p:spPr bwMode="auto">
              <a:xfrm>
                <a:off x="6156287" y="6015614"/>
                <a:ext cx="1339783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400">
                    <a:latin typeface="Calibri" pitchFamily="34" charset="0"/>
                  </a:rPr>
                  <a:t>:</a:t>
                </a:r>
                <a:endParaRPr lang="en-SG" sz="1400">
                  <a:latin typeface="Calibri" pitchFamily="34" charset="0"/>
                </a:endParaRPr>
              </a:p>
            </p:txBody>
          </p:sp>
          <p:grpSp>
            <p:nvGrpSpPr>
              <p:cNvPr id="61" name="Group 72"/>
              <p:cNvGrpSpPr>
                <a:grpSpLocks/>
              </p:cNvGrpSpPr>
              <p:nvPr/>
            </p:nvGrpSpPr>
            <p:grpSpPr bwMode="auto">
              <a:xfrm>
                <a:off x="6079253" y="4682532"/>
                <a:ext cx="1517301" cy="411982"/>
                <a:chOff x="6079253" y="4682532"/>
                <a:chExt cx="1517301" cy="411982"/>
              </a:xfrm>
            </p:grpSpPr>
            <p:sp>
              <p:nvSpPr>
                <p:cNvPr id="70" name="TextBox 41"/>
                <p:cNvSpPr txBox="1">
                  <a:spLocks noChangeArrowheads="1"/>
                </p:cNvSpPr>
                <p:nvPr/>
              </p:nvSpPr>
              <p:spPr bwMode="auto">
                <a:xfrm>
                  <a:off x="6151264" y="4734448"/>
                  <a:ext cx="864159" cy="30777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>
                      <a:latin typeface="Calibri" pitchFamily="34" charset="0"/>
                    </a:rPr>
                    <a:t>CS1010</a:t>
                  </a:r>
                  <a:endParaRPr lang="en-SG" sz="1400">
                    <a:latin typeface="Calibri" pitchFamily="34" charset="0"/>
                  </a:endParaRPr>
                </a:p>
              </p:txBody>
            </p:sp>
            <p:sp>
              <p:nvSpPr>
                <p:cNvPr id="71" name="TextBox 48"/>
                <p:cNvSpPr txBox="1">
                  <a:spLocks noChangeArrowheads="1"/>
                </p:cNvSpPr>
                <p:nvPr/>
              </p:nvSpPr>
              <p:spPr bwMode="auto">
                <a:xfrm>
                  <a:off x="7017097" y="4736123"/>
                  <a:ext cx="490696" cy="30777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>
                      <a:latin typeface="Calibri" pitchFamily="34" charset="0"/>
                    </a:rPr>
                    <a:t>292</a:t>
                  </a:r>
                  <a:endParaRPr lang="en-SG" sz="1400">
                    <a:latin typeface="Calibri" pitchFamily="34" charset="0"/>
                  </a:endParaRPr>
                </a:p>
              </p:txBody>
            </p:sp>
            <p:sp>
              <p:nvSpPr>
                <p:cNvPr id="72" name="Rectangle 70"/>
                <p:cNvSpPr>
                  <a:spLocks noChangeArrowheads="1"/>
                </p:cNvSpPr>
                <p:nvPr/>
              </p:nvSpPr>
              <p:spPr bwMode="auto">
                <a:xfrm>
                  <a:off x="6079253" y="4682532"/>
                  <a:ext cx="1517301" cy="411982"/>
                </a:xfrm>
                <a:prstGeom prst="rect">
                  <a:avLst/>
                </a:prstGeom>
                <a:noFill/>
                <a:ln w="12700" cap="sq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62" name="Group 74"/>
              <p:cNvGrpSpPr>
                <a:grpSpLocks/>
              </p:cNvGrpSpPr>
              <p:nvPr/>
            </p:nvGrpSpPr>
            <p:grpSpPr bwMode="auto">
              <a:xfrm>
                <a:off x="6080927" y="5096189"/>
                <a:ext cx="1517301" cy="411982"/>
                <a:chOff x="6079253" y="4682532"/>
                <a:chExt cx="1517301" cy="411982"/>
              </a:xfrm>
            </p:grpSpPr>
            <p:sp>
              <p:nvSpPr>
                <p:cNvPr id="67" name="TextBox 75"/>
                <p:cNvSpPr txBox="1">
                  <a:spLocks noChangeArrowheads="1"/>
                </p:cNvSpPr>
                <p:nvPr/>
              </p:nvSpPr>
              <p:spPr bwMode="auto">
                <a:xfrm>
                  <a:off x="6151264" y="4734448"/>
                  <a:ext cx="864159" cy="30777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>
                      <a:latin typeface="Calibri" pitchFamily="34" charset="0"/>
                    </a:rPr>
                    <a:t>CS1234</a:t>
                  </a:r>
                  <a:endParaRPr lang="en-SG" sz="1400">
                    <a:latin typeface="Calibri" pitchFamily="34" charset="0"/>
                  </a:endParaRPr>
                </a:p>
              </p:txBody>
            </p:sp>
            <p:sp>
              <p:nvSpPr>
                <p:cNvPr id="68" name="TextBox 80"/>
                <p:cNvSpPr txBox="1">
                  <a:spLocks noChangeArrowheads="1"/>
                </p:cNvSpPr>
                <p:nvPr/>
              </p:nvSpPr>
              <p:spPr bwMode="auto">
                <a:xfrm>
                  <a:off x="7017097" y="4736123"/>
                  <a:ext cx="490696" cy="30777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>
                      <a:latin typeface="Calibri" pitchFamily="34" charset="0"/>
                    </a:rPr>
                    <a:t>178</a:t>
                  </a:r>
                  <a:endParaRPr lang="en-SG" sz="1400">
                    <a:latin typeface="Calibri" pitchFamily="34" charset="0"/>
                  </a:endParaRPr>
                </a:p>
              </p:txBody>
            </p:sp>
            <p:sp>
              <p:nvSpPr>
                <p:cNvPr id="69" name="Rectangle 81"/>
                <p:cNvSpPr>
                  <a:spLocks noChangeArrowheads="1"/>
                </p:cNvSpPr>
                <p:nvPr/>
              </p:nvSpPr>
              <p:spPr bwMode="auto">
                <a:xfrm>
                  <a:off x="6079253" y="4682532"/>
                  <a:ext cx="1517301" cy="411982"/>
                </a:xfrm>
                <a:prstGeom prst="rect">
                  <a:avLst/>
                </a:prstGeom>
                <a:noFill/>
                <a:ln w="12700" cap="sq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63" name="Group 82"/>
              <p:cNvGrpSpPr>
                <a:grpSpLocks/>
              </p:cNvGrpSpPr>
              <p:nvPr/>
            </p:nvGrpSpPr>
            <p:grpSpPr bwMode="auto">
              <a:xfrm>
                <a:off x="6082602" y="5509846"/>
                <a:ext cx="1517301" cy="411982"/>
                <a:chOff x="6079253" y="4682532"/>
                <a:chExt cx="1517301" cy="411982"/>
              </a:xfrm>
            </p:grpSpPr>
            <p:sp>
              <p:nvSpPr>
                <p:cNvPr id="64" name="TextBox 83"/>
                <p:cNvSpPr txBox="1">
                  <a:spLocks noChangeArrowheads="1"/>
                </p:cNvSpPr>
                <p:nvPr/>
              </p:nvSpPr>
              <p:spPr bwMode="auto">
                <a:xfrm>
                  <a:off x="6151264" y="4734448"/>
                  <a:ext cx="864159" cy="30777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>
                      <a:latin typeface="Calibri" pitchFamily="34" charset="0"/>
                    </a:rPr>
                    <a:t>CS1010E</a:t>
                  </a:r>
                  <a:endParaRPr lang="en-SG" sz="1400">
                    <a:latin typeface="Calibri" pitchFamily="34" charset="0"/>
                  </a:endParaRPr>
                </a:p>
              </p:txBody>
            </p:sp>
            <p:sp>
              <p:nvSpPr>
                <p:cNvPr id="65" name="TextBox 86"/>
                <p:cNvSpPr txBox="1">
                  <a:spLocks noChangeArrowheads="1"/>
                </p:cNvSpPr>
                <p:nvPr/>
              </p:nvSpPr>
              <p:spPr bwMode="auto">
                <a:xfrm>
                  <a:off x="7017097" y="4736123"/>
                  <a:ext cx="490696" cy="30777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sz="1400">
                      <a:latin typeface="Calibri" pitchFamily="34" charset="0"/>
                    </a:rPr>
                    <a:t>358</a:t>
                  </a:r>
                  <a:endParaRPr lang="en-SG" sz="1400">
                    <a:latin typeface="Calibri" pitchFamily="34" charset="0"/>
                  </a:endParaRPr>
                </a:p>
              </p:txBody>
            </p:sp>
            <p:sp>
              <p:nvSpPr>
                <p:cNvPr id="66" name="Rectangle 87"/>
                <p:cNvSpPr>
                  <a:spLocks noChangeArrowheads="1"/>
                </p:cNvSpPr>
                <p:nvPr/>
              </p:nvSpPr>
              <p:spPr bwMode="auto">
                <a:xfrm>
                  <a:off x="6079253" y="4682532"/>
                  <a:ext cx="1517301" cy="411982"/>
                </a:xfrm>
                <a:prstGeom prst="rect">
                  <a:avLst/>
                </a:prstGeom>
                <a:noFill/>
                <a:ln w="12700" cap="sq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856910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2. Structure Types (1/2)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462722"/>
            <a:ext cx="8229600" cy="1189038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Such a group is called </a:t>
            </a:r>
            <a:r>
              <a:rPr lang="en-US" dirty="0">
                <a:solidFill>
                  <a:srgbClr val="0000FF"/>
                </a:solidFill>
              </a:rPr>
              <a:t>structure type</a:t>
            </a:r>
            <a:endParaRPr lang="en-SG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Examples of structure types: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96950" y="2619375"/>
            <a:ext cx="4773613" cy="112328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struct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length, width, height;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}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defRPr/>
            </a:pPr>
            <a:endParaRPr lang="en-US" sz="2400" b="1" dirty="0">
              <a:solidFill>
                <a:srgbClr val="000000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25525" y="3982004"/>
            <a:ext cx="3168650" cy="1429968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struct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char code[8];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 enrolment;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}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defRPr/>
            </a:pPr>
            <a:endParaRPr lang="en-US" sz="2400" b="1" dirty="0">
              <a:solidFill>
                <a:srgbClr val="000000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511675" y="3997879"/>
            <a:ext cx="3252788" cy="173307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struct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char name[12];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 age;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char gender;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}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defRPr/>
            </a:pPr>
            <a:endParaRPr lang="en-US" sz="2400" b="1" dirty="0">
              <a:solidFill>
                <a:srgbClr val="000000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13" name="Line Callout 2 (Border and Accent Bar) 12"/>
          <p:cNvSpPr/>
          <p:nvPr/>
        </p:nvSpPr>
        <p:spPr bwMode="auto">
          <a:xfrm>
            <a:off x="6235700" y="2288805"/>
            <a:ext cx="2193925" cy="828675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96717"/>
              <a:gd name="adj5" fmla="val 140592"/>
              <a:gd name="adj6" fmla="val -219336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This semi-colon </a:t>
            </a:r>
            <a:r>
              <a:rPr lang="en-US" sz="1600" b="1" dirty="0">
                <a:solidFill>
                  <a:srgbClr val="C00000"/>
                </a:solidFill>
                <a:latin typeface="Arial" charset="0"/>
                <a:cs typeface="Arial" charset="0"/>
              </a:rPr>
              <a:t>;</a:t>
            </a:r>
            <a:r>
              <a:rPr lang="en-US" sz="1600" dirty="0">
                <a:latin typeface="Arial" charset="0"/>
                <a:cs typeface="Arial" charset="0"/>
              </a:rPr>
              <a:t> is very important and is often forgotten!</a:t>
            </a:r>
            <a:endParaRPr lang="en-SG" sz="1600" dirty="0">
              <a:latin typeface="Arial" charset="0"/>
              <a:cs typeface="Arial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1223889" y="4923529"/>
            <a:ext cx="253219" cy="407963"/>
          </a:xfrm>
          <a:prstGeom prst="ellipse">
            <a:avLst/>
          </a:prstGeom>
          <a:noFill/>
          <a:ln w="28575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207477" y="3252199"/>
            <a:ext cx="253219" cy="407963"/>
          </a:xfrm>
          <a:prstGeom prst="ellipse">
            <a:avLst/>
          </a:prstGeom>
          <a:noFill/>
          <a:ln w="28575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4738467" y="5230346"/>
            <a:ext cx="253219" cy="407963"/>
          </a:xfrm>
          <a:prstGeom prst="ellipse">
            <a:avLst/>
          </a:prstGeom>
          <a:noFill/>
          <a:ln w="28575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0906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2. Structure Types (2/2)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733425" y="1460500"/>
            <a:ext cx="7834313" cy="287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 type is </a:t>
            </a:r>
            <a:r>
              <a:rPr lang="en-US" sz="2400" u="sng" dirty="0">
                <a:solidFill>
                  <a:srgbClr val="C00000"/>
                </a:solidFill>
              </a:rPr>
              <a:t>NOT</a:t>
            </a:r>
            <a:r>
              <a:rPr lang="en-US" sz="2400" dirty="0"/>
              <a:t> a variable!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what are the differences between a type and a variable?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following is a </a:t>
            </a:r>
            <a:r>
              <a:rPr lang="en-US" sz="2400" u="sng" dirty="0"/>
              <a:t>definition of a type</a:t>
            </a:r>
            <a:r>
              <a:rPr lang="en-US" sz="2400" dirty="0"/>
              <a:t>, NOT a </a:t>
            </a:r>
            <a:r>
              <a:rPr lang="en-US" sz="2400" u="sng" dirty="0"/>
              <a:t>declaration of a variable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A type needs to be defined before we can declare variable of that type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u="sng" dirty="0">
                <a:solidFill>
                  <a:srgbClr val="C00000"/>
                </a:solidFill>
              </a:rPr>
              <a:t>No</a:t>
            </a:r>
            <a:r>
              <a:rPr lang="en-US" sz="2000" dirty="0"/>
              <a:t> memory is allocated to a type</a:t>
            </a: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2882900" y="4394200"/>
            <a:ext cx="3170238" cy="1400544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struct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char code[8];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 dirty="0" err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 enrolment;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}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defRPr/>
            </a:pPr>
            <a:endParaRPr lang="en-US" sz="2400" b="1" dirty="0">
              <a:solidFill>
                <a:srgbClr val="000000"/>
              </a:solidFill>
              <a:latin typeface="Courier New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2050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 Structure Variables (1/3)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33425" y="1460500"/>
            <a:ext cx="7834313" cy="112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Three methods to declare structure variables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Examples: To declare 2 variables </a:t>
            </a:r>
            <a:r>
              <a:rPr lang="en-US" sz="2400" dirty="0">
                <a:solidFill>
                  <a:srgbClr val="0000FF"/>
                </a:solidFill>
              </a:rPr>
              <a:t>player1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000FF"/>
                </a:solidFill>
              </a:rPr>
              <a:t>player2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278438" y="2768600"/>
            <a:ext cx="3252787" cy="1537586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b="1" dirty="0" err="1">
                <a:solidFill>
                  <a:srgbClr val="C00000"/>
                </a:solidFill>
                <a:latin typeface="Courier New" pitchFamily="49" charset="0"/>
              </a:rPr>
              <a:t>struct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b="1" dirty="0">
                <a:latin typeface="Courier New" pitchFamily="49" charset="0"/>
              </a:rPr>
              <a:t>	char name[12];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b="1" dirty="0">
                <a:latin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 age;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b="1" dirty="0">
                <a:latin typeface="Courier New" pitchFamily="49" charset="0"/>
              </a:rPr>
              <a:t>	char gender;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b="1" dirty="0">
                <a:latin typeface="Courier New" pitchFamily="49" charset="0"/>
              </a:rPr>
              <a:t>}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player1</a:t>
            </a:r>
            <a:r>
              <a:rPr lang="en-US" b="1" dirty="0">
                <a:latin typeface="Courier New" pitchFamily="49" charset="0"/>
              </a:rPr>
              <a:t>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player2</a:t>
            </a:r>
            <a:r>
              <a:rPr lang="en-US" b="1" dirty="0">
                <a:latin typeface="Courier New" pitchFamily="49" charset="0"/>
              </a:rPr>
              <a:t>;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33425" y="2613025"/>
            <a:ext cx="4110038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Method 1 (anonymous structure type) 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seldom used</a:t>
            </a:r>
          </a:p>
        </p:txBody>
      </p:sp>
    </p:spTree>
    <p:extLst>
      <p:ext uri="{BB962C8B-B14F-4D97-AF65-F5344CB8AC3E}">
        <p14:creationId xmlns:p14="http://schemas.microsoft.com/office/powerpoint/2010/main" val="8336088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 Structure Variables (2/3)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0"/>
            <a:ext cx="7834313" cy="208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Method 2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Name the structure using a </a:t>
            </a:r>
            <a:r>
              <a:rPr lang="en-US" sz="2000" dirty="0">
                <a:solidFill>
                  <a:srgbClr val="C00000"/>
                </a:solidFill>
              </a:rPr>
              <a:t>tag</a:t>
            </a:r>
            <a:r>
              <a:rPr lang="en-US" sz="2000" dirty="0"/>
              <a:t>, then use the tag name to declare variables of that type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Some authors prefer to suffix a tag name with “_t” to distinguish it from the variables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450975" y="3471752"/>
            <a:ext cx="5675313" cy="230172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latin typeface="Courier New" pitchFamily="49" charset="0"/>
              </a:rPr>
              <a:t>struct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</a:rPr>
              <a:t>player_t</a:t>
            </a:r>
            <a:r>
              <a:rPr lang="en-US" sz="2000" b="1" dirty="0">
                <a:latin typeface="Courier New" pitchFamily="49" charset="0"/>
              </a:rPr>
              <a:t> 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	char name[12];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 age;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	char gender;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};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endParaRPr lang="en-US" sz="2000" b="1" dirty="0">
              <a:latin typeface="Courier New" pitchFamily="49" charset="0"/>
            </a:endParaRP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latin typeface="Courier New" pitchFamily="49" charset="0"/>
              </a:rPr>
              <a:t>struct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</a:rPr>
              <a:t>player_t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player1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player2</a:t>
            </a:r>
            <a:r>
              <a:rPr lang="en-US" sz="2000" b="1" dirty="0">
                <a:latin typeface="Courier New" pitchFamily="49" charset="0"/>
              </a:rPr>
              <a:t>;</a:t>
            </a:r>
          </a:p>
        </p:txBody>
      </p:sp>
      <p:grpSp>
        <p:nvGrpSpPr>
          <p:cNvPr id="14" name="Group 12"/>
          <p:cNvGrpSpPr>
            <a:grpSpLocks/>
          </p:cNvGrpSpPr>
          <p:nvPr/>
        </p:nvGrpSpPr>
        <p:grpSpPr bwMode="auto">
          <a:xfrm>
            <a:off x="4199860" y="3540642"/>
            <a:ext cx="3258402" cy="1446028"/>
            <a:chOff x="4199418" y="3679093"/>
            <a:chExt cx="3259055" cy="1446402"/>
          </a:xfrm>
        </p:grpSpPr>
        <p:sp>
          <p:nvSpPr>
            <p:cNvPr id="15" name="Right Brace 9"/>
            <p:cNvSpPr>
              <a:spLocks/>
            </p:cNvSpPr>
            <p:nvPr/>
          </p:nvSpPr>
          <p:spPr bwMode="auto">
            <a:xfrm>
              <a:off x="4199418" y="3679093"/>
              <a:ext cx="300010" cy="1446402"/>
            </a:xfrm>
            <a:prstGeom prst="rightBrace">
              <a:avLst>
                <a:gd name="adj1" fmla="val 33150"/>
                <a:gd name="adj2" fmla="val 50000"/>
              </a:avLst>
            </a:prstGeom>
            <a:noFill/>
            <a:ln w="1905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13102" y="4199523"/>
              <a:ext cx="2845371" cy="33981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Usually before all functions</a:t>
              </a:r>
              <a:endParaRPr lang="en-SG" sz="1600" dirty="0">
                <a:latin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02166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 Structure Variables (3/3)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1"/>
            <a:ext cx="7834313" cy="104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Method 3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Use </a:t>
            </a:r>
            <a:r>
              <a:rPr lang="en-US" sz="2000" dirty="0" err="1">
                <a:solidFill>
                  <a:srgbClr val="C00000"/>
                </a:solidFill>
              </a:rPr>
              <a:t>typedef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to define and name the structure type</a:t>
            </a: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1335088" y="2811463"/>
            <a:ext cx="5703887" cy="229216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</a:rPr>
              <a:t>typedef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struct</a:t>
            </a:r>
            <a:r>
              <a:rPr lang="en-US" sz="2000" b="1" dirty="0">
                <a:latin typeface="Courier New" pitchFamily="49" charset="0"/>
              </a:rPr>
              <a:t> 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	char name[12];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 age;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	char gender;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} </a:t>
            </a: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</a:rPr>
              <a:t>player_t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endParaRPr lang="en-US" sz="2000" b="1" dirty="0">
              <a:latin typeface="Courier New" pitchFamily="49" charset="0"/>
            </a:endParaRP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</a:rPr>
              <a:t>player_t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player1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player2</a:t>
            </a:r>
            <a:r>
              <a:rPr lang="en-US" sz="2000" b="1" dirty="0">
                <a:latin typeface="Courier New" pitchFamily="49" charset="0"/>
              </a:rPr>
              <a:t>;</a:t>
            </a:r>
          </a:p>
        </p:txBody>
      </p:sp>
      <p:grpSp>
        <p:nvGrpSpPr>
          <p:cNvPr id="18" name="Group 12"/>
          <p:cNvGrpSpPr>
            <a:grpSpLocks/>
          </p:cNvGrpSpPr>
          <p:nvPr/>
        </p:nvGrpSpPr>
        <p:grpSpPr bwMode="auto">
          <a:xfrm>
            <a:off x="4035425" y="2917826"/>
            <a:ext cx="3310603" cy="1484054"/>
            <a:chOff x="4136571" y="3672116"/>
            <a:chExt cx="3311267" cy="1484438"/>
          </a:xfrm>
        </p:grpSpPr>
        <p:sp>
          <p:nvSpPr>
            <p:cNvPr id="19" name="Right Brace 9"/>
            <p:cNvSpPr>
              <a:spLocks/>
            </p:cNvSpPr>
            <p:nvPr/>
          </p:nvSpPr>
          <p:spPr bwMode="auto">
            <a:xfrm>
              <a:off x="4136571" y="3672116"/>
              <a:ext cx="362858" cy="1484438"/>
            </a:xfrm>
            <a:prstGeom prst="rightBrace">
              <a:avLst>
                <a:gd name="adj1" fmla="val 34713"/>
                <a:gd name="adj2" fmla="val 50000"/>
              </a:avLst>
            </a:prstGeom>
            <a:noFill/>
            <a:ln w="1905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02467" y="4231429"/>
              <a:ext cx="2845371" cy="33981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Usually before all functions</a:t>
              </a:r>
              <a:endParaRPr lang="en-SG" sz="1600" dirty="0">
                <a:latin typeface="Arial" charset="0"/>
                <a:cs typeface="Arial" charset="0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489894" y="4067619"/>
            <a:ext cx="3399464" cy="3381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/>
              <a:t>Create a new type called </a:t>
            </a:r>
            <a:r>
              <a:rPr lang="en-US" sz="1600" dirty="0" err="1">
                <a:solidFill>
                  <a:srgbClr val="C00000"/>
                </a:solidFill>
              </a:rPr>
              <a:t>player_t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20186" y="5399357"/>
            <a:ext cx="4898499" cy="461665"/>
          </a:xfrm>
          <a:prstGeom prst="rect">
            <a:avLst/>
          </a:prstGeom>
          <a:solidFill>
            <a:srgbClr val="CCFFCC"/>
          </a:solidFill>
          <a:ln>
            <a:solidFill>
              <a:srgbClr val="CCFFCC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lvl="0" eaLnBrk="0" hangingPunct="0">
              <a:spcBef>
                <a:spcPts val="1200"/>
              </a:spcBef>
              <a:buClr>
                <a:schemeClr val="bg2"/>
              </a:buClr>
              <a:buSzPct val="120000"/>
              <a:defRPr/>
            </a:pPr>
            <a:r>
              <a:rPr lang="en-US" sz="2400" kern="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We will use this syntax in </a:t>
            </a:r>
            <a:r>
              <a:rPr lang="en-US" sz="2400" ker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our module.</a:t>
            </a:r>
            <a:endParaRPr lang="en-GB" sz="2400" kern="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7086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3.1 Initializing Structure Variables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1"/>
            <a:ext cx="7834313" cy="104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syntax is like array initialization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Examples: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450519" y="3760862"/>
            <a:ext cx="5429285" cy="1895658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 err="1">
                <a:latin typeface="Courier New" pitchFamily="49" charset="0"/>
              </a:rPr>
              <a:t>typedef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</a:rPr>
              <a:t>struct</a:t>
            </a:r>
            <a:r>
              <a:rPr lang="en-US" sz="1600" b="1" dirty="0">
                <a:latin typeface="Courier New" pitchFamily="49" charset="0"/>
              </a:rPr>
              <a:t> 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>
                <a:latin typeface="Courier New" pitchFamily="49" charset="0"/>
              </a:rPr>
              <a:t>	char name[12];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>
                <a:latin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</a:rPr>
              <a:t>  age;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>
                <a:latin typeface="Courier New" pitchFamily="49" charset="0"/>
              </a:rPr>
              <a:t>	char gender;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>
                <a:latin typeface="Courier New" pitchFamily="49" charset="0"/>
              </a:rPr>
              <a:t>}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</a:rPr>
              <a:t>player_t</a:t>
            </a:r>
            <a:r>
              <a:rPr lang="en-US" sz="1600" b="1" dirty="0"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endParaRPr lang="en-US" sz="1600" b="1" dirty="0">
              <a:latin typeface="Courier New" pitchFamily="49" charset="0"/>
            </a:endParaRP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</a:rPr>
              <a:t>player_t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player1</a:t>
            </a:r>
            <a:r>
              <a:rPr lang="en-US" sz="1600" b="1" dirty="0">
                <a:latin typeface="Courier New" pitchFamily="49" charset="0"/>
              </a:rPr>
              <a:t> = { "</a:t>
            </a:r>
            <a:r>
              <a:rPr lang="en-US" sz="1600" b="1" dirty="0" err="1">
                <a:latin typeface="Courier New" pitchFamily="49" charset="0"/>
              </a:rPr>
              <a:t>Brusco</a:t>
            </a:r>
            <a:r>
              <a:rPr lang="en-US" sz="1600" b="1" dirty="0">
                <a:latin typeface="Courier New" pitchFamily="49" charset="0"/>
              </a:rPr>
              <a:t>", 23, 'M' };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923953" y="2155854"/>
            <a:ext cx="6039294" cy="262879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 err="1">
                <a:latin typeface="Courier New" pitchFamily="49" charset="0"/>
              </a:rPr>
              <a:t>typedef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</a:rPr>
              <a:t>struct</a:t>
            </a:r>
            <a:r>
              <a:rPr lang="en-US" sz="1600" b="1" dirty="0">
                <a:latin typeface="Courier New" pitchFamily="49" charset="0"/>
              </a:rPr>
              <a:t> 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>
                <a:latin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</a:rPr>
              <a:t>int</a:t>
            </a:r>
            <a:r>
              <a:rPr lang="en-US" sz="1600" b="1" dirty="0">
                <a:latin typeface="Courier New" pitchFamily="49" charset="0"/>
              </a:rPr>
              <a:t> day, month, year;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>
                <a:latin typeface="Courier New" pitchFamily="49" charset="0"/>
              </a:rPr>
              <a:t>}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</a:rPr>
              <a:t>date_t</a:t>
            </a:r>
            <a:r>
              <a:rPr lang="en-US" sz="1600" b="1" dirty="0"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endParaRPr lang="en-US" sz="1600" b="1" dirty="0">
              <a:latin typeface="Courier New" pitchFamily="49" charset="0"/>
            </a:endParaRP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 err="1">
                <a:latin typeface="Courier New" pitchFamily="49" charset="0"/>
              </a:rPr>
              <a:t>typedef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</a:rPr>
              <a:t>struct</a:t>
            </a:r>
            <a:r>
              <a:rPr lang="en-US" sz="1600" b="1" dirty="0">
                <a:latin typeface="Courier New" pitchFamily="49" charset="0"/>
              </a:rPr>
              <a:t> 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>
                <a:latin typeface="Courier New" pitchFamily="49" charset="0"/>
              </a:rPr>
              <a:t>	char </a:t>
            </a:r>
            <a:r>
              <a:rPr lang="en-US" sz="1600" b="1" dirty="0" err="1">
                <a:latin typeface="Courier New" pitchFamily="49" charset="0"/>
              </a:rPr>
              <a:t>matric</a:t>
            </a:r>
            <a:r>
              <a:rPr lang="en-US" sz="1600" b="1" dirty="0">
                <a:latin typeface="Courier New" pitchFamily="49" charset="0"/>
              </a:rPr>
              <a:t>[10];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>
                <a:latin typeface="Courier New" pitchFamily="49" charset="0"/>
              </a:rPr>
              <a:t>	</a:t>
            </a:r>
            <a:r>
              <a:rPr lang="en-US" sz="1600" b="1" dirty="0" err="1">
                <a:latin typeface="Courier New" pitchFamily="49" charset="0"/>
              </a:rPr>
              <a:t>date_t</a:t>
            </a:r>
            <a:r>
              <a:rPr lang="en-US" sz="1600" b="1" dirty="0">
                <a:latin typeface="Courier New" pitchFamily="49" charset="0"/>
              </a:rPr>
              <a:t> birthday;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>
                <a:latin typeface="Courier New" pitchFamily="49" charset="0"/>
              </a:rPr>
              <a:t>} </a:t>
            </a: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</a:rPr>
              <a:t>student_t</a:t>
            </a:r>
            <a:r>
              <a:rPr lang="en-US" sz="1600" b="1" dirty="0"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endParaRPr lang="en-US" sz="1600" b="1" dirty="0">
              <a:latin typeface="Courier New" pitchFamily="49" charset="0"/>
            </a:endParaRP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1600" b="1" dirty="0" err="1">
                <a:solidFill>
                  <a:srgbClr val="C00000"/>
                </a:solidFill>
                <a:latin typeface="Courier New" pitchFamily="49" charset="0"/>
              </a:rPr>
              <a:t>student_t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john</a:t>
            </a:r>
            <a:r>
              <a:rPr lang="en-US" sz="1600" b="1" dirty="0">
                <a:latin typeface="Courier New" pitchFamily="49" charset="0"/>
              </a:rPr>
              <a:t> = {"A0123456Y", {15, 9, 1990}};</a:t>
            </a:r>
          </a:p>
        </p:txBody>
      </p:sp>
    </p:spTree>
    <p:extLst>
      <p:ext uri="{BB962C8B-B14F-4D97-AF65-F5344CB8AC3E}">
        <p14:creationId xmlns:p14="http://schemas.microsoft.com/office/powerpoint/2010/main" val="21182484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3.2 Accessing Members of a Structure Variable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1"/>
            <a:ext cx="7834313" cy="520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Use the </a:t>
            </a:r>
            <a:r>
              <a:rPr lang="en-US" sz="2400" dirty="0">
                <a:solidFill>
                  <a:srgbClr val="0000FF"/>
                </a:solidFill>
              </a:rPr>
              <a:t>dot (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dirty="0">
                <a:solidFill>
                  <a:srgbClr val="0000FF"/>
                </a:solidFill>
              </a:rPr>
              <a:t>) operator</a:t>
            </a:r>
            <a:endParaRPr lang="en-US" sz="24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285875" y="2317233"/>
            <a:ext cx="6708775" cy="1659344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</a:rPr>
              <a:t>player_t</a:t>
            </a:r>
            <a:r>
              <a:rPr lang="en-US" sz="2000" b="1" dirty="0">
                <a:latin typeface="Courier New" pitchFamily="49" charset="0"/>
              </a:rPr>
              <a:t> player2;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endParaRPr lang="en-US" sz="2000" b="1" dirty="0">
              <a:latin typeface="Courier New" pitchFamily="49" charset="0"/>
            </a:endParaRP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latin typeface="Courier New" pitchFamily="49" charset="0"/>
              </a:rPr>
              <a:t>strcpy</a:t>
            </a:r>
            <a:r>
              <a:rPr lang="en-US" sz="2000" b="1" dirty="0">
                <a:latin typeface="Courier New" pitchFamily="49" charset="0"/>
              </a:rPr>
              <a:t>(player2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.</a:t>
            </a:r>
            <a:r>
              <a:rPr lang="en-US" sz="2000" b="1" dirty="0">
                <a:latin typeface="Courier New" pitchFamily="49" charset="0"/>
              </a:rPr>
              <a:t>name, "July");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player2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.</a:t>
            </a:r>
            <a:r>
              <a:rPr lang="en-US" sz="2000" b="1" dirty="0">
                <a:latin typeface="Courier New" pitchFamily="49" charset="0"/>
              </a:rPr>
              <a:t>age = 21;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player2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.</a:t>
            </a:r>
            <a:r>
              <a:rPr lang="en-US" sz="2000" b="1" dirty="0">
                <a:latin typeface="Courier New" pitchFamily="49" charset="0"/>
              </a:rPr>
              <a:t>gender = 'F';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704089" y="4266535"/>
            <a:ext cx="6708775" cy="1081642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</a:rPr>
              <a:t>student_t</a:t>
            </a:r>
            <a:r>
              <a:rPr lang="en-US" sz="2000" b="1" dirty="0">
                <a:latin typeface="Courier New" pitchFamily="49" charset="0"/>
              </a:rPr>
              <a:t> john = { "A0123456Y", {15, 9} };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endParaRPr lang="en-US" sz="2000" b="1" dirty="0">
              <a:latin typeface="Courier New" pitchFamily="49" charset="0"/>
            </a:endParaRP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latin typeface="Courier New" pitchFamily="49" charset="0"/>
              </a:rPr>
              <a:t>john.birthday.year</a:t>
            </a:r>
            <a:r>
              <a:rPr lang="en-US" sz="2000" b="1" dirty="0">
                <a:latin typeface="Courier New" pitchFamily="49" charset="0"/>
              </a:rPr>
              <a:t> = 1990;</a:t>
            </a:r>
          </a:p>
        </p:txBody>
      </p:sp>
      <p:sp>
        <p:nvSpPr>
          <p:cNvPr id="15" name="Oval 14"/>
          <p:cNvSpPr/>
          <p:nvPr/>
        </p:nvSpPr>
        <p:spPr bwMode="auto">
          <a:xfrm>
            <a:off x="3488625" y="3020301"/>
            <a:ext cx="190240" cy="222629"/>
          </a:xfrm>
          <a:prstGeom prst="ellipse">
            <a:avLst/>
          </a:prstGeom>
          <a:noFill/>
          <a:ln w="19050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2418281" y="3353454"/>
            <a:ext cx="190240" cy="222629"/>
          </a:xfrm>
          <a:prstGeom prst="ellipse">
            <a:avLst/>
          </a:prstGeom>
          <a:noFill/>
          <a:ln w="19050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2428913" y="3661798"/>
            <a:ext cx="190240" cy="222629"/>
          </a:xfrm>
          <a:prstGeom prst="ellipse">
            <a:avLst/>
          </a:prstGeom>
          <a:noFill/>
          <a:ln w="19050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2365118" y="4990868"/>
            <a:ext cx="190240" cy="222629"/>
          </a:xfrm>
          <a:prstGeom prst="ellipse">
            <a:avLst/>
          </a:prstGeom>
          <a:noFill/>
          <a:ln w="19050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3757984" y="4990868"/>
            <a:ext cx="190240" cy="222629"/>
          </a:xfrm>
          <a:prstGeom prst="ellipse">
            <a:avLst/>
          </a:prstGeom>
          <a:noFill/>
          <a:ln w="19050" cap="sq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2363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solidFill>
                  <a:srgbClr val="0000FF"/>
                </a:solidFill>
              </a:rPr>
              <a:t>3.3 Demo #1: Initializing and Accessing Members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grpSp>
        <p:nvGrpSpPr>
          <p:cNvPr id="14" name="Group 10"/>
          <p:cNvGrpSpPr>
            <a:grpSpLocks/>
          </p:cNvGrpSpPr>
          <p:nvPr/>
        </p:nvGrpSpPr>
        <p:grpSpPr bwMode="auto">
          <a:xfrm>
            <a:off x="790575" y="1112838"/>
            <a:ext cx="7392133" cy="5323661"/>
            <a:chOff x="790833" y="1112923"/>
            <a:chExt cx="7392480" cy="5323015"/>
          </a:xfrm>
        </p:grpSpPr>
        <p:sp>
          <p:nvSpPr>
            <p:cNvPr id="20" name="TextBox 19"/>
            <p:cNvSpPr txBox="1"/>
            <p:nvPr/>
          </p:nvSpPr>
          <p:spPr>
            <a:xfrm>
              <a:off x="790833" y="1235145"/>
              <a:ext cx="7392480" cy="52007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4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#include </a:t>
              </a:r>
              <a:r>
                <a:rPr lang="en-US" sz="14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US" sz="14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stdio.h</a:t>
              </a:r>
              <a:r>
                <a:rPr lang="en-US" sz="14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4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#include </a:t>
              </a:r>
              <a:r>
                <a:rPr lang="en-US" sz="14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US" sz="14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string.h</a:t>
              </a:r>
              <a:r>
                <a:rPr lang="en-US" sz="14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typedef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struct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{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name[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12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];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 age;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gender;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endParaRPr lang="en-US" sz="12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main(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player1 = {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Brusco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23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'M' 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},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         player2;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endParaRPr lang="en-US" sz="1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strcpy</a:t>
              </a:r>
              <a:r>
                <a:rPr lang="en-US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(player2.name,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"July"</a:t>
              </a:r>
              <a:r>
                <a:rPr lang="en-US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player2.age =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21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player2.gender =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'F'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"player1: name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; age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; gender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%c\n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       player1.name, player1.age, player1.gender);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"player2: name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; age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; gender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%c\n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       player2.name, player2.age, player2.gender);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</a:t>
              </a:r>
              <a:endParaRPr lang="en-SG" sz="16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86810" y="1112923"/>
              <a:ext cx="1906866" cy="369842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dirty="0"/>
                <a:t>Unit19_Demo1.c</a:t>
              </a:r>
              <a:endParaRPr lang="en-SG" dirty="0"/>
            </a:p>
          </p:txBody>
        </p:sp>
      </p:grpSp>
      <p:grpSp>
        <p:nvGrpSpPr>
          <p:cNvPr id="22" name="Group 14"/>
          <p:cNvGrpSpPr>
            <a:grpSpLocks/>
          </p:cNvGrpSpPr>
          <p:nvPr/>
        </p:nvGrpSpPr>
        <p:grpSpPr bwMode="auto">
          <a:xfrm>
            <a:off x="3076576" y="1765004"/>
            <a:ext cx="1893776" cy="1154042"/>
            <a:chOff x="3077030" y="1764985"/>
            <a:chExt cx="1893776" cy="1154701"/>
          </a:xfrm>
        </p:grpSpPr>
        <p:sp>
          <p:nvSpPr>
            <p:cNvPr id="23" name="Right Brace 9"/>
            <p:cNvSpPr>
              <a:spLocks/>
            </p:cNvSpPr>
            <p:nvPr/>
          </p:nvSpPr>
          <p:spPr bwMode="auto">
            <a:xfrm>
              <a:off x="3077030" y="1764985"/>
              <a:ext cx="112101" cy="1154701"/>
            </a:xfrm>
            <a:prstGeom prst="rightBrace">
              <a:avLst>
                <a:gd name="adj1" fmla="val 40348"/>
                <a:gd name="adj2" fmla="val 52481"/>
              </a:avLst>
            </a:prstGeom>
            <a:noFill/>
            <a:ln w="1905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4" name="TextBox 23"/>
            <p:cNvSpPr txBox="1"/>
            <p:nvPr/>
          </p:nvSpPr>
          <p:spPr bwMode="auto">
            <a:xfrm>
              <a:off x="3272181" y="2171828"/>
              <a:ext cx="1698625" cy="3510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Type definition</a:t>
              </a:r>
              <a:endParaRPr lang="en-SG" sz="1600" dirty="0">
                <a:latin typeface="Arial" charset="0"/>
                <a:cs typeface="Arial" charset="0"/>
              </a:endParaRPr>
            </a:p>
          </p:txBody>
        </p:sp>
      </p:grpSp>
      <p:grpSp>
        <p:nvGrpSpPr>
          <p:cNvPr id="25" name="Group 19"/>
          <p:cNvGrpSpPr>
            <a:grpSpLocks/>
          </p:cNvGrpSpPr>
          <p:nvPr/>
        </p:nvGrpSpPr>
        <p:grpSpPr bwMode="auto">
          <a:xfrm>
            <a:off x="3947678" y="2878176"/>
            <a:ext cx="3999022" cy="686279"/>
            <a:chOff x="3398093" y="3174744"/>
            <a:chExt cx="3999455" cy="686056"/>
          </a:xfrm>
        </p:grpSpPr>
        <p:sp>
          <p:nvSpPr>
            <p:cNvPr id="26" name="Line Callout 2 (Border and Accent Bar) 25"/>
            <p:cNvSpPr/>
            <p:nvPr/>
          </p:nvSpPr>
          <p:spPr bwMode="auto">
            <a:xfrm>
              <a:off x="6114709" y="3174744"/>
              <a:ext cx="1282839" cy="406268"/>
            </a:xfrm>
            <a:prstGeom prst="accentBorderCallout2">
              <a:avLst>
                <a:gd name="adj1" fmla="val 18750"/>
                <a:gd name="adj2" fmla="val -8333"/>
                <a:gd name="adj3" fmla="val 20565"/>
                <a:gd name="adj4" fmla="val -25442"/>
                <a:gd name="adj5" fmla="val 107121"/>
                <a:gd name="adj6" fmla="val -5303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Initialization</a:t>
              </a:r>
              <a:endParaRPr lang="en-SG" sz="1600" dirty="0">
                <a:latin typeface="Arial" charset="0"/>
                <a:cs typeface="Arial" charset="0"/>
              </a:endParaRPr>
            </a:p>
          </p:txBody>
        </p:sp>
        <p:cxnSp>
          <p:nvCxnSpPr>
            <p:cNvPr id="27" name="Straight Connector 18"/>
            <p:cNvCxnSpPr>
              <a:cxnSpLocks noChangeShapeType="1"/>
            </p:cNvCxnSpPr>
            <p:nvPr/>
          </p:nvCxnSpPr>
          <p:spPr bwMode="auto">
            <a:xfrm>
              <a:off x="3398093" y="3860800"/>
              <a:ext cx="2007862" cy="0"/>
            </a:xfrm>
            <a:prstGeom prst="line">
              <a:avLst/>
            </a:prstGeom>
            <a:noFill/>
            <a:ln w="1905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</p:grpSp>
      <p:grpSp>
        <p:nvGrpSpPr>
          <p:cNvPr id="28" name="Group 27"/>
          <p:cNvGrpSpPr/>
          <p:nvPr/>
        </p:nvGrpSpPr>
        <p:grpSpPr>
          <a:xfrm>
            <a:off x="1354853" y="4145156"/>
            <a:ext cx="5854839" cy="1683073"/>
            <a:chOff x="1354853" y="4145156"/>
            <a:chExt cx="5854839" cy="1683073"/>
          </a:xfrm>
        </p:grpSpPr>
        <p:sp>
          <p:nvSpPr>
            <p:cNvPr id="29" name="Line Callout 2 (Border and Accent Bar) 28"/>
            <p:cNvSpPr/>
            <p:nvPr/>
          </p:nvSpPr>
          <p:spPr bwMode="auto">
            <a:xfrm>
              <a:off x="5544949" y="4145156"/>
              <a:ext cx="1282700" cy="626139"/>
            </a:xfrm>
            <a:prstGeom prst="accentBorderCallout2">
              <a:avLst>
                <a:gd name="adj1" fmla="val 74231"/>
                <a:gd name="adj2" fmla="val -4459"/>
                <a:gd name="adj3" fmla="val 72669"/>
                <a:gd name="adj4" fmla="val -32231"/>
                <a:gd name="adj5" fmla="val 12650"/>
                <a:gd name="adj6" fmla="val -14419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Accessing members</a:t>
              </a:r>
              <a:endParaRPr lang="en-SG" sz="1600" dirty="0">
                <a:latin typeface="Arial" charset="0"/>
                <a:cs typeface="Arial" charset="0"/>
              </a:endParaRPr>
            </a:p>
          </p:txBody>
        </p:sp>
        <p:cxnSp>
          <p:nvCxnSpPr>
            <p:cNvPr id="30" name="Straight Connector 21"/>
            <p:cNvCxnSpPr>
              <a:cxnSpLocks noChangeShapeType="1"/>
            </p:cNvCxnSpPr>
            <p:nvPr/>
          </p:nvCxnSpPr>
          <p:spPr bwMode="auto">
            <a:xfrm>
              <a:off x="2124110" y="5353283"/>
              <a:ext cx="5062136" cy="0"/>
            </a:xfrm>
            <a:prstGeom prst="line">
              <a:avLst/>
            </a:prstGeom>
            <a:noFill/>
            <a:ln w="1905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" name="Straight Connector 23"/>
            <p:cNvCxnSpPr>
              <a:cxnSpLocks noChangeShapeType="1"/>
            </p:cNvCxnSpPr>
            <p:nvPr/>
          </p:nvCxnSpPr>
          <p:spPr bwMode="auto">
            <a:xfrm>
              <a:off x="2124110" y="5828229"/>
              <a:ext cx="5085582" cy="0"/>
            </a:xfrm>
            <a:prstGeom prst="line">
              <a:avLst/>
            </a:prstGeom>
            <a:noFill/>
            <a:ln w="1905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2" name="Straight Connector 26"/>
            <p:cNvCxnSpPr>
              <a:cxnSpLocks noChangeShapeType="1"/>
            </p:cNvCxnSpPr>
            <p:nvPr/>
          </p:nvCxnSpPr>
          <p:spPr bwMode="auto">
            <a:xfrm>
              <a:off x="2145882" y="4232628"/>
              <a:ext cx="1499995" cy="0"/>
            </a:xfrm>
            <a:prstGeom prst="line">
              <a:avLst/>
            </a:prstGeom>
            <a:noFill/>
            <a:ln w="1905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3" name="Straight Connector 27"/>
            <p:cNvCxnSpPr>
              <a:cxnSpLocks noChangeShapeType="1"/>
            </p:cNvCxnSpPr>
            <p:nvPr/>
          </p:nvCxnSpPr>
          <p:spPr bwMode="auto">
            <a:xfrm>
              <a:off x="1367511" y="4463686"/>
              <a:ext cx="1328797" cy="0"/>
            </a:xfrm>
            <a:prstGeom prst="line">
              <a:avLst/>
            </a:prstGeom>
            <a:noFill/>
            <a:ln w="1905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4" name="Straight Connector 28"/>
            <p:cNvCxnSpPr>
              <a:cxnSpLocks noChangeShapeType="1"/>
            </p:cNvCxnSpPr>
            <p:nvPr/>
          </p:nvCxnSpPr>
          <p:spPr bwMode="auto">
            <a:xfrm>
              <a:off x="1354853" y="4710361"/>
              <a:ext cx="1716593" cy="0"/>
            </a:xfrm>
            <a:prstGeom prst="line">
              <a:avLst/>
            </a:prstGeom>
            <a:noFill/>
            <a:ln w="1905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</p:grpSp>
      <p:sp>
        <p:nvSpPr>
          <p:cNvPr id="35" name="TextBox 34"/>
          <p:cNvSpPr txBox="1"/>
          <p:nvPr/>
        </p:nvSpPr>
        <p:spPr>
          <a:xfrm>
            <a:off x="3338513" y="1524000"/>
            <a:ext cx="5616575" cy="58420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player1: name =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Brusco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 age = 23; gender = M</a:t>
            </a:r>
          </a:p>
          <a:p>
            <a:pPr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player2: name = July; age = 21; gender = F</a:t>
            </a:r>
            <a:endParaRPr lang="en-SG" sz="16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4449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3.4 Reading a Structure Member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33425" y="1460500"/>
            <a:ext cx="7834313" cy="129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structure members are read in individually the same way as we do for ordinary variables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Example:</a:t>
            </a:r>
            <a:endParaRPr lang="en-US" sz="2000" dirty="0"/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1373188" y="2889250"/>
            <a:ext cx="6708775" cy="2074863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</a:rPr>
              <a:t>player_t</a:t>
            </a:r>
            <a:r>
              <a:rPr lang="en-US" sz="2000" b="1" dirty="0">
                <a:latin typeface="Courier New" pitchFamily="49" charset="0"/>
              </a:rPr>
              <a:t> player1;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endParaRPr lang="en-US" sz="2000" b="1" dirty="0">
              <a:latin typeface="Courier New" pitchFamily="49" charset="0"/>
            </a:endParaRP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latin typeface="Courier New" pitchFamily="49" charset="0"/>
              </a:rPr>
              <a:t>printf</a:t>
            </a:r>
            <a:r>
              <a:rPr lang="en-US" sz="2000" b="1" dirty="0">
                <a:latin typeface="Courier New" pitchFamily="49" charset="0"/>
              </a:rPr>
              <a:t>("Enter name, age and gender: ");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endParaRPr lang="en-US" sz="2000" b="1" dirty="0">
              <a:latin typeface="Courier New" pitchFamily="49" charset="0"/>
            </a:endParaRP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latin typeface="Courier New" pitchFamily="49" charset="0"/>
              </a:rPr>
              <a:t>scanf</a:t>
            </a:r>
            <a:r>
              <a:rPr lang="en-US" sz="2000" b="1" dirty="0">
                <a:latin typeface="Courier New" pitchFamily="49" charset="0"/>
              </a:rPr>
              <a:t>("%s %d %c", player1.name, 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      &amp;player1.age, &amp;player1.gender);</a:t>
            </a:r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733425" y="5108575"/>
            <a:ext cx="78343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Why is there no need for </a:t>
            </a:r>
            <a:r>
              <a:rPr lang="en-US" sz="2400" dirty="0">
                <a:solidFill>
                  <a:srgbClr val="C00000"/>
                </a:solidFill>
              </a:rPr>
              <a:t>&amp;</a:t>
            </a:r>
            <a:r>
              <a:rPr lang="en-US" sz="2400" dirty="0"/>
              <a:t> to read in player1’s name?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021509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4. Assigning Structures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33425" y="1309256"/>
            <a:ext cx="7834313" cy="209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We use the </a:t>
            </a:r>
            <a:r>
              <a:rPr lang="en-US" sz="2400" dirty="0">
                <a:solidFill>
                  <a:srgbClr val="0000FF"/>
                </a:solidFill>
              </a:rPr>
              <a:t>dot operator 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r>
              <a:rPr lang="en-US" sz="2400" dirty="0"/>
              <a:t>) to access individual member of a structure variable.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If we use the structure variable’s name, we are referring to the </a:t>
            </a:r>
            <a:r>
              <a:rPr lang="en-US" sz="2400" u="sng" dirty="0"/>
              <a:t>entire structure</a:t>
            </a:r>
            <a:r>
              <a:rPr lang="en-US" sz="2400" dirty="0"/>
              <a:t>. 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Unlike arrays, we may do assignments with structures</a:t>
            </a:r>
            <a:endParaRPr lang="en-US" sz="2000" dirty="0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25670" y="3578370"/>
            <a:ext cx="3170237" cy="4064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latin typeface="Courier New" pitchFamily="49" charset="0"/>
                <a:cs typeface="Arial" charset="0"/>
              </a:rPr>
              <a:t>player2 = player1;</a:t>
            </a:r>
          </a:p>
          <a:p>
            <a:pPr marL="342900" indent="-342900">
              <a:defRPr/>
            </a:pPr>
            <a:endParaRPr lang="en-US" sz="2400" b="1" dirty="0">
              <a:solidFill>
                <a:srgbClr val="000000"/>
              </a:solidFill>
              <a:latin typeface="Courier New" pitchFamily="49" charset="0"/>
              <a:cs typeface="Arial" charset="0"/>
            </a:endParaRPr>
          </a:p>
        </p:txBody>
      </p:sp>
      <p:grpSp>
        <p:nvGrpSpPr>
          <p:cNvPr id="11" name="Group 66"/>
          <p:cNvGrpSpPr>
            <a:grpSpLocks/>
          </p:cNvGrpSpPr>
          <p:nvPr/>
        </p:nvGrpSpPr>
        <p:grpSpPr bwMode="auto">
          <a:xfrm>
            <a:off x="711200" y="4106863"/>
            <a:ext cx="3852863" cy="2112962"/>
            <a:chOff x="711200" y="4107543"/>
            <a:chExt cx="3853545" cy="2111828"/>
          </a:xfrm>
        </p:grpSpPr>
        <p:grpSp>
          <p:nvGrpSpPr>
            <p:cNvPr id="13" name="Group 26"/>
            <p:cNvGrpSpPr>
              <a:grpSpLocks/>
            </p:cNvGrpSpPr>
            <p:nvPr/>
          </p:nvGrpSpPr>
          <p:grpSpPr bwMode="auto">
            <a:xfrm>
              <a:off x="975563" y="4389664"/>
              <a:ext cx="3589182" cy="893536"/>
              <a:chOff x="2492305" y="4636407"/>
              <a:chExt cx="3589182" cy="893536"/>
            </a:xfrm>
          </p:grpSpPr>
          <p:sp>
            <p:nvSpPr>
              <p:cNvPr id="28" name="Rectangle 27"/>
              <p:cNvSpPr/>
              <p:nvPr/>
            </p:nvSpPr>
            <p:spPr bwMode="auto">
              <a:xfrm>
                <a:off x="2934505" y="5142850"/>
                <a:ext cx="1687811" cy="333196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 bwMode="auto">
              <a:xfrm>
                <a:off x="4800147" y="5142850"/>
                <a:ext cx="495388" cy="333196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 bwMode="auto">
              <a:xfrm>
                <a:off x="5470191" y="5142850"/>
                <a:ext cx="365190" cy="328437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31" name="TextBox 62"/>
              <p:cNvSpPr txBox="1">
                <a:spLocks noChangeArrowheads="1"/>
              </p:cNvSpPr>
              <p:nvPr/>
            </p:nvSpPr>
            <p:spPr bwMode="auto">
              <a:xfrm>
                <a:off x="2839388" y="4882926"/>
                <a:ext cx="827916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name</a:t>
                </a:r>
                <a:endParaRPr lang="en-SG" sz="1400"/>
              </a:p>
            </p:txBody>
          </p:sp>
          <p:sp>
            <p:nvSpPr>
              <p:cNvPr id="32" name="TextBox 63"/>
              <p:cNvSpPr txBox="1">
                <a:spLocks noChangeArrowheads="1"/>
              </p:cNvSpPr>
              <p:nvPr/>
            </p:nvSpPr>
            <p:spPr bwMode="auto">
              <a:xfrm>
                <a:off x="4694749" y="4882926"/>
                <a:ext cx="70456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age</a:t>
                </a:r>
                <a:endParaRPr lang="en-SG" sz="1400"/>
              </a:p>
            </p:txBody>
          </p:sp>
          <p:sp>
            <p:nvSpPr>
              <p:cNvPr id="33" name="TextBox 64"/>
              <p:cNvSpPr txBox="1">
                <a:spLocks noChangeArrowheads="1"/>
              </p:cNvSpPr>
              <p:nvPr/>
            </p:nvSpPr>
            <p:spPr bwMode="auto">
              <a:xfrm>
                <a:off x="5251663" y="4882926"/>
                <a:ext cx="827916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gender</a:t>
                </a:r>
                <a:endParaRPr lang="en-SG" sz="1400"/>
              </a:p>
            </p:txBody>
          </p:sp>
          <p:sp>
            <p:nvSpPr>
              <p:cNvPr id="34" name="TextBox 65"/>
              <p:cNvSpPr txBox="1">
                <a:spLocks noChangeArrowheads="1"/>
              </p:cNvSpPr>
              <p:nvPr/>
            </p:nvSpPr>
            <p:spPr bwMode="auto">
              <a:xfrm>
                <a:off x="2492305" y="4636407"/>
                <a:ext cx="803882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player1</a:t>
                </a:r>
                <a:endParaRPr lang="en-SG" sz="1400"/>
              </a:p>
            </p:txBody>
          </p:sp>
          <p:sp>
            <p:nvSpPr>
              <p:cNvPr id="35" name="Rectangle 66"/>
              <p:cNvSpPr>
                <a:spLocks noChangeArrowheads="1"/>
              </p:cNvSpPr>
              <p:nvPr/>
            </p:nvSpPr>
            <p:spPr bwMode="auto">
              <a:xfrm>
                <a:off x="2733471" y="4949371"/>
                <a:ext cx="3348016" cy="580572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6" name="TextBox 22"/>
              <p:cNvSpPr txBox="1">
                <a:spLocks noChangeArrowheads="1"/>
              </p:cNvSpPr>
              <p:nvPr/>
            </p:nvSpPr>
            <p:spPr bwMode="auto">
              <a:xfrm>
                <a:off x="2989943" y="5109029"/>
                <a:ext cx="126274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dirty="0"/>
                  <a:t>"</a:t>
                </a:r>
                <a:r>
                  <a:rPr lang="en-US" dirty="0" err="1"/>
                  <a:t>Brusco</a:t>
                </a:r>
                <a:r>
                  <a:rPr lang="en-US" dirty="0"/>
                  <a:t>"</a:t>
                </a:r>
                <a:endParaRPr lang="en-SG" dirty="0"/>
              </a:p>
            </p:txBody>
          </p:sp>
          <p:sp>
            <p:nvSpPr>
              <p:cNvPr id="37" name="TextBox 24"/>
              <p:cNvSpPr txBox="1">
                <a:spLocks noChangeArrowheads="1"/>
              </p:cNvSpPr>
              <p:nvPr/>
            </p:nvSpPr>
            <p:spPr bwMode="auto">
              <a:xfrm>
                <a:off x="4826001" y="5130801"/>
                <a:ext cx="4572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23</a:t>
                </a:r>
                <a:endParaRPr lang="en-SG"/>
              </a:p>
            </p:txBody>
          </p:sp>
          <p:sp>
            <p:nvSpPr>
              <p:cNvPr id="38" name="TextBox 25"/>
              <p:cNvSpPr txBox="1">
                <a:spLocks noChangeArrowheads="1"/>
              </p:cNvSpPr>
              <p:nvPr/>
            </p:nvSpPr>
            <p:spPr bwMode="auto">
              <a:xfrm>
                <a:off x="5428344" y="5130801"/>
                <a:ext cx="47897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dirty="0"/>
                  <a:t>'M'</a:t>
                </a:r>
                <a:endParaRPr lang="en-SG" dirty="0"/>
              </a:p>
            </p:txBody>
          </p:sp>
        </p:grpSp>
        <p:grpSp>
          <p:nvGrpSpPr>
            <p:cNvPr id="15" name="Group 27"/>
            <p:cNvGrpSpPr>
              <a:grpSpLocks/>
            </p:cNvGrpSpPr>
            <p:nvPr/>
          </p:nvGrpSpPr>
          <p:grpSpPr bwMode="auto">
            <a:xfrm>
              <a:off x="975563" y="5325835"/>
              <a:ext cx="3589182" cy="893536"/>
              <a:chOff x="2492305" y="4636407"/>
              <a:chExt cx="3589182" cy="893536"/>
            </a:xfrm>
          </p:grpSpPr>
          <p:sp>
            <p:nvSpPr>
              <p:cNvPr id="17" name="Rectangle 16"/>
              <p:cNvSpPr/>
              <p:nvPr/>
            </p:nvSpPr>
            <p:spPr bwMode="auto">
              <a:xfrm>
                <a:off x="2934505" y="5142801"/>
                <a:ext cx="1687811" cy="333196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 bwMode="auto">
              <a:xfrm>
                <a:off x="4800147" y="5142801"/>
                <a:ext cx="495388" cy="333196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 bwMode="auto">
              <a:xfrm>
                <a:off x="5470191" y="5142801"/>
                <a:ext cx="365190" cy="328437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20" name="TextBox 62"/>
              <p:cNvSpPr txBox="1">
                <a:spLocks noChangeArrowheads="1"/>
              </p:cNvSpPr>
              <p:nvPr/>
            </p:nvSpPr>
            <p:spPr bwMode="auto">
              <a:xfrm>
                <a:off x="2839388" y="4882926"/>
                <a:ext cx="827916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name</a:t>
                </a:r>
                <a:endParaRPr lang="en-SG" sz="1400"/>
              </a:p>
            </p:txBody>
          </p:sp>
          <p:sp>
            <p:nvSpPr>
              <p:cNvPr id="21" name="TextBox 63"/>
              <p:cNvSpPr txBox="1">
                <a:spLocks noChangeArrowheads="1"/>
              </p:cNvSpPr>
              <p:nvPr/>
            </p:nvSpPr>
            <p:spPr bwMode="auto">
              <a:xfrm>
                <a:off x="4694749" y="4882926"/>
                <a:ext cx="70456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age</a:t>
                </a:r>
                <a:endParaRPr lang="en-SG" sz="1400"/>
              </a:p>
            </p:txBody>
          </p:sp>
          <p:sp>
            <p:nvSpPr>
              <p:cNvPr id="22" name="TextBox 64"/>
              <p:cNvSpPr txBox="1">
                <a:spLocks noChangeArrowheads="1"/>
              </p:cNvSpPr>
              <p:nvPr/>
            </p:nvSpPr>
            <p:spPr bwMode="auto">
              <a:xfrm>
                <a:off x="5251663" y="4882926"/>
                <a:ext cx="827916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gender</a:t>
                </a:r>
                <a:endParaRPr lang="en-SG" sz="1400"/>
              </a:p>
            </p:txBody>
          </p:sp>
          <p:sp>
            <p:nvSpPr>
              <p:cNvPr id="23" name="TextBox 65"/>
              <p:cNvSpPr txBox="1">
                <a:spLocks noChangeArrowheads="1"/>
              </p:cNvSpPr>
              <p:nvPr/>
            </p:nvSpPr>
            <p:spPr bwMode="auto">
              <a:xfrm>
                <a:off x="2492305" y="4636407"/>
                <a:ext cx="803882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player2</a:t>
                </a:r>
                <a:endParaRPr lang="en-SG" sz="1400"/>
              </a:p>
            </p:txBody>
          </p:sp>
          <p:sp>
            <p:nvSpPr>
              <p:cNvPr id="24" name="Rectangle 66"/>
              <p:cNvSpPr>
                <a:spLocks noChangeArrowheads="1"/>
              </p:cNvSpPr>
              <p:nvPr/>
            </p:nvSpPr>
            <p:spPr bwMode="auto">
              <a:xfrm>
                <a:off x="2733471" y="4949371"/>
                <a:ext cx="3348016" cy="580572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5" name="TextBox 37"/>
              <p:cNvSpPr txBox="1">
                <a:spLocks noChangeArrowheads="1"/>
              </p:cNvSpPr>
              <p:nvPr/>
            </p:nvSpPr>
            <p:spPr bwMode="auto">
              <a:xfrm>
                <a:off x="2989943" y="5109029"/>
                <a:ext cx="126274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"July"</a:t>
                </a:r>
                <a:endParaRPr lang="en-SG"/>
              </a:p>
            </p:txBody>
          </p:sp>
          <p:sp>
            <p:nvSpPr>
              <p:cNvPr id="26" name="TextBox 38"/>
              <p:cNvSpPr txBox="1">
                <a:spLocks noChangeArrowheads="1"/>
              </p:cNvSpPr>
              <p:nvPr/>
            </p:nvSpPr>
            <p:spPr bwMode="auto">
              <a:xfrm>
                <a:off x="4826001" y="5130801"/>
                <a:ext cx="4572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21</a:t>
                </a:r>
                <a:endParaRPr lang="en-SG"/>
              </a:p>
            </p:txBody>
          </p:sp>
          <p:sp>
            <p:nvSpPr>
              <p:cNvPr id="27" name="TextBox 39"/>
              <p:cNvSpPr txBox="1">
                <a:spLocks noChangeArrowheads="1"/>
              </p:cNvSpPr>
              <p:nvPr/>
            </p:nvSpPr>
            <p:spPr bwMode="auto">
              <a:xfrm>
                <a:off x="5430995" y="5130801"/>
                <a:ext cx="47897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'F'</a:t>
                </a:r>
                <a:endParaRPr lang="en-SG"/>
              </a:p>
            </p:txBody>
          </p:sp>
        </p:grpSp>
        <p:sp>
          <p:nvSpPr>
            <p:cNvPr id="16" name="TextBox 40"/>
            <p:cNvSpPr txBox="1">
              <a:spLocks noChangeArrowheads="1"/>
            </p:cNvSpPr>
            <p:nvPr/>
          </p:nvSpPr>
          <p:spPr bwMode="auto">
            <a:xfrm>
              <a:off x="711200" y="4107543"/>
              <a:ext cx="10305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i="1">
                  <a:solidFill>
                    <a:srgbClr val="0000FF"/>
                  </a:solidFill>
                </a:rPr>
                <a:t>Before:</a:t>
              </a:r>
              <a:endParaRPr lang="en-SG" i="1">
                <a:solidFill>
                  <a:srgbClr val="0000FF"/>
                </a:solidFill>
              </a:endParaRPr>
            </a:p>
          </p:txBody>
        </p:sp>
      </p:grpSp>
      <p:grpSp>
        <p:nvGrpSpPr>
          <p:cNvPr id="39" name="Group 67"/>
          <p:cNvGrpSpPr>
            <a:grpSpLocks/>
          </p:cNvGrpSpPr>
          <p:nvPr/>
        </p:nvGrpSpPr>
        <p:grpSpPr bwMode="auto">
          <a:xfrm>
            <a:off x="4826000" y="4173538"/>
            <a:ext cx="3852863" cy="2111375"/>
            <a:chOff x="4826000" y="4172857"/>
            <a:chExt cx="3853545" cy="2111828"/>
          </a:xfrm>
        </p:grpSpPr>
        <p:grpSp>
          <p:nvGrpSpPr>
            <p:cNvPr id="40" name="Group 41"/>
            <p:cNvGrpSpPr>
              <a:grpSpLocks/>
            </p:cNvGrpSpPr>
            <p:nvPr/>
          </p:nvGrpSpPr>
          <p:grpSpPr bwMode="auto">
            <a:xfrm>
              <a:off x="5090363" y="4454978"/>
              <a:ext cx="3589182" cy="893536"/>
              <a:chOff x="2492305" y="4636407"/>
              <a:chExt cx="3589182" cy="893536"/>
            </a:xfrm>
          </p:grpSpPr>
          <p:sp>
            <p:nvSpPr>
              <p:cNvPr id="54" name="Rectangle 53"/>
              <p:cNvSpPr/>
              <p:nvPr/>
            </p:nvSpPr>
            <p:spPr bwMode="auto">
              <a:xfrm>
                <a:off x="2934505" y="5141856"/>
                <a:ext cx="1687811" cy="333447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55" name="Rectangle 54"/>
              <p:cNvSpPr/>
              <p:nvPr/>
            </p:nvSpPr>
            <p:spPr bwMode="auto">
              <a:xfrm>
                <a:off x="4800147" y="5141856"/>
                <a:ext cx="495388" cy="333447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56" name="Rectangle 55"/>
              <p:cNvSpPr/>
              <p:nvPr/>
            </p:nvSpPr>
            <p:spPr bwMode="auto">
              <a:xfrm>
                <a:off x="5470191" y="5141856"/>
                <a:ext cx="365190" cy="328683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57" name="TextBox 62"/>
              <p:cNvSpPr txBox="1">
                <a:spLocks noChangeArrowheads="1"/>
              </p:cNvSpPr>
              <p:nvPr/>
            </p:nvSpPr>
            <p:spPr bwMode="auto">
              <a:xfrm>
                <a:off x="2839388" y="4882926"/>
                <a:ext cx="827916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name</a:t>
                </a:r>
                <a:endParaRPr lang="en-SG" sz="1400"/>
              </a:p>
            </p:txBody>
          </p:sp>
          <p:sp>
            <p:nvSpPr>
              <p:cNvPr id="58" name="TextBox 63"/>
              <p:cNvSpPr txBox="1">
                <a:spLocks noChangeArrowheads="1"/>
              </p:cNvSpPr>
              <p:nvPr/>
            </p:nvSpPr>
            <p:spPr bwMode="auto">
              <a:xfrm>
                <a:off x="4694749" y="4882926"/>
                <a:ext cx="70456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age</a:t>
                </a:r>
                <a:endParaRPr lang="en-SG" sz="1400"/>
              </a:p>
            </p:txBody>
          </p:sp>
          <p:sp>
            <p:nvSpPr>
              <p:cNvPr id="59" name="TextBox 64"/>
              <p:cNvSpPr txBox="1">
                <a:spLocks noChangeArrowheads="1"/>
              </p:cNvSpPr>
              <p:nvPr/>
            </p:nvSpPr>
            <p:spPr bwMode="auto">
              <a:xfrm>
                <a:off x="5251663" y="4882926"/>
                <a:ext cx="827916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gender</a:t>
                </a:r>
                <a:endParaRPr lang="en-SG" sz="1400"/>
              </a:p>
            </p:txBody>
          </p:sp>
          <p:sp>
            <p:nvSpPr>
              <p:cNvPr id="60" name="TextBox 65"/>
              <p:cNvSpPr txBox="1">
                <a:spLocks noChangeArrowheads="1"/>
              </p:cNvSpPr>
              <p:nvPr/>
            </p:nvSpPr>
            <p:spPr bwMode="auto">
              <a:xfrm>
                <a:off x="2492305" y="4636407"/>
                <a:ext cx="803882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player1</a:t>
                </a:r>
                <a:endParaRPr lang="en-SG" sz="1400"/>
              </a:p>
            </p:txBody>
          </p:sp>
          <p:sp>
            <p:nvSpPr>
              <p:cNvPr id="61" name="Rectangle 66"/>
              <p:cNvSpPr>
                <a:spLocks noChangeArrowheads="1"/>
              </p:cNvSpPr>
              <p:nvPr/>
            </p:nvSpPr>
            <p:spPr bwMode="auto">
              <a:xfrm>
                <a:off x="2733471" y="4949371"/>
                <a:ext cx="3348016" cy="580572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62" name="TextBox 50"/>
              <p:cNvSpPr txBox="1">
                <a:spLocks noChangeArrowheads="1"/>
              </p:cNvSpPr>
              <p:nvPr/>
            </p:nvSpPr>
            <p:spPr bwMode="auto">
              <a:xfrm>
                <a:off x="2989943" y="5109029"/>
                <a:ext cx="126274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"Brusco"</a:t>
                </a:r>
                <a:endParaRPr lang="en-SG"/>
              </a:p>
            </p:txBody>
          </p:sp>
          <p:sp>
            <p:nvSpPr>
              <p:cNvPr id="63" name="TextBox 51"/>
              <p:cNvSpPr txBox="1">
                <a:spLocks noChangeArrowheads="1"/>
              </p:cNvSpPr>
              <p:nvPr/>
            </p:nvSpPr>
            <p:spPr bwMode="auto">
              <a:xfrm>
                <a:off x="4826001" y="5130801"/>
                <a:ext cx="4572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23</a:t>
                </a:r>
                <a:endParaRPr lang="en-SG"/>
              </a:p>
            </p:txBody>
          </p:sp>
          <p:sp>
            <p:nvSpPr>
              <p:cNvPr id="64" name="TextBox 52"/>
              <p:cNvSpPr txBox="1">
                <a:spLocks noChangeArrowheads="1"/>
              </p:cNvSpPr>
              <p:nvPr/>
            </p:nvSpPr>
            <p:spPr bwMode="auto">
              <a:xfrm>
                <a:off x="5426134" y="5139604"/>
                <a:ext cx="47897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dirty="0"/>
                  <a:t>'M'</a:t>
                </a:r>
                <a:endParaRPr lang="en-SG" dirty="0"/>
              </a:p>
            </p:txBody>
          </p:sp>
        </p:grpSp>
        <p:grpSp>
          <p:nvGrpSpPr>
            <p:cNvPr id="41" name="Group 53"/>
            <p:cNvGrpSpPr>
              <a:grpSpLocks/>
            </p:cNvGrpSpPr>
            <p:nvPr/>
          </p:nvGrpSpPr>
          <p:grpSpPr bwMode="auto">
            <a:xfrm>
              <a:off x="5090363" y="5391149"/>
              <a:ext cx="3589182" cy="893536"/>
              <a:chOff x="2492305" y="4636407"/>
              <a:chExt cx="3589182" cy="893536"/>
            </a:xfrm>
          </p:grpSpPr>
          <p:sp>
            <p:nvSpPr>
              <p:cNvPr id="43" name="Rectangle 42"/>
              <p:cNvSpPr/>
              <p:nvPr/>
            </p:nvSpPr>
            <p:spPr bwMode="auto">
              <a:xfrm>
                <a:off x="2934505" y="5142510"/>
                <a:ext cx="1687811" cy="333447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44" name="Rectangle 43"/>
              <p:cNvSpPr/>
              <p:nvPr/>
            </p:nvSpPr>
            <p:spPr bwMode="auto">
              <a:xfrm>
                <a:off x="4800147" y="5142510"/>
                <a:ext cx="495388" cy="333447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45" name="Rectangle 44"/>
              <p:cNvSpPr/>
              <p:nvPr/>
            </p:nvSpPr>
            <p:spPr bwMode="auto">
              <a:xfrm>
                <a:off x="5470191" y="5142510"/>
                <a:ext cx="365190" cy="328683"/>
              </a:xfrm>
              <a:prstGeom prst="rect">
                <a:avLst/>
              </a:prstGeom>
              <a:noFill/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SG">
                  <a:latin typeface="Arial" charset="0"/>
                  <a:cs typeface="Arial" charset="0"/>
                </a:endParaRPr>
              </a:p>
            </p:txBody>
          </p:sp>
          <p:sp>
            <p:nvSpPr>
              <p:cNvPr id="46" name="TextBox 62"/>
              <p:cNvSpPr txBox="1">
                <a:spLocks noChangeArrowheads="1"/>
              </p:cNvSpPr>
              <p:nvPr/>
            </p:nvSpPr>
            <p:spPr bwMode="auto">
              <a:xfrm>
                <a:off x="2839388" y="4882926"/>
                <a:ext cx="827916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name</a:t>
                </a:r>
                <a:endParaRPr lang="en-SG" sz="1400"/>
              </a:p>
            </p:txBody>
          </p:sp>
          <p:sp>
            <p:nvSpPr>
              <p:cNvPr id="47" name="TextBox 63"/>
              <p:cNvSpPr txBox="1">
                <a:spLocks noChangeArrowheads="1"/>
              </p:cNvSpPr>
              <p:nvPr/>
            </p:nvSpPr>
            <p:spPr bwMode="auto">
              <a:xfrm>
                <a:off x="4694749" y="4882926"/>
                <a:ext cx="704566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age</a:t>
                </a:r>
                <a:endParaRPr lang="en-SG" sz="1400"/>
              </a:p>
            </p:txBody>
          </p:sp>
          <p:sp>
            <p:nvSpPr>
              <p:cNvPr id="48" name="TextBox 64"/>
              <p:cNvSpPr txBox="1">
                <a:spLocks noChangeArrowheads="1"/>
              </p:cNvSpPr>
              <p:nvPr/>
            </p:nvSpPr>
            <p:spPr bwMode="auto">
              <a:xfrm>
                <a:off x="5251663" y="4882926"/>
                <a:ext cx="827916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gender</a:t>
                </a:r>
                <a:endParaRPr lang="en-SG" sz="1400"/>
              </a:p>
            </p:txBody>
          </p:sp>
          <p:sp>
            <p:nvSpPr>
              <p:cNvPr id="49" name="TextBox 65"/>
              <p:cNvSpPr txBox="1">
                <a:spLocks noChangeArrowheads="1"/>
              </p:cNvSpPr>
              <p:nvPr/>
            </p:nvSpPr>
            <p:spPr bwMode="auto">
              <a:xfrm>
                <a:off x="2492305" y="4636407"/>
                <a:ext cx="803882" cy="3075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/>
                  <a:t>player2</a:t>
                </a:r>
                <a:endParaRPr lang="en-SG" sz="1400"/>
              </a:p>
            </p:txBody>
          </p:sp>
          <p:sp>
            <p:nvSpPr>
              <p:cNvPr id="50" name="Rectangle 66"/>
              <p:cNvSpPr>
                <a:spLocks noChangeArrowheads="1"/>
              </p:cNvSpPr>
              <p:nvPr/>
            </p:nvSpPr>
            <p:spPr bwMode="auto">
              <a:xfrm>
                <a:off x="2733471" y="4949371"/>
                <a:ext cx="3348016" cy="580572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1" name="TextBox 62"/>
              <p:cNvSpPr txBox="1">
                <a:spLocks noChangeArrowheads="1"/>
              </p:cNvSpPr>
              <p:nvPr/>
            </p:nvSpPr>
            <p:spPr bwMode="auto">
              <a:xfrm>
                <a:off x="2989943" y="5109029"/>
                <a:ext cx="126274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"Brusco"</a:t>
                </a:r>
                <a:endParaRPr lang="en-SG"/>
              </a:p>
            </p:txBody>
          </p:sp>
          <p:sp>
            <p:nvSpPr>
              <p:cNvPr id="52" name="TextBox 63"/>
              <p:cNvSpPr txBox="1">
                <a:spLocks noChangeArrowheads="1"/>
              </p:cNvSpPr>
              <p:nvPr/>
            </p:nvSpPr>
            <p:spPr bwMode="auto">
              <a:xfrm>
                <a:off x="4826001" y="5130801"/>
                <a:ext cx="45720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/>
                  <a:t>23</a:t>
                </a:r>
                <a:endParaRPr lang="en-SG"/>
              </a:p>
            </p:txBody>
          </p:sp>
          <p:sp>
            <p:nvSpPr>
              <p:cNvPr id="53" name="TextBox 64"/>
              <p:cNvSpPr txBox="1">
                <a:spLocks noChangeArrowheads="1"/>
              </p:cNvSpPr>
              <p:nvPr/>
            </p:nvSpPr>
            <p:spPr bwMode="auto">
              <a:xfrm>
                <a:off x="5426133" y="5138059"/>
                <a:ext cx="47897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dirty="0"/>
                  <a:t>'M'</a:t>
                </a:r>
                <a:endParaRPr lang="en-SG" dirty="0"/>
              </a:p>
            </p:txBody>
          </p:sp>
        </p:grpSp>
        <p:sp>
          <p:nvSpPr>
            <p:cNvPr id="42" name="TextBox 65"/>
            <p:cNvSpPr txBox="1">
              <a:spLocks noChangeArrowheads="1"/>
            </p:cNvSpPr>
            <p:nvPr/>
          </p:nvSpPr>
          <p:spPr bwMode="auto">
            <a:xfrm>
              <a:off x="4826000" y="4172857"/>
              <a:ext cx="10305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i="1">
                  <a:solidFill>
                    <a:srgbClr val="0000FF"/>
                  </a:solidFill>
                </a:rPr>
                <a:t>After:</a:t>
              </a:r>
              <a:endParaRPr lang="en-SG" i="1">
                <a:solidFill>
                  <a:srgbClr val="0000FF"/>
                </a:solidFill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4329547" y="3398261"/>
            <a:ext cx="4565072" cy="747712"/>
            <a:chOff x="4329547" y="3439824"/>
            <a:chExt cx="4565072" cy="747712"/>
          </a:xfrm>
        </p:grpSpPr>
        <p:sp>
          <p:nvSpPr>
            <p:cNvPr id="66" name="Rectangle 8"/>
            <p:cNvSpPr>
              <a:spLocks noChangeArrowheads="1"/>
            </p:cNvSpPr>
            <p:nvPr/>
          </p:nvSpPr>
          <p:spPr bwMode="auto">
            <a:xfrm>
              <a:off x="4821383" y="3439824"/>
              <a:ext cx="4073236" cy="747712"/>
            </a:xfrm>
            <a:prstGeom prst="rect">
              <a:avLst/>
            </a:prstGeom>
            <a:solidFill>
              <a:srgbClr val="FFFFCC"/>
            </a:solidFill>
            <a:ln w="25400" algn="ctr">
              <a:solidFill>
                <a:srgbClr val="8A8AB9"/>
              </a:solidFill>
              <a:miter lim="800000"/>
              <a:headEnd/>
              <a:tailEnd/>
            </a:ln>
            <a:effectLst>
              <a:outerShdw dist="38100" dir="2700000" algn="tl" rotWithShape="0">
                <a:srgbClr val="808080">
                  <a:alpha val="39999"/>
                </a:srgbClr>
              </a:outerShdw>
            </a:effectLst>
          </p:spPr>
          <p:txBody>
            <a:bodyPr/>
            <a:lstStyle/>
            <a:p>
              <a:pPr>
                <a:tabLst>
                  <a:tab pos="358775" algn="l"/>
                  <a:tab pos="715963" algn="l"/>
                  <a:tab pos="1074738" algn="l"/>
                </a:tabLst>
                <a:defRPr/>
              </a:pPr>
              <a:r>
                <a:rPr lang="en-US" sz="1400" b="1" dirty="0" err="1">
                  <a:latin typeface="Courier New" pitchFamily="49" charset="0"/>
                  <a:cs typeface="Arial" charset="0"/>
                </a:rPr>
                <a:t>strcpy</a:t>
              </a:r>
              <a:r>
                <a:rPr lang="en-US" sz="1400" b="1" dirty="0">
                  <a:latin typeface="Courier New" pitchFamily="49" charset="0"/>
                  <a:cs typeface="Arial" charset="0"/>
                </a:rPr>
                <a:t>(player2.name, player1.name);</a:t>
              </a:r>
            </a:p>
            <a:p>
              <a:pPr>
                <a:tabLst>
                  <a:tab pos="358775" algn="l"/>
                  <a:tab pos="715963" algn="l"/>
                  <a:tab pos="1074738" algn="l"/>
                </a:tabLst>
                <a:defRPr/>
              </a:pPr>
              <a:r>
                <a:rPr lang="en-US" sz="1400" b="1" dirty="0">
                  <a:latin typeface="Courier New" pitchFamily="49" charset="0"/>
                  <a:cs typeface="Arial" charset="0"/>
                </a:rPr>
                <a:t>player2.age = player1.age;</a:t>
              </a:r>
            </a:p>
            <a:p>
              <a:pPr>
                <a:tabLst>
                  <a:tab pos="358775" algn="l"/>
                  <a:tab pos="715963" algn="l"/>
                  <a:tab pos="1074738" algn="l"/>
                </a:tabLst>
                <a:defRPr/>
              </a:pPr>
              <a:r>
                <a:rPr lang="en-US" sz="1400" b="1" dirty="0">
                  <a:latin typeface="Courier New" pitchFamily="49" charset="0"/>
                  <a:cs typeface="Arial" charset="0"/>
                </a:rPr>
                <a:t>player2.gender = player1.gender;</a:t>
              </a:r>
            </a:p>
            <a:p>
              <a:pPr marL="342900" indent="-342900">
                <a:defRPr/>
              </a:pPr>
              <a:endParaRPr lang="en-US" sz="2400" b="1" dirty="0">
                <a:solidFill>
                  <a:srgbClr val="000000"/>
                </a:solidFill>
                <a:latin typeface="Courier New" pitchFamily="49" charset="0"/>
                <a:cs typeface="Arial" charset="0"/>
              </a:endParaRPr>
            </a:p>
          </p:txBody>
        </p:sp>
        <p:sp>
          <p:nvSpPr>
            <p:cNvPr id="67" name="Rectangle 8"/>
            <p:cNvSpPr>
              <a:spLocks noChangeArrowheads="1"/>
            </p:cNvSpPr>
            <p:nvPr/>
          </p:nvSpPr>
          <p:spPr bwMode="auto">
            <a:xfrm>
              <a:off x="4329547" y="3644178"/>
              <a:ext cx="450271" cy="325149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>
              <a:outerShdw dist="38100" dir="2700000" algn="tl" rotWithShape="0">
                <a:srgbClr val="808080">
                  <a:alpha val="39999"/>
                </a:srgbClr>
              </a:outerShdw>
            </a:effectLst>
          </p:spPr>
          <p:txBody>
            <a:bodyPr/>
            <a:lstStyle/>
            <a:p>
              <a:pPr algn="ctr">
                <a:tabLst>
                  <a:tab pos="358775" algn="l"/>
                  <a:tab pos="715963" algn="l"/>
                  <a:tab pos="1074738" algn="l"/>
                </a:tabLst>
                <a:defRPr/>
              </a:pPr>
              <a:r>
                <a:rPr lang="en-US" b="1" dirty="0">
                  <a:latin typeface="+mn-lt"/>
                  <a:cs typeface="Arial" charset="0"/>
                </a:rPr>
                <a:t>=</a:t>
              </a:r>
            </a:p>
            <a:p>
              <a:pPr marL="342900" indent="-342900" algn="ctr">
                <a:defRPr/>
              </a:pPr>
              <a:endParaRPr lang="en-US" sz="2400" b="1" dirty="0">
                <a:solidFill>
                  <a:srgbClr val="000000"/>
                </a:solidFill>
                <a:latin typeface="Courier New" pitchFamily="49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6887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5. Passing Structures to Functions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33425" y="1309255"/>
            <a:ext cx="7834313" cy="4616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Passing a structure to a parameter in a function is akin to assigning the structure to the parameter.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As seen earlier, the entire structure is copied, i.e.,  members of the actual parameter are copied into the corresponding members of the formal parameter. 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We modify </a:t>
            </a:r>
            <a:r>
              <a:rPr lang="en-US" sz="2800" dirty="0">
                <a:solidFill>
                  <a:srgbClr val="0000FF"/>
                </a:solidFill>
              </a:rPr>
              <a:t>Unit19_Demo1.c</a:t>
            </a:r>
            <a:r>
              <a:rPr lang="en-US" sz="2800" dirty="0"/>
              <a:t> into </a:t>
            </a:r>
            <a:r>
              <a:rPr lang="en-US" sz="2800" dirty="0">
                <a:solidFill>
                  <a:srgbClr val="0000FF"/>
                </a:solidFill>
              </a:rPr>
              <a:t>Unit19_Demo2.c</a:t>
            </a:r>
            <a:r>
              <a:rPr lang="en-US" sz="2800" dirty="0"/>
              <a:t> to illustrate this.</a:t>
            </a:r>
          </a:p>
        </p:txBody>
      </p:sp>
    </p:spTree>
    <p:extLst>
      <p:ext uri="{BB962C8B-B14F-4D97-AF65-F5344CB8AC3E}">
        <p14:creationId xmlns:p14="http://schemas.microsoft.com/office/powerpoint/2010/main" val="215505468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5. Demo #2: Passing Structures to Functions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790575" y="1112838"/>
            <a:ext cx="7525522" cy="5139682"/>
            <a:chOff x="790833" y="1112923"/>
            <a:chExt cx="7525875" cy="5139058"/>
          </a:xfrm>
        </p:grpSpPr>
        <p:sp>
          <p:nvSpPr>
            <p:cNvPr id="10" name="TextBox 9"/>
            <p:cNvSpPr txBox="1"/>
            <p:nvPr/>
          </p:nvSpPr>
          <p:spPr>
            <a:xfrm>
              <a:off x="790833" y="1235146"/>
              <a:ext cx="7525875" cy="501683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4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#include statements and definition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4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of </a:t>
              </a:r>
              <a:r>
                <a:rPr lang="en-US" sz="1400" b="1" dirty="0" err="1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4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 are omitted here for brevity</a:t>
              </a:r>
              <a:endParaRPr lang="en-US" sz="14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4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 </a:t>
              </a:r>
              <a:r>
                <a:rPr lang="en-US" sz="1400" b="1" dirty="0" err="1">
                  <a:latin typeface="Courier New" pitchFamily="49" charset="0"/>
                  <a:cs typeface="Courier New" pitchFamily="49" charset="0"/>
                </a:rPr>
                <a:t>print_player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4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 [], </a:t>
              </a:r>
              <a:r>
                <a:rPr lang="en-US" sz="14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4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main(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player1 = {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Brusco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23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'M'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}, player2;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strcpy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(player2.name,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"July"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player2.age =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21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player2.gender =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'F'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print_player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"player1"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player1);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print_player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"player2"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player2);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endPara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Print player’s information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print_player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header[],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player) {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: name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; age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; gender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%c\n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header,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       player.name,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player.age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player.gender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444500" algn="l"/>
                  <a:tab pos="901700" algn="l"/>
                  <a:tab pos="13462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61597" y="1112923"/>
              <a:ext cx="1932079" cy="369842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dirty="0"/>
                <a:t>Unit19_Demo2.c</a:t>
              </a:r>
              <a:endParaRPr lang="en-SG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352800" y="347663"/>
            <a:ext cx="5616575" cy="585787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player1: name =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Brusco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 age = 23; gender = M</a:t>
            </a:r>
          </a:p>
          <a:p>
            <a:pPr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player2: name = July; age = 21; gender = F</a:t>
            </a:r>
            <a:endParaRPr lang="en-SG" sz="1600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4" name="Group 17"/>
          <p:cNvGrpSpPr>
            <a:grpSpLocks/>
          </p:cNvGrpSpPr>
          <p:nvPr/>
        </p:nvGrpSpPr>
        <p:grpSpPr bwMode="auto">
          <a:xfrm>
            <a:off x="4222830" y="2842346"/>
            <a:ext cx="3135313" cy="987424"/>
            <a:chOff x="4064000" y="3265713"/>
            <a:chExt cx="3135086" cy="986972"/>
          </a:xfrm>
        </p:grpSpPr>
        <p:sp>
          <p:nvSpPr>
            <p:cNvPr id="15" name="Line Callout 2 (Border and Accent Bar) 14"/>
            <p:cNvSpPr/>
            <p:nvPr/>
          </p:nvSpPr>
          <p:spPr bwMode="auto">
            <a:xfrm>
              <a:off x="5713294" y="3265713"/>
              <a:ext cx="1485792" cy="812428"/>
            </a:xfrm>
            <a:prstGeom prst="accentBorderCallout2">
              <a:avLst>
                <a:gd name="adj1" fmla="val 18750"/>
                <a:gd name="adj2" fmla="val -8333"/>
                <a:gd name="adj3" fmla="val 20565"/>
                <a:gd name="adj4" fmla="val -25442"/>
                <a:gd name="adj5" fmla="val 101352"/>
                <a:gd name="adj6" fmla="val -657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Passing a structure to a function</a:t>
              </a:r>
              <a:endParaRPr lang="en-SG" sz="1600" dirty="0">
                <a:latin typeface="Arial" charset="0"/>
                <a:cs typeface="Arial" charset="0"/>
              </a:endParaRPr>
            </a:p>
          </p:txBody>
        </p:sp>
        <p:cxnSp>
          <p:nvCxnSpPr>
            <p:cNvPr id="16" name="Straight Connector 12"/>
            <p:cNvCxnSpPr>
              <a:cxnSpLocks noChangeShapeType="1"/>
            </p:cNvCxnSpPr>
            <p:nvPr/>
          </p:nvCxnSpPr>
          <p:spPr bwMode="auto">
            <a:xfrm>
              <a:off x="4064000" y="4252685"/>
              <a:ext cx="905158" cy="0"/>
            </a:xfrm>
            <a:prstGeom prst="line">
              <a:avLst/>
            </a:prstGeom>
            <a:noFill/>
            <a:ln w="1905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</p:grpSp>
      <p:grpSp>
        <p:nvGrpSpPr>
          <p:cNvPr id="17" name="Group 18"/>
          <p:cNvGrpSpPr>
            <a:grpSpLocks/>
          </p:cNvGrpSpPr>
          <p:nvPr/>
        </p:nvGrpSpPr>
        <p:grpSpPr bwMode="auto">
          <a:xfrm>
            <a:off x="4893434" y="4432774"/>
            <a:ext cx="3640775" cy="1030287"/>
            <a:chOff x="4230915" y="4506684"/>
            <a:chExt cx="3640306" cy="1030515"/>
          </a:xfrm>
        </p:grpSpPr>
        <p:sp>
          <p:nvSpPr>
            <p:cNvPr id="18" name="Line Callout 2 (Border and Accent Bar) 17"/>
            <p:cNvSpPr/>
            <p:nvPr/>
          </p:nvSpPr>
          <p:spPr bwMode="auto">
            <a:xfrm>
              <a:off x="6272177" y="4506684"/>
              <a:ext cx="1599044" cy="819331"/>
            </a:xfrm>
            <a:prstGeom prst="accentBorderCallout2">
              <a:avLst>
                <a:gd name="adj1" fmla="val 18750"/>
                <a:gd name="adj2" fmla="val -8333"/>
                <a:gd name="adj3" fmla="val 20565"/>
                <a:gd name="adj4" fmla="val -25442"/>
                <a:gd name="adj5" fmla="val 101352"/>
                <a:gd name="adj6" fmla="val -6573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600" dirty="0">
                  <a:latin typeface="Arial" charset="0"/>
                  <a:cs typeface="Arial" charset="0"/>
                </a:rPr>
                <a:t>Receiving a structure from the caller</a:t>
              </a:r>
              <a:endParaRPr lang="en-SG" sz="1600" dirty="0">
                <a:latin typeface="Arial" charset="0"/>
                <a:cs typeface="Arial" charset="0"/>
              </a:endParaRPr>
            </a:p>
          </p:txBody>
        </p:sp>
        <p:cxnSp>
          <p:nvCxnSpPr>
            <p:cNvPr id="19" name="Straight Connector 15"/>
            <p:cNvCxnSpPr>
              <a:cxnSpLocks noChangeShapeType="1"/>
            </p:cNvCxnSpPr>
            <p:nvPr/>
          </p:nvCxnSpPr>
          <p:spPr bwMode="auto">
            <a:xfrm>
              <a:off x="4230915" y="5537199"/>
              <a:ext cx="1890181" cy="0"/>
            </a:xfrm>
            <a:prstGeom prst="line">
              <a:avLst/>
            </a:prstGeom>
            <a:noFill/>
            <a:ln w="19050" cap="sq" algn="ctr">
              <a:solidFill>
                <a:srgbClr val="C00000"/>
              </a:solidFill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4200566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6. Array of Structures (1/2)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334963" y="1314450"/>
            <a:ext cx="8351837" cy="5033596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Combining structures and arrays gives us a lot of flexibility in organizing data.</a:t>
            </a:r>
          </a:p>
          <a:p>
            <a:pPr marL="685800" lvl="1" indent="-28575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dirty="0"/>
              <a:t>For example, we may have a structure comprising 2 members: student’s name and an array of 5 test scores he obtained.</a:t>
            </a:r>
          </a:p>
          <a:p>
            <a:pPr marL="685800" lvl="1" indent="-28575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dirty="0"/>
              <a:t>Or, we may have an array whose elements are structures.</a:t>
            </a:r>
          </a:p>
          <a:p>
            <a:pPr marL="685800" lvl="1" indent="-28575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dirty="0"/>
              <a:t>Or, even more complex combinations such as an array whose elements are structures which comprises array as one of the members.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Recall </a:t>
            </a:r>
            <a:r>
              <a:rPr lang="en-US" sz="2000" dirty="0">
                <a:solidFill>
                  <a:srgbClr val="0000FF"/>
                </a:solidFill>
              </a:rPr>
              <a:t>Week 11 Exercise #3: Module Sorting </a:t>
            </a:r>
            <a:r>
              <a:rPr lang="en-US" sz="2000" dirty="0"/>
              <a:t>(see next slide)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Instead of using two parallel arrays </a:t>
            </a:r>
            <a:r>
              <a:rPr lang="en-US" sz="2000" dirty="0">
                <a:solidFill>
                  <a:srgbClr val="C00000"/>
                </a:solidFill>
              </a:rPr>
              <a:t>modules[]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C00000"/>
                </a:solidFill>
              </a:rPr>
              <a:t>students[]</a:t>
            </a:r>
            <a:r>
              <a:rPr lang="en-US" sz="2000" dirty="0"/>
              <a:t>, we shall create a structure comprising module code and module enrolment, and use an array of this structure.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cs typeface="Times New Roman" pitchFamily="18" charset="0"/>
              </a:rPr>
              <a:t>We will show the new implementation in </a:t>
            </a:r>
            <a:r>
              <a:rPr lang="en-US" sz="2000" dirty="0">
                <a:solidFill>
                  <a:srgbClr val="0000FF"/>
                </a:solidFill>
                <a:cs typeface="Times New Roman" pitchFamily="18" charset="0"/>
              </a:rPr>
              <a:t>Unit19_SortModules.c </a:t>
            </a:r>
            <a:r>
              <a:rPr lang="en-US" sz="2000" dirty="0">
                <a:cs typeface="Times New Roman" pitchFamily="18" charset="0"/>
              </a:rPr>
              <a:t>for comparison with </a:t>
            </a:r>
            <a:r>
              <a:rPr lang="en-US" sz="2000" dirty="0">
                <a:solidFill>
                  <a:srgbClr val="0000FF"/>
                </a:solidFill>
                <a:cs typeface="Times New Roman" pitchFamily="18" charset="0"/>
              </a:rPr>
              <a:t>Week11_SortModules.c</a:t>
            </a:r>
            <a:r>
              <a:rPr lang="en-US" sz="2000" dirty="0">
                <a:cs typeface="Times New Roman" pitchFamily="18" charset="0"/>
              </a:rPr>
              <a:t> (both programs are given)</a:t>
            </a:r>
            <a:endParaRPr 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81361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6. Array of Structures (2/2)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334963" y="1314450"/>
            <a:ext cx="8351837" cy="1737360"/>
          </a:xfrm>
        </p:spPr>
        <p:txBody>
          <a:bodyPr>
            <a:normAutofit lnSpcReduction="10000"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Given an array with 10 elements, each a structure containing the code of a module and the number of students enrolled in that module. Sort the array by the number of students enrolled, using Selection Sort.</a:t>
            </a:r>
          </a:p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Sample run</a:t>
            </a:r>
            <a:r>
              <a:rPr lang="en-US" sz="2000" dirty="0">
                <a:cs typeface="Times New Roman" pitchFamily="18" charset="0"/>
              </a:rPr>
              <a:t>: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1438" y="2922282"/>
            <a:ext cx="5484812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Enter number of modules: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10</a:t>
            </a:r>
          </a:p>
          <a:p>
            <a:pPr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Enter module codes and students enrolled: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CS1010 292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CS1234 178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CS1010E 358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CS2102 260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IS1103 215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IS2104 93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IS1112 100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GEK1511 83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IT2002 51</a:t>
            </a:r>
          </a:p>
          <a:p>
            <a:pPr>
              <a:defRPr/>
            </a:pP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MA1101S 123</a:t>
            </a:r>
            <a:endParaRPr lang="en-SG" sz="16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25850" y="3478814"/>
            <a:ext cx="3978275" cy="280035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Sorted by student enrolment: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IT2002   51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GEK1511  83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IS2104   93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IS1112  100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MA1101S 123</a:t>
            </a:r>
            <a:endParaRPr lang="en-SG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CS1234  178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IS1103  215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CS2102  260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CS1010  292</a:t>
            </a:r>
          </a:p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CS1010E 358</a:t>
            </a:r>
          </a:p>
        </p:txBody>
      </p:sp>
    </p:spTree>
    <p:extLst>
      <p:ext uri="{BB962C8B-B14F-4D97-AF65-F5344CB8AC3E}">
        <p14:creationId xmlns:p14="http://schemas.microsoft.com/office/powerpoint/2010/main" val="1054727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6. Demo #3: Array of Structures (1/3)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grpSp>
        <p:nvGrpSpPr>
          <p:cNvPr id="11" name="Group 5"/>
          <p:cNvGrpSpPr>
            <a:grpSpLocks/>
          </p:cNvGrpSpPr>
          <p:nvPr/>
        </p:nvGrpSpPr>
        <p:grpSpPr bwMode="auto">
          <a:xfrm>
            <a:off x="739775" y="1352464"/>
            <a:ext cx="8099425" cy="4954330"/>
            <a:chOff x="624114" y="1333202"/>
            <a:chExt cx="8097517" cy="4954065"/>
          </a:xfrm>
        </p:grpSpPr>
        <p:sp>
          <p:nvSpPr>
            <p:cNvPr id="13" name="TextBox 12"/>
            <p:cNvSpPr txBox="1"/>
            <p:nvPr/>
          </p:nvSpPr>
          <p:spPr>
            <a:xfrm>
              <a:off x="624114" y="1455433"/>
              <a:ext cx="7951501" cy="483183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#include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SG" sz="16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stdio.h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#define MAX_MODULES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10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lang="en-SG" sz="16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maximum number of modules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#define CODE_LENGTH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7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SG" sz="16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length of module code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endParaRPr lang="en-SG" sz="12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typedef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struct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{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 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code[CODE_LENGTH+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];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  enrolment;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} 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module_t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endParaRPr lang="en-US" sz="12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sz="16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Function prototypes omitted here for brevity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endParaRPr lang="en-US" sz="12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main(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module_t</a:t>
              </a:r>
              <a:r>
                <a:rPr lang="en-SG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modules[MAX_MODULES];  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num_modules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num_modules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scanModules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(modules); 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sortByEnrolment</a:t>
              </a:r>
              <a:r>
                <a:rPr lang="en-SG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(modules, </a:t>
              </a:r>
              <a:r>
                <a:rPr lang="en-SG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num_modules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printModules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(modules, </a:t>
              </a:r>
              <a:r>
                <a:rPr lang="en-US" sz="1600" b="1" err="1">
                  <a:latin typeface="Courier New" pitchFamily="49" charset="0"/>
                  <a:cs typeface="Courier New" pitchFamily="49" charset="0"/>
                </a:rPr>
                <a:t>num_modules</a:t>
              </a:r>
              <a:r>
                <a:rPr lang="en-US" sz="1600" b="1">
                  <a:latin typeface="Courier New" pitchFamily="49" charset="0"/>
                  <a:cs typeface="Courier New" pitchFamily="49" charset="0"/>
                </a:rPr>
                <a:t>);</a:t>
              </a:r>
              <a:endParaRPr lang="en-SG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83805" y="1333202"/>
              <a:ext cx="2437826" cy="369868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dirty="0"/>
                <a:t>Unit19_SortModules.c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309605309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6. Demo #3: Array of Structures (2/3)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grpSp>
        <p:nvGrpSpPr>
          <p:cNvPr id="9" name="Group 5"/>
          <p:cNvGrpSpPr>
            <a:grpSpLocks/>
          </p:cNvGrpSpPr>
          <p:nvPr/>
        </p:nvGrpSpPr>
        <p:grpSpPr bwMode="auto">
          <a:xfrm>
            <a:off x="739775" y="1326515"/>
            <a:ext cx="8099425" cy="4998085"/>
            <a:chOff x="624114" y="1287493"/>
            <a:chExt cx="8097517" cy="4996846"/>
          </a:xfrm>
        </p:grpSpPr>
        <p:sp>
          <p:nvSpPr>
            <p:cNvPr id="10" name="TextBox 9"/>
            <p:cNvSpPr txBox="1"/>
            <p:nvPr/>
          </p:nvSpPr>
          <p:spPr>
            <a:xfrm>
              <a:off x="624114" y="1408749"/>
              <a:ext cx="8061014" cy="48755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scanModules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module_t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 mod[]) {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size,</a:t>
              </a:r>
              <a:r>
                <a:rPr lang="en-SG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"Enter number of modules: 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); 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scanf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 &amp;size);</a:t>
              </a:r>
              <a:endParaRPr lang="en-SG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"Enter module codes and student enrolment: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for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(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=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;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&lt;size;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++)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scanf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 %d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 mod[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].code, &amp;mod[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].enrolment);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size;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endParaRPr lang="en-US" sz="12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printModules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module_t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 mod[], </a:t>
              </a:r>
              <a:r>
                <a:rPr lang="en-SG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size) {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"Sorted by student enrolment: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for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(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=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;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&lt;size;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++)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%s\t%3d\n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, mod[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].code, mod[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].enrolment);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}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72378" y="1287493"/>
              <a:ext cx="2449253" cy="369796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dirty="0"/>
                <a:t>Unit19_SortModules.c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349060481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6. Demo #3: Array of Structures (3/3)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grpSp>
        <p:nvGrpSpPr>
          <p:cNvPr id="11" name="Group 5"/>
          <p:cNvGrpSpPr>
            <a:grpSpLocks/>
          </p:cNvGrpSpPr>
          <p:nvPr/>
        </p:nvGrpSpPr>
        <p:grpSpPr bwMode="auto">
          <a:xfrm>
            <a:off x="518985" y="1215351"/>
            <a:ext cx="8320215" cy="5061372"/>
            <a:chOff x="403376" y="1167993"/>
            <a:chExt cx="8318255" cy="5060270"/>
          </a:xfrm>
        </p:grpSpPr>
        <p:sp>
          <p:nvSpPr>
            <p:cNvPr id="13" name="TextBox 12"/>
            <p:cNvSpPr txBox="1"/>
            <p:nvPr/>
          </p:nvSpPr>
          <p:spPr>
            <a:xfrm>
              <a:off x="403376" y="1397223"/>
              <a:ext cx="8236043" cy="48310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Sort by number of students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sortByEnrolment</a:t>
              </a:r>
              <a:r>
                <a:rPr lang="en-SG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module_t</a:t>
              </a:r>
              <a:r>
                <a:rPr lang="en-SG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mod[]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SG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size) {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, start, 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min_index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module_t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 temp;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endParaRPr lang="en-SG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for 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(start = </a:t>
              </a:r>
              <a:r>
                <a:rPr lang="en-SG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; start &lt; size-</a:t>
              </a:r>
              <a:r>
                <a:rPr lang="en-SG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; start++) {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SG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find index of minimum element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min_index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 = start;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SG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for 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 = start+</a:t>
              </a:r>
              <a:r>
                <a:rPr lang="en-SG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1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; 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 &lt; size; 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++)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		</a:t>
              </a:r>
              <a:r>
                <a:rPr lang="en-SG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if 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(mod[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].enrolment &lt; mod[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min_index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].enrolment)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			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min_index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endParaRPr lang="en-SG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	</a:t>
              </a:r>
              <a:r>
                <a:rPr lang="en-SG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swap minimum element with element at start index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	temp = mod[start]; 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	mod[start] = mod[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min_index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];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	mod[</a:t>
              </a:r>
              <a:r>
                <a:rPr lang="en-SG" b="1" dirty="0" err="1">
                  <a:latin typeface="Courier New" pitchFamily="49" charset="0"/>
                  <a:cs typeface="Courier New" pitchFamily="49" charset="0"/>
                </a:rPr>
                <a:t>min_index</a:t>
              </a: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] = temp;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	}</a:t>
              </a:r>
            </a:p>
            <a:p>
              <a:pPr>
                <a:tabLst>
                  <a:tab pos="358775" algn="l"/>
                  <a:tab pos="715963" algn="l"/>
                  <a:tab pos="1074738" algn="l"/>
                  <a:tab pos="1433513" algn="l"/>
                  <a:tab pos="1792288" algn="l"/>
                </a:tabLst>
                <a:defRPr/>
              </a:pPr>
              <a:r>
                <a:rPr lang="en-SG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60951" y="1167993"/>
              <a:ext cx="2460680" cy="369252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dirty="0"/>
                <a:t>Unit19_SortModules.c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70135063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solidFill>
                  <a:srgbClr val="0000FF"/>
                </a:solidFill>
              </a:rPr>
              <a:t>7. Passing Address of Structure to Functions (1/5)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334963" y="1108710"/>
            <a:ext cx="8351837" cy="422910"/>
          </a:xfrm>
        </p:spPr>
        <p:txBody>
          <a:bodyPr>
            <a:normAutofit/>
          </a:bodyPr>
          <a:lstStyle/>
          <a:p>
            <a:pPr marL="352425" indent="-352425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Given this code, what is the output?</a:t>
            </a:r>
            <a:endParaRPr lang="en-US" sz="2000" dirty="0">
              <a:solidFill>
                <a:srgbClr val="0000FF"/>
              </a:solidFill>
            </a:endParaRP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860913" y="1355673"/>
            <a:ext cx="7643007" cy="5175616"/>
            <a:chOff x="790833" y="983985"/>
            <a:chExt cx="7643366" cy="5174987"/>
          </a:xfrm>
        </p:grpSpPr>
        <p:sp>
          <p:nvSpPr>
            <p:cNvPr id="10" name="TextBox 9"/>
            <p:cNvSpPr txBox="1"/>
            <p:nvPr/>
          </p:nvSpPr>
          <p:spPr>
            <a:xfrm>
              <a:off x="790833" y="1235146"/>
              <a:ext cx="7556611" cy="49238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4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#include statements, definition of </a:t>
              </a:r>
              <a:r>
                <a:rPr lang="en-US" sz="1400" b="1" dirty="0" err="1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4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4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and function prototypes are omitted here for brevity</a:t>
              </a: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main(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player1 = {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Brusco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23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'M'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};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change_name_and_age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(player1);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print_player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"player1"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player1);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endParaRPr lang="en-US" sz="10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To change a player’s name and age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change_name_and_age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player) {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strcpy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(player.name,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"Alexandra"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player.age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=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25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endParaRPr lang="en-US" sz="10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Print player’s information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print_player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header[],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player) {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: name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; age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; gender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%c\n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header,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       player.name,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player.age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player.gender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 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02438" y="983985"/>
              <a:ext cx="1931761" cy="369287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dirty="0"/>
                <a:t>Unit19_Demo4.c</a:t>
              </a:r>
              <a:endParaRPr lang="en-SG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140805" y="3291016"/>
            <a:ext cx="5616575" cy="338554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player1: name =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Brusco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 age = 23; gender = M</a:t>
            </a:r>
          </a:p>
        </p:txBody>
      </p:sp>
    </p:spTree>
    <p:extLst>
      <p:ext uri="{BB962C8B-B14F-4D97-AF65-F5344CB8AC3E}">
        <p14:creationId xmlns:p14="http://schemas.microsoft.com/office/powerpoint/2010/main" val="25165380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2800" dirty="0">
                <a:solidFill>
                  <a:srgbClr val="0000FF"/>
                </a:solidFill>
              </a:rPr>
              <a:t>7. Passing Address of Structure to Functions (2/5)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061613" y="3853420"/>
            <a:ext cx="4572079" cy="1004279"/>
            <a:chOff x="4061613" y="3853420"/>
            <a:chExt cx="4572079" cy="1004279"/>
          </a:xfrm>
        </p:grpSpPr>
        <p:sp>
          <p:nvSpPr>
            <p:cNvPr id="15" name="Rectangle 14"/>
            <p:cNvSpPr/>
            <p:nvPr/>
          </p:nvSpPr>
          <p:spPr bwMode="auto">
            <a:xfrm>
              <a:off x="4634771" y="4416983"/>
              <a:ext cx="1687512" cy="33337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6833458" y="4416983"/>
              <a:ext cx="495300" cy="33337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7779608" y="4416983"/>
              <a:ext cx="311150" cy="33337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8" name="TextBox 62"/>
            <p:cNvSpPr txBox="1">
              <a:spLocks noChangeArrowheads="1"/>
            </p:cNvSpPr>
            <p:nvPr/>
          </p:nvSpPr>
          <p:spPr bwMode="auto">
            <a:xfrm>
              <a:off x="4408696" y="4157996"/>
              <a:ext cx="827916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name</a:t>
              </a:r>
              <a:endParaRPr lang="en-SG" sz="1400"/>
            </a:p>
          </p:txBody>
        </p:sp>
        <p:sp>
          <p:nvSpPr>
            <p:cNvPr id="19" name="TextBox 63"/>
            <p:cNvSpPr txBox="1">
              <a:spLocks noChangeArrowheads="1"/>
            </p:cNvSpPr>
            <p:nvPr/>
          </p:nvSpPr>
          <p:spPr bwMode="auto">
            <a:xfrm>
              <a:off x="6525313" y="4157996"/>
              <a:ext cx="827916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age</a:t>
              </a:r>
              <a:endParaRPr lang="en-SG" sz="1400"/>
            </a:p>
          </p:txBody>
        </p:sp>
        <p:sp>
          <p:nvSpPr>
            <p:cNvPr id="20" name="TextBox 64"/>
            <p:cNvSpPr txBox="1">
              <a:spLocks noChangeArrowheads="1"/>
            </p:cNvSpPr>
            <p:nvPr/>
          </p:nvSpPr>
          <p:spPr bwMode="auto">
            <a:xfrm>
              <a:off x="7372514" y="4157996"/>
              <a:ext cx="827916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gender</a:t>
              </a:r>
              <a:endParaRPr lang="en-SG" sz="1400"/>
            </a:p>
          </p:txBody>
        </p:sp>
        <p:sp>
          <p:nvSpPr>
            <p:cNvPr id="21" name="TextBox 65"/>
            <p:cNvSpPr txBox="1">
              <a:spLocks noChangeArrowheads="1"/>
            </p:cNvSpPr>
            <p:nvPr/>
          </p:nvSpPr>
          <p:spPr bwMode="auto">
            <a:xfrm>
              <a:off x="4061613" y="3853420"/>
              <a:ext cx="803882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dirty="0"/>
                <a:t>player</a:t>
              </a:r>
              <a:endParaRPr lang="en-SG" sz="1400" dirty="0"/>
            </a:p>
          </p:txBody>
        </p:sp>
        <p:sp>
          <p:nvSpPr>
            <p:cNvPr id="22" name="Rectangle 66"/>
            <p:cNvSpPr>
              <a:spLocks noChangeArrowheads="1"/>
            </p:cNvSpPr>
            <p:nvPr/>
          </p:nvSpPr>
          <p:spPr bwMode="auto">
            <a:xfrm>
              <a:off x="4302777" y="4116838"/>
              <a:ext cx="4330915" cy="740861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3" name="TextBox 77"/>
          <p:cNvSpPr txBox="1">
            <a:spLocks noChangeArrowheads="1"/>
          </p:cNvSpPr>
          <p:nvPr/>
        </p:nvSpPr>
        <p:spPr bwMode="auto">
          <a:xfrm>
            <a:off x="533358" y="1667167"/>
            <a:ext cx="377915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Lucida Console" pitchFamily="49" charset="0"/>
              </a:rPr>
              <a:t>main()</a:t>
            </a:r>
          </a:p>
          <a:p>
            <a:endParaRPr lang="en-US" sz="2000" dirty="0">
              <a:solidFill>
                <a:srgbClr val="0000FF"/>
              </a:solidFill>
            </a:endParaRPr>
          </a:p>
          <a:p>
            <a:r>
              <a:rPr lang="en-US" sz="1600" dirty="0" err="1">
                <a:latin typeface="Lucida Console" pitchFamily="49" charset="0"/>
              </a:rPr>
              <a:t>change_name_and_age</a:t>
            </a:r>
            <a:r>
              <a:rPr lang="en-US" sz="1600" dirty="0">
                <a:latin typeface="Lucida Console" pitchFamily="49" charset="0"/>
              </a:rPr>
              <a:t>(player1);</a:t>
            </a:r>
            <a:endParaRPr lang="en-SG" sz="1600" dirty="0">
              <a:latin typeface="Lucida Console" pitchFamily="49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4061613" y="1588015"/>
            <a:ext cx="4572079" cy="1004279"/>
            <a:chOff x="4407602" y="1711582"/>
            <a:chExt cx="4572079" cy="1004279"/>
          </a:xfrm>
        </p:grpSpPr>
        <p:sp>
          <p:nvSpPr>
            <p:cNvPr id="25" name="Rectangle 24"/>
            <p:cNvSpPr/>
            <p:nvPr/>
          </p:nvSpPr>
          <p:spPr bwMode="auto">
            <a:xfrm>
              <a:off x="4980760" y="2275145"/>
              <a:ext cx="1687512" cy="33337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7179447" y="2275145"/>
              <a:ext cx="495300" cy="33337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8125597" y="2275145"/>
              <a:ext cx="311150" cy="33337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8" name="TextBox 62"/>
            <p:cNvSpPr txBox="1">
              <a:spLocks noChangeArrowheads="1"/>
            </p:cNvSpPr>
            <p:nvPr/>
          </p:nvSpPr>
          <p:spPr bwMode="auto">
            <a:xfrm>
              <a:off x="4754685" y="2016158"/>
              <a:ext cx="827916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name</a:t>
              </a:r>
              <a:endParaRPr lang="en-SG" sz="1400"/>
            </a:p>
          </p:txBody>
        </p:sp>
        <p:sp>
          <p:nvSpPr>
            <p:cNvPr id="29" name="TextBox 63"/>
            <p:cNvSpPr txBox="1">
              <a:spLocks noChangeArrowheads="1"/>
            </p:cNvSpPr>
            <p:nvPr/>
          </p:nvSpPr>
          <p:spPr bwMode="auto">
            <a:xfrm>
              <a:off x="6871302" y="2016158"/>
              <a:ext cx="827916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age</a:t>
              </a:r>
              <a:endParaRPr lang="en-SG" sz="1400"/>
            </a:p>
          </p:txBody>
        </p:sp>
        <p:sp>
          <p:nvSpPr>
            <p:cNvPr id="30" name="TextBox 64"/>
            <p:cNvSpPr txBox="1">
              <a:spLocks noChangeArrowheads="1"/>
            </p:cNvSpPr>
            <p:nvPr/>
          </p:nvSpPr>
          <p:spPr bwMode="auto">
            <a:xfrm>
              <a:off x="7718503" y="2016158"/>
              <a:ext cx="827916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gender</a:t>
              </a:r>
              <a:endParaRPr lang="en-SG" sz="1400"/>
            </a:p>
          </p:txBody>
        </p:sp>
        <p:sp>
          <p:nvSpPr>
            <p:cNvPr id="31" name="TextBox 65"/>
            <p:cNvSpPr txBox="1">
              <a:spLocks noChangeArrowheads="1"/>
            </p:cNvSpPr>
            <p:nvPr/>
          </p:nvSpPr>
          <p:spPr bwMode="auto">
            <a:xfrm>
              <a:off x="4407602" y="1711582"/>
              <a:ext cx="803882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dirty="0"/>
                <a:t>player1</a:t>
              </a:r>
              <a:endParaRPr lang="en-SG" sz="1400" dirty="0"/>
            </a:p>
          </p:txBody>
        </p:sp>
        <p:sp>
          <p:nvSpPr>
            <p:cNvPr id="32" name="Rectangle 66"/>
            <p:cNvSpPr>
              <a:spLocks noChangeArrowheads="1"/>
            </p:cNvSpPr>
            <p:nvPr/>
          </p:nvSpPr>
          <p:spPr bwMode="auto">
            <a:xfrm>
              <a:off x="4648766" y="1975000"/>
              <a:ext cx="4330915" cy="740861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04487" y="2261287"/>
              <a:ext cx="12851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6600"/>
                  </a:solidFill>
                </a:rPr>
                <a:t>"</a:t>
              </a:r>
              <a:r>
                <a:rPr lang="en-US" sz="1600" dirty="0" err="1">
                  <a:solidFill>
                    <a:srgbClr val="006600"/>
                  </a:solidFill>
                  <a:latin typeface="Lucida Console" pitchFamily="49" charset="0"/>
                </a:rPr>
                <a:t>Brusco</a:t>
              </a:r>
              <a:r>
                <a:rPr lang="en-US" sz="1600" dirty="0">
                  <a:solidFill>
                    <a:srgbClr val="006600"/>
                  </a:solidFill>
                  <a:latin typeface="Lucida Console" pitchFamily="49" charset="0"/>
                </a:rPr>
                <a:t>"</a:t>
              </a:r>
              <a:endParaRPr lang="en-SG" sz="1600" dirty="0">
                <a:solidFill>
                  <a:srgbClr val="006600"/>
                </a:solidFill>
                <a:latin typeface="Lucida Console" pitchFamily="49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215865" y="2287195"/>
              <a:ext cx="5519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6600"/>
                  </a:solidFill>
                </a:rPr>
                <a:t>23</a:t>
              </a:r>
              <a:endParaRPr lang="en-SG" sz="1600" dirty="0">
                <a:solidFill>
                  <a:srgbClr val="006600"/>
                </a:solidFill>
                <a:latin typeface="Lucida Console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081320" y="2286259"/>
              <a:ext cx="543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6600"/>
                  </a:solidFill>
                </a:rPr>
                <a:t>'M'</a:t>
              </a:r>
              <a:endParaRPr lang="en-SG" sz="1600" dirty="0">
                <a:solidFill>
                  <a:srgbClr val="006600"/>
                </a:solidFill>
                <a:latin typeface="Lucida Console" pitchFamily="49" charset="0"/>
              </a:endParaRPr>
            </a:p>
          </p:txBody>
        </p:sp>
      </p:grpSp>
      <p:sp>
        <p:nvSpPr>
          <p:cNvPr id="36" name="TextBox 77"/>
          <p:cNvSpPr txBox="1">
            <a:spLocks noChangeArrowheads="1"/>
          </p:cNvSpPr>
          <p:nvPr/>
        </p:nvSpPr>
        <p:spPr bwMode="auto">
          <a:xfrm>
            <a:off x="533358" y="3351806"/>
            <a:ext cx="52496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Lucida Console" pitchFamily="49" charset="0"/>
              </a:rPr>
              <a:t>change_name_and_age</a:t>
            </a:r>
            <a:r>
              <a:rPr lang="en-US" dirty="0">
                <a:solidFill>
                  <a:srgbClr val="0000FF"/>
                </a:solidFill>
                <a:latin typeface="Lucida Console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Lucida Console" pitchFamily="49" charset="0"/>
              </a:rPr>
              <a:t>player_t</a:t>
            </a:r>
            <a:r>
              <a:rPr lang="en-US" dirty="0">
                <a:solidFill>
                  <a:srgbClr val="0000FF"/>
                </a:solidFill>
                <a:latin typeface="Lucida Console" pitchFamily="49" charset="0"/>
              </a:rPr>
              <a:t> player)</a:t>
            </a:r>
            <a:endParaRPr lang="en-SG" dirty="0">
              <a:solidFill>
                <a:srgbClr val="0000FF"/>
              </a:solidFill>
              <a:latin typeface="Lucida Console" pitchFamily="49" charset="0"/>
            </a:endParaRPr>
          </a:p>
        </p:txBody>
      </p:sp>
      <p:cxnSp>
        <p:nvCxnSpPr>
          <p:cNvPr id="37" name="Straight Connector 36"/>
          <p:cNvCxnSpPr/>
          <p:nvPr/>
        </p:nvCxnSpPr>
        <p:spPr bwMode="auto">
          <a:xfrm>
            <a:off x="420130" y="3225114"/>
            <a:ext cx="8563232" cy="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4658498" y="4415481"/>
            <a:ext cx="1285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</a:rPr>
              <a:t>"</a:t>
            </a:r>
            <a:r>
              <a:rPr lang="en-US" sz="1600" dirty="0" err="1">
                <a:solidFill>
                  <a:srgbClr val="006600"/>
                </a:solidFill>
                <a:latin typeface="Lucida Console" pitchFamily="49" charset="0"/>
              </a:rPr>
              <a:t>Brusco</a:t>
            </a:r>
            <a:r>
              <a:rPr lang="en-US" sz="1600" dirty="0">
                <a:solidFill>
                  <a:srgbClr val="006600"/>
                </a:solidFill>
                <a:latin typeface="Lucida Console" pitchFamily="49" charset="0"/>
              </a:rPr>
              <a:t>"</a:t>
            </a:r>
            <a:endParaRPr lang="en-SG" sz="1600" dirty="0">
              <a:solidFill>
                <a:srgbClr val="006600"/>
              </a:solidFill>
              <a:latin typeface="Lucida Console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05140" y="4405587"/>
            <a:ext cx="551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</a:rPr>
              <a:t>23</a:t>
            </a:r>
            <a:endParaRPr lang="en-SG" sz="1600" dirty="0">
              <a:solidFill>
                <a:srgbClr val="006600"/>
              </a:solidFill>
              <a:latin typeface="Lucida Console" pitchFamily="49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24192" y="4405587"/>
            <a:ext cx="543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</a:rPr>
              <a:t>'M'</a:t>
            </a:r>
            <a:endParaRPr lang="en-SG" sz="1600" dirty="0">
              <a:solidFill>
                <a:srgbClr val="006600"/>
              </a:solidFill>
              <a:latin typeface="Lucida Console" pitchFamily="49" charset="0"/>
            </a:endParaRPr>
          </a:p>
        </p:txBody>
      </p:sp>
      <p:sp>
        <p:nvSpPr>
          <p:cNvPr id="41" name="Down Arrow 40"/>
          <p:cNvSpPr/>
          <p:nvPr/>
        </p:nvSpPr>
        <p:spPr bwMode="auto">
          <a:xfrm>
            <a:off x="6217906" y="3015049"/>
            <a:ext cx="259492" cy="531341"/>
          </a:xfrm>
          <a:prstGeom prst="down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2" name="TextBox 77"/>
          <p:cNvSpPr txBox="1">
            <a:spLocks noChangeArrowheads="1"/>
          </p:cNvSpPr>
          <p:nvPr/>
        </p:nvSpPr>
        <p:spPr bwMode="auto">
          <a:xfrm>
            <a:off x="533358" y="4970539"/>
            <a:ext cx="426106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latin typeface="Lucida Console" pitchFamily="49" charset="0"/>
              </a:rPr>
              <a:t>strcpy</a:t>
            </a:r>
            <a:r>
              <a:rPr lang="en-US" sz="1600" dirty="0">
                <a:latin typeface="Lucida Console" pitchFamily="49" charset="0"/>
              </a:rPr>
              <a:t>(player.name, "Alexandra");</a:t>
            </a:r>
          </a:p>
          <a:p>
            <a:r>
              <a:rPr lang="en-US" sz="1600" dirty="0" err="1">
                <a:latin typeface="Lucida Console" pitchFamily="49" charset="0"/>
              </a:rPr>
              <a:t>player.age</a:t>
            </a:r>
            <a:r>
              <a:rPr lang="en-US" sz="1600" dirty="0">
                <a:latin typeface="Lucida Console" pitchFamily="49" charset="0"/>
              </a:rPr>
              <a:t> = 25;</a:t>
            </a:r>
            <a:endParaRPr lang="en-SG" sz="1600" dirty="0">
              <a:latin typeface="Lucida Console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650261" y="4407244"/>
            <a:ext cx="1528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</a:rPr>
              <a:t>"</a:t>
            </a:r>
            <a:r>
              <a:rPr lang="en-US" sz="1600" dirty="0">
                <a:solidFill>
                  <a:srgbClr val="006600"/>
                </a:solidFill>
                <a:latin typeface="Lucida Console" pitchFamily="49" charset="0"/>
              </a:rPr>
              <a:t>Alexandra"</a:t>
            </a:r>
            <a:endParaRPr lang="en-SG" sz="1600" dirty="0">
              <a:solidFill>
                <a:srgbClr val="006600"/>
              </a:solidFill>
              <a:latin typeface="Lucida Console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85474" y="4416983"/>
            <a:ext cx="551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</a:rPr>
              <a:t>25</a:t>
            </a:r>
            <a:endParaRPr lang="en-SG" sz="1600" dirty="0">
              <a:solidFill>
                <a:srgbClr val="006600"/>
              </a:solidFill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1225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8" grpId="1"/>
      <p:bldP spid="39" grpId="0"/>
      <p:bldP spid="39" grpId="1"/>
      <p:bldP spid="40" grpId="0"/>
      <p:bldP spid="41" grpId="0" animBg="1"/>
      <p:bldP spid="42" grpId="0"/>
      <p:bldP spid="43" grpId="0"/>
      <p:bldP spid="4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0000FF"/>
                </a:solidFill>
              </a:rPr>
              <a:t>7. Passing Address of Structure to Functions (3/5)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334963" y="1314450"/>
            <a:ext cx="8351837" cy="5033596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Like an ordinary variable (</a:t>
            </a:r>
            <a:r>
              <a:rPr lang="en-US" dirty="0" err="1"/>
              <a:t>eg</a:t>
            </a:r>
            <a:r>
              <a:rPr lang="en-US" dirty="0"/>
              <a:t>: of type </a:t>
            </a:r>
            <a:r>
              <a:rPr lang="en-US" dirty="0" err="1"/>
              <a:t>int</a:t>
            </a:r>
            <a:r>
              <a:rPr lang="en-US" dirty="0"/>
              <a:t>, char), when a structure variable is passed to a function, a </a:t>
            </a:r>
            <a:r>
              <a:rPr lang="en-US" u="sng" dirty="0">
                <a:solidFill>
                  <a:srgbClr val="0000FF"/>
                </a:solidFill>
              </a:rPr>
              <a:t>separate copy of it is made </a:t>
            </a:r>
            <a:r>
              <a:rPr lang="en-US" dirty="0"/>
              <a:t>in the called function. </a:t>
            </a:r>
          </a:p>
          <a:p>
            <a:pPr marL="285750" indent="-28575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Hence, the original structure variable </a:t>
            </a:r>
            <a:r>
              <a:rPr lang="en-US" u="sng" dirty="0">
                <a:solidFill>
                  <a:srgbClr val="0000FF"/>
                </a:solidFill>
              </a:rPr>
              <a:t>will not be modified by the function</a:t>
            </a:r>
            <a:r>
              <a:rPr lang="en-US" dirty="0"/>
              <a:t>.</a:t>
            </a:r>
          </a:p>
          <a:p>
            <a:pPr marL="285750" indent="-28575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To allow the function to modify the content of the original structure variable, you need to pass in the </a:t>
            </a:r>
            <a:r>
              <a:rPr lang="en-US" dirty="0">
                <a:solidFill>
                  <a:srgbClr val="0000FF"/>
                </a:solidFill>
              </a:rPr>
              <a:t>address (pointer) of the structure variable</a:t>
            </a:r>
            <a:r>
              <a:rPr lang="en-US" dirty="0"/>
              <a:t> to the function.</a:t>
            </a:r>
          </a:p>
          <a:p>
            <a:pPr marL="285750" indent="-28575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(Note that passing an </a:t>
            </a:r>
            <a:r>
              <a:rPr lang="en-US" u="sng" dirty="0"/>
              <a:t>array</a:t>
            </a:r>
            <a:r>
              <a:rPr lang="en-US" dirty="0"/>
              <a:t> of structures to a function is a different matter. As the array name is a pointer, the function is able to modify the array elements.)</a:t>
            </a:r>
          </a:p>
        </p:txBody>
      </p:sp>
    </p:spTree>
    <p:extLst>
      <p:ext uri="{BB962C8B-B14F-4D97-AF65-F5344CB8AC3E}">
        <p14:creationId xmlns:p14="http://schemas.microsoft.com/office/powerpoint/2010/main" val="3884407223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0000FF"/>
                </a:solidFill>
              </a:rPr>
              <a:t>7. Passing Address of Structure to Functions (4/5)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33425" y="1087395"/>
            <a:ext cx="7834313" cy="48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Need to pass address of the structure variable</a:t>
            </a:r>
          </a:p>
        </p:txBody>
      </p: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860913" y="1355673"/>
            <a:ext cx="7706825" cy="5175616"/>
            <a:chOff x="790833" y="983985"/>
            <a:chExt cx="7707187" cy="5174987"/>
          </a:xfrm>
        </p:grpSpPr>
        <p:sp>
          <p:nvSpPr>
            <p:cNvPr id="11" name="TextBox 10"/>
            <p:cNvSpPr txBox="1"/>
            <p:nvPr/>
          </p:nvSpPr>
          <p:spPr>
            <a:xfrm>
              <a:off x="790833" y="1235146"/>
              <a:ext cx="7556611" cy="49238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4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#include statements, definition of </a:t>
              </a:r>
              <a:r>
                <a:rPr lang="en-US" sz="1400" b="1" dirty="0" err="1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4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, 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4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and function prototypes are omitted here for brevity</a:t>
              </a: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main(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player1 = {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Brusco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23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'M'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};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endParaRPr lang="en-US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change_name_and_age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(&amp;player1);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print_player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"player1"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player1);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endParaRPr lang="en-US" sz="10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To change a player’s name and age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change_name_and_age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*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player_ptr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strcpy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((*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player_ptr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).name,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"Alexandra"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(*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player_ptr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).age = 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25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endParaRPr lang="en-US" sz="10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Print player’s information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print_player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char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header[],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 player) {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: name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; age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%d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; gender = </a:t>
              </a:r>
              <a:r>
                <a:rPr lang="en-US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%c\n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header,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       player.name,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player.age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, </a:t>
              </a:r>
              <a:r>
                <a:rPr lang="en-US" sz="1600" b="1" dirty="0" err="1">
                  <a:latin typeface="Courier New" pitchFamily="49" charset="0"/>
                  <a:cs typeface="Courier New" pitchFamily="49" charset="0"/>
                </a:rPr>
                <a:t>player.gender</a:t>
              </a: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}  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516340" y="983985"/>
              <a:ext cx="1981680" cy="369287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/>
                <a:t>Unit19_Demo5.c</a:t>
              </a:r>
              <a:endParaRPr lang="en-SG" dirty="0"/>
            </a:p>
          </p:txBody>
        </p:sp>
      </p:grpSp>
      <p:sp>
        <p:nvSpPr>
          <p:cNvPr id="14" name="Rectangle 13"/>
          <p:cNvSpPr/>
          <p:nvPr/>
        </p:nvSpPr>
        <p:spPr bwMode="auto">
          <a:xfrm>
            <a:off x="3666064" y="2706131"/>
            <a:ext cx="1153072" cy="271847"/>
          </a:xfrm>
          <a:prstGeom prst="rect">
            <a:avLst/>
          </a:prstGeom>
          <a:solidFill>
            <a:srgbClr val="FFC000">
              <a:alpha val="32157"/>
            </a:srgbClr>
          </a:solidFill>
          <a:ln w="12700" cap="sq" cmpd="sng" algn="ctr">
            <a:solidFill>
              <a:srgbClr val="CCCC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066496" y="4077730"/>
            <a:ext cx="1519655" cy="271848"/>
          </a:xfrm>
          <a:prstGeom prst="rect">
            <a:avLst/>
          </a:prstGeom>
          <a:solidFill>
            <a:srgbClr val="FFC000">
              <a:alpha val="32157"/>
            </a:srgbClr>
          </a:solidFill>
          <a:ln w="12700" cap="sq" cmpd="sng" algn="ctr">
            <a:solidFill>
              <a:srgbClr val="CCCC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240917" y="4345461"/>
            <a:ext cx="1519655" cy="251253"/>
          </a:xfrm>
          <a:prstGeom prst="rect">
            <a:avLst/>
          </a:prstGeom>
          <a:solidFill>
            <a:srgbClr val="FFC000">
              <a:alpha val="32157"/>
            </a:srgbClr>
          </a:solidFill>
          <a:ln w="12700" cap="sq" cmpd="sng" algn="ctr">
            <a:solidFill>
              <a:srgbClr val="CCCC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342993" y="4572001"/>
            <a:ext cx="1519655" cy="288323"/>
          </a:xfrm>
          <a:prstGeom prst="rect">
            <a:avLst/>
          </a:prstGeom>
          <a:solidFill>
            <a:srgbClr val="FFC000">
              <a:alpha val="32157"/>
            </a:srgbClr>
          </a:solidFill>
          <a:ln w="12700" cap="sq" cmpd="sng" algn="ctr">
            <a:solidFill>
              <a:srgbClr val="CCCC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04985" y="3291016"/>
            <a:ext cx="5952396" cy="338554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player1: name = Alexandra; age = 25; gender = M</a:t>
            </a:r>
          </a:p>
        </p:txBody>
      </p:sp>
    </p:spTree>
    <p:extLst>
      <p:ext uri="{BB962C8B-B14F-4D97-AF65-F5344CB8AC3E}">
        <p14:creationId xmlns:p14="http://schemas.microsoft.com/office/powerpoint/2010/main" val="30713090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0000FF"/>
                </a:solidFill>
              </a:rPr>
              <a:t>7. Passing Address of Structure to Functions (5/5)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4061613" y="1588015"/>
            <a:ext cx="4572079" cy="1004279"/>
            <a:chOff x="4061613" y="1588015"/>
            <a:chExt cx="4572079" cy="1004279"/>
          </a:xfrm>
        </p:grpSpPr>
        <p:sp>
          <p:nvSpPr>
            <p:cNvPr id="20" name="Rectangle 19"/>
            <p:cNvSpPr/>
            <p:nvPr/>
          </p:nvSpPr>
          <p:spPr bwMode="auto">
            <a:xfrm>
              <a:off x="4634771" y="2151578"/>
              <a:ext cx="1687512" cy="33337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6833458" y="2151578"/>
              <a:ext cx="495300" cy="33337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7779608" y="2151578"/>
              <a:ext cx="311150" cy="33337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3" name="TextBox 62"/>
            <p:cNvSpPr txBox="1">
              <a:spLocks noChangeArrowheads="1"/>
            </p:cNvSpPr>
            <p:nvPr/>
          </p:nvSpPr>
          <p:spPr bwMode="auto">
            <a:xfrm>
              <a:off x="4408696" y="1892591"/>
              <a:ext cx="827916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dirty="0"/>
                <a:t>name</a:t>
              </a:r>
              <a:endParaRPr lang="en-SG" sz="1400" dirty="0"/>
            </a:p>
          </p:txBody>
        </p:sp>
        <p:sp>
          <p:nvSpPr>
            <p:cNvPr id="24" name="TextBox 63"/>
            <p:cNvSpPr txBox="1">
              <a:spLocks noChangeArrowheads="1"/>
            </p:cNvSpPr>
            <p:nvPr/>
          </p:nvSpPr>
          <p:spPr bwMode="auto">
            <a:xfrm>
              <a:off x="6525313" y="1892591"/>
              <a:ext cx="827916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age</a:t>
              </a:r>
              <a:endParaRPr lang="en-SG" sz="1400"/>
            </a:p>
          </p:txBody>
        </p:sp>
        <p:sp>
          <p:nvSpPr>
            <p:cNvPr id="25" name="TextBox 64"/>
            <p:cNvSpPr txBox="1">
              <a:spLocks noChangeArrowheads="1"/>
            </p:cNvSpPr>
            <p:nvPr/>
          </p:nvSpPr>
          <p:spPr bwMode="auto">
            <a:xfrm>
              <a:off x="7372514" y="1892591"/>
              <a:ext cx="827916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gender</a:t>
              </a:r>
              <a:endParaRPr lang="en-SG" sz="1400"/>
            </a:p>
          </p:txBody>
        </p:sp>
        <p:sp>
          <p:nvSpPr>
            <p:cNvPr id="26" name="TextBox 65"/>
            <p:cNvSpPr txBox="1">
              <a:spLocks noChangeArrowheads="1"/>
            </p:cNvSpPr>
            <p:nvPr/>
          </p:nvSpPr>
          <p:spPr bwMode="auto">
            <a:xfrm>
              <a:off x="4061613" y="1588015"/>
              <a:ext cx="803882" cy="307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dirty="0"/>
                <a:t>player1</a:t>
              </a:r>
              <a:endParaRPr lang="en-SG" sz="1400" dirty="0"/>
            </a:p>
          </p:txBody>
        </p:sp>
        <p:sp>
          <p:nvSpPr>
            <p:cNvPr id="27" name="Rectangle 66"/>
            <p:cNvSpPr>
              <a:spLocks noChangeArrowheads="1"/>
            </p:cNvSpPr>
            <p:nvPr/>
          </p:nvSpPr>
          <p:spPr bwMode="auto">
            <a:xfrm>
              <a:off x="4302777" y="1851433"/>
              <a:ext cx="4330915" cy="740861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8" name="TextBox 77"/>
          <p:cNvSpPr txBox="1">
            <a:spLocks noChangeArrowheads="1"/>
          </p:cNvSpPr>
          <p:nvPr/>
        </p:nvSpPr>
        <p:spPr bwMode="auto">
          <a:xfrm>
            <a:off x="533358" y="1667167"/>
            <a:ext cx="390271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Lucida Console" pitchFamily="49" charset="0"/>
              </a:rPr>
              <a:t>main()</a:t>
            </a:r>
          </a:p>
          <a:p>
            <a:endParaRPr lang="en-US" sz="2000" dirty="0">
              <a:solidFill>
                <a:srgbClr val="0000FF"/>
              </a:solidFill>
            </a:endParaRPr>
          </a:p>
          <a:p>
            <a:r>
              <a:rPr lang="en-US" sz="1600" dirty="0" err="1">
                <a:latin typeface="Lucida Console" pitchFamily="49" charset="0"/>
              </a:rPr>
              <a:t>change_name_and_age</a:t>
            </a:r>
            <a:r>
              <a:rPr lang="en-US" sz="1600" dirty="0">
                <a:latin typeface="Lucida Console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Lucida Console" pitchFamily="49" charset="0"/>
              </a:rPr>
              <a:t>&amp;player1</a:t>
            </a:r>
            <a:r>
              <a:rPr lang="en-US" sz="1600" dirty="0">
                <a:latin typeface="Lucida Console" pitchFamily="49" charset="0"/>
              </a:rPr>
              <a:t>);</a:t>
            </a:r>
            <a:endParaRPr lang="en-SG" sz="1600" dirty="0">
              <a:latin typeface="Lucida Console" pitchFamily="49" charset="0"/>
            </a:endParaRPr>
          </a:p>
        </p:txBody>
      </p:sp>
      <p:sp>
        <p:nvSpPr>
          <p:cNvPr id="29" name="TextBox 77"/>
          <p:cNvSpPr txBox="1">
            <a:spLocks noChangeArrowheads="1"/>
          </p:cNvSpPr>
          <p:nvPr/>
        </p:nvSpPr>
        <p:spPr bwMode="auto">
          <a:xfrm>
            <a:off x="533357" y="3351806"/>
            <a:ext cx="60404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  <a:latin typeface="Lucida Console" pitchFamily="49" charset="0"/>
              </a:rPr>
              <a:t>change_name_and_age</a:t>
            </a:r>
            <a:r>
              <a:rPr lang="en-US" dirty="0">
                <a:solidFill>
                  <a:srgbClr val="0000FF"/>
                </a:solidFill>
                <a:latin typeface="Lucida Console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Lucida Console" pitchFamily="49" charset="0"/>
              </a:rPr>
              <a:t>player_t</a:t>
            </a:r>
            <a:r>
              <a:rPr lang="en-US" dirty="0">
                <a:solidFill>
                  <a:srgbClr val="0000FF"/>
                </a:solidFill>
                <a:latin typeface="Lucida Console" pitchFamily="49" charset="0"/>
              </a:rPr>
              <a:t> *</a:t>
            </a:r>
            <a:r>
              <a:rPr lang="en-US" dirty="0" err="1">
                <a:solidFill>
                  <a:srgbClr val="0000FF"/>
                </a:solidFill>
                <a:latin typeface="Lucida Console" pitchFamily="49" charset="0"/>
              </a:rPr>
              <a:t>player_ptr</a:t>
            </a:r>
            <a:r>
              <a:rPr lang="en-US" dirty="0">
                <a:solidFill>
                  <a:srgbClr val="0000FF"/>
                </a:solidFill>
                <a:latin typeface="Lucida Console" pitchFamily="49" charset="0"/>
              </a:rPr>
              <a:t>)</a:t>
            </a:r>
            <a:endParaRPr lang="en-SG" dirty="0">
              <a:solidFill>
                <a:srgbClr val="0000FF"/>
              </a:solidFill>
              <a:latin typeface="Lucida Console" pitchFamily="49" charset="0"/>
            </a:endParaRPr>
          </a:p>
        </p:txBody>
      </p:sp>
      <p:cxnSp>
        <p:nvCxnSpPr>
          <p:cNvPr id="30" name="Straight Connector 29"/>
          <p:cNvCxnSpPr/>
          <p:nvPr/>
        </p:nvCxnSpPr>
        <p:spPr bwMode="auto">
          <a:xfrm>
            <a:off x="420130" y="3225114"/>
            <a:ext cx="8563232" cy="0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4658498" y="2141839"/>
            <a:ext cx="1285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</a:rPr>
              <a:t>"</a:t>
            </a:r>
            <a:r>
              <a:rPr lang="en-US" sz="1600" dirty="0" err="1">
                <a:solidFill>
                  <a:srgbClr val="006600"/>
                </a:solidFill>
                <a:latin typeface="Lucida Console" pitchFamily="49" charset="0"/>
              </a:rPr>
              <a:t>Brusco</a:t>
            </a:r>
            <a:r>
              <a:rPr lang="en-US" sz="1600" dirty="0">
                <a:solidFill>
                  <a:srgbClr val="006600"/>
                </a:solidFill>
                <a:latin typeface="Lucida Console" pitchFamily="49" charset="0"/>
              </a:rPr>
              <a:t>"</a:t>
            </a:r>
            <a:endParaRPr lang="en-SG" sz="1600" dirty="0">
              <a:solidFill>
                <a:srgbClr val="006600"/>
              </a:solidFill>
              <a:latin typeface="Lucida Console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17601" y="2146399"/>
            <a:ext cx="551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</a:rPr>
              <a:t>23</a:t>
            </a:r>
            <a:endParaRPr lang="en-SG" sz="1600" dirty="0">
              <a:solidFill>
                <a:srgbClr val="006600"/>
              </a:solidFill>
              <a:latin typeface="Lucida Console" pitchFamily="49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36997" y="2163790"/>
            <a:ext cx="543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</a:rPr>
              <a:t>'M'</a:t>
            </a:r>
            <a:endParaRPr lang="en-SG" sz="1600" dirty="0">
              <a:solidFill>
                <a:srgbClr val="006600"/>
              </a:solidFill>
              <a:latin typeface="Lucida Console" pitchFamily="49" charset="0"/>
            </a:endParaRPr>
          </a:p>
        </p:txBody>
      </p:sp>
      <p:sp>
        <p:nvSpPr>
          <p:cNvPr id="34" name="TextBox 77"/>
          <p:cNvSpPr txBox="1">
            <a:spLocks noChangeArrowheads="1"/>
          </p:cNvSpPr>
          <p:nvPr/>
        </p:nvSpPr>
        <p:spPr bwMode="auto">
          <a:xfrm>
            <a:off x="533358" y="4970539"/>
            <a:ext cx="54349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latin typeface="Lucida Console" pitchFamily="49" charset="0"/>
              </a:rPr>
              <a:t>strcpy</a:t>
            </a:r>
            <a:r>
              <a:rPr lang="en-US" sz="1600" dirty="0">
                <a:latin typeface="Lucida Console" pitchFamily="49" charset="0"/>
              </a:rPr>
              <a:t>((</a:t>
            </a:r>
            <a:r>
              <a:rPr lang="en-US" sz="1600" dirty="0">
                <a:solidFill>
                  <a:srgbClr val="C00000"/>
                </a:solidFill>
                <a:latin typeface="Lucida Console" pitchFamily="49" charset="0"/>
              </a:rPr>
              <a:t>*</a:t>
            </a:r>
            <a:r>
              <a:rPr lang="en-US" sz="1600" dirty="0" err="1">
                <a:solidFill>
                  <a:srgbClr val="C00000"/>
                </a:solidFill>
                <a:latin typeface="Lucida Console" pitchFamily="49" charset="0"/>
              </a:rPr>
              <a:t>player_ptr</a:t>
            </a:r>
            <a:r>
              <a:rPr lang="en-US" sz="1600" dirty="0">
                <a:latin typeface="Lucida Console" pitchFamily="49" charset="0"/>
              </a:rPr>
              <a:t>).name, "Alexandra");</a:t>
            </a:r>
          </a:p>
          <a:p>
            <a:r>
              <a:rPr lang="en-US" sz="1600" dirty="0">
                <a:latin typeface="Lucida Console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Lucida Console" pitchFamily="49" charset="0"/>
              </a:rPr>
              <a:t>*</a:t>
            </a:r>
            <a:r>
              <a:rPr lang="en-US" sz="1600" dirty="0" err="1">
                <a:solidFill>
                  <a:srgbClr val="C00000"/>
                </a:solidFill>
                <a:latin typeface="Lucida Console" pitchFamily="49" charset="0"/>
              </a:rPr>
              <a:t>player_ptr</a:t>
            </a:r>
            <a:r>
              <a:rPr lang="en-US" sz="1600" dirty="0">
                <a:latin typeface="Lucida Console" pitchFamily="49" charset="0"/>
              </a:rPr>
              <a:t>).age = 25;</a:t>
            </a:r>
            <a:endParaRPr lang="en-SG" sz="1600" dirty="0">
              <a:latin typeface="Lucida Console" pitchFamily="49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62618" y="2145957"/>
            <a:ext cx="1528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</a:rPr>
              <a:t>"</a:t>
            </a:r>
            <a:r>
              <a:rPr lang="en-US" sz="1600" dirty="0">
                <a:solidFill>
                  <a:srgbClr val="006600"/>
                </a:solidFill>
                <a:latin typeface="Lucida Console" pitchFamily="49" charset="0"/>
              </a:rPr>
              <a:t>Alexandra"</a:t>
            </a:r>
            <a:endParaRPr lang="en-SG" sz="1600" dirty="0">
              <a:solidFill>
                <a:srgbClr val="006600"/>
              </a:solidFill>
              <a:latin typeface="Lucida Console" pitchFamily="49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93916" y="2163790"/>
            <a:ext cx="551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6600"/>
                </a:solidFill>
              </a:rPr>
              <a:t>25</a:t>
            </a:r>
            <a:endParaRPr lang="en-SG" sz="1600" dirty="0">
              <a:solidFill>
                <a:srgbClr val="006600"/>
              </a:solidFill>
              <a:latin typeface="Lucida Console" pitchFamily="49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6031550" y="4108569"/>
            <a:ext cx="1518428" cy="685853"/>
            <a:chOff x="6031550" y="4108569"/>
            <a:chExt cx="1518428" cy="685853"/>
          </a:xfrm>
        </p:grpSpPr>
        <p:sp>
          <p:nvSpPr>
            <p:cNvPr id="38" name="Rectangle 37"/>
            <p:cNvSpPr/>
            <p:nvPr/>
          </p:nvSpPr>
          <p:spPr bwMode="auto">
            <a:xfrm>
              <a:off x="6672649" y="4399005"/>
              <a:ext cx="877329" cy="395417"/>
            </a:xfrm>
            <a:prstGeom prst="rect">
              <a:avLst/>
            </a:prstGeom>
            <a:solidFill>
              <a:srgbClr val="CCECFF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9" name="TextBox 62"/>
            <p:cNvSpPr txBox="1">
              <a:spLocks noChangeArrowheads="1"/>
            </p:cNvSpPr>
            <p:nvPr/>
          </p:nvSpPr>
          <p:spPr bwMode="auto">
            <a:xfrm>
              <a:off x="6031550" y="4108569"/>
              <a:ext cx="108594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dirty="0" err="1"/>
                <a:t>player_ptr</a:t>
              </a:r>
              <a:endParaRPr lang="en-SG" sz="1400" dirty="0"/>
            </a:p>
          </p:txBody>
        </p:sp>
      </p:grpSp>
      <p:cxnSp>
        <p:nvCxnSpPr>
          <p:cNvPr id="40" name="Straight Arrow Connector 39"/>
          <p:cNvCxnSpPr/>
          <p:nvPr/>
        </p:nvCxnSpPr>
        <p:spPr bwMode="auto">
          <a:xfrm flipH="1" flipV="1">
            <a:off x="6820930" y="2743200"/>
            <a:ext cx="383059" cy="1828800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rgbClr val="C0000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148909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1" grpId="1"/>
      <p:bldP spid="32" grpId="0"/>
      <p:bldP spid="32" grpId="1"/>
      <p:bldP spid="33" grpId="0"/>
      <p:bldP spid="34" grpId="0"/>
      <p:bldP spid="35" grpId="0"/>
      <p:bldP spid="3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8. The Arrow Operator (</a:t>
            </a:r>
            <a:r>
              <a:rPr lang="en-GB" sz="3600" dirty="0">
                <a:solidFill>
                  <a:srgbClr val="C00000"/>
                </a:solidFill>
              </a:rPr>
              <a:t>-&gt;</a:t>
            </a:r>
            <a:r>
              <a:rPr lang="en-GB" sz="3600" dirty="0">
                <a:solidFill>
                  <a:srgbClr val="0000FF"/>
                </a:solidFill>
              </a:rPr>
              <a:t>) (1/2)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33425" y="1411706"/>
            <a:ext cx="7834313" cy="1812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Expressions like </a:t>
            </a:r>
            <a:r>
              <a:rPr lang="en-US" sz="2400" dirty="0">
                <a:solidFill>
                  <a:srgbClr val="C00000"/>
                </a:solidFill>
                <a:latin typeface="Lucida Console" pitchFamily="49" charset="0"/>
                <a:cs typeface="Courier New" pitchFamily="49" charset="0"/>
              </a:rPr>
              <a:t>(*</a:t>
            </a:r>
            <a:r>
              <a:rPr lang="en-US" sz="2400" dirty="0" err="1">
                <a:solidFill>
                  <a:srgbClr val="C00000"/>
                </a:solidFill>
                <a:latin typeface="Lucida Console" pitchFamily="49" charset="0"/>
                <a:cs typeface="Courier New" pitchFamily="49" charset="0"/>
              </a:rPr>
              <a:t>player_ptr</a:t>
            </a:r>
            <a:r>
              <a:rPr lang="en-US" sz="2400" dirty="0">
                <a:solidFill>
                  <a:srgbClr val="C00000"/>
                </a:solidFill>
                <a:latin typeface="Lucida Console" pitchFamily="49" charset="0"/>
                <a:cs typeface="Courier New" pitchFamily="49" charset="0"/>
              </a:rPr>
              <a:t>).name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Courier New" pitchFamily="49" charset="0"/>
              </a:rPr>
              <a:t> </a:t>
            </a:r>
            <a:r>
              <a:rPr lang="en-US" sz="2400" dirty="0"/>
              <a:t>appear very often. Hence an alternative “shortcut” syntax is created for it.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arrow operator (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</a:rPr>
              <a:t>-&gt;</a:t>
            </a:r>
            <a:r>
              <a:rPr lang="en-US" sz="2400" dirty="0"/>
              <a:t>)</a:t>
            </a:r>
          </a:p>
        </p:txBody>
      </p:sp>
      <p:grpSp>
        <p:nvGrpSpPr>
          <p:cNvPr id="10" name="Group 46"/>
          <p:cNvGrpSpPr>
            <a:grpSpLocks/>
          </p:cNvGrpSpPr>
          <p:nvPr/>
        </p:nvGrpSpPr>
        <p:grpSpPr bwMode="auto">
          <a:xfrm>
            <a:off x="682625" y="3211346"/>
            <a:ext cx="7961313" cy="463550"/>
            <a:chOff x="682174" y="3981904"/>
            <a:chExt cx="7961083" cy="463097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682174" y="3981904"/>
              <a:ext cx="2990931" cy="463097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rgbClr val="8A8AB9"/>
              </a:solidFill>
              <a:miter lim="800000"/>
              <a:headEnd/>
              <a:tailEnd/>
            </a:ln>
            <a:effectLst>
              <a:outerShdw dist="38100" dir="2700000" algn="tl" rotWithShape="0">
                <a:srgbClr val="808080">
                  <a:alpha val="39998"/>
                </a:srgbClr>
              </a:outerShdw>
            </a:effectLst>
          </p:spPr>
          <p:txBody>
            <a:bodyPr/>
            <a:lstStyle/>
            <a:p>
              <a:pPr>
                <a:tabLst>
                  <a:tab pos="358775" algn="l"/>
                  <a:tab pos="715963" algn="l"/>
                  <a:tab pos="1074738" algn="l"/>
                </a:tabLst>
              </a:pPr>
              <a:r>
                <a:rPr lang="en-US" sz="2000" b="1" dirty="0">
                  <a:latin typeface="Courier New" pitchFamily="49" charset="0"/>
                </a:rPr>
                <a:t>(*</a:t>
              </a:r>
              <a:r>
                <a:rPr lang="en-US" sz="2000" b="1" dirty="0" err="1">
                  <a:latin typeface="Courier New" pitchFamily="49" charset="0"/>
                </a:rPr>
                <a:t>player_ptr</a:t>
              </a:r>
              <a:r>
                <a:rPr lang="en-US" sz="2000" b="1" dirty="0">
                  <a:latin typeface="Courier New" pitchFamily="49" charset="0"/>
                </a:rPr>
                <a:t>).name</a:t>
              </a: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5812826" y="3981904"/>
              <a:ext cx="2830431" cy="463097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rgbClr val="8A8AB9"/>
              </a:solidFill>
              <a:miter lim="800000"/>
              <a:headEnd/>
              <a:tailEnd/>
            </a:ln>
            <a:effectLst>
              <a:outerShdw dist="38100" dir="2700000" algn="tl" rotWithShape="0">
                <a:srgbClr val="808080">
                  <a:alpha val="39998"/>
                </a:srgbClr>
              </a:outerShdw>
            </a:effectLst>
          </p:spPr>
          <p:txBody>
            <a:bodyPr/>
            <a:lstStyle/>
            <a:p>
              <a:pPr>
                <a:tabLst>
                  <a:tab pos="358775" algn="l"/>
                  <a:tab pos="715963" algn="l"/>
                  <a:tab pos="1074738" algn="l"/>
                </a:tabLst>
              </a:pPr>
              <a:r>
                <a:rPr lang="en-US" sz="2000" b="1" dirty="0" err="1">
                  <a:latin typeface="Courier New" pitchFamily="49" charset="0"/>
                </a:rPr>
                <a:t>player_ptr</a:t>
              </a:r>
              <a:r>
                <a:rPr lang="en-US" sz="2000" b="1" dirty="0">
                  <a:latin typeface="Courier New" pitchFamily="49" charset="0"/>
                </a:rPr>
                <a:t>-&gt;name</a:t>
              </a:r>
            </a:p>
          </p:txBody>
        </p:sp>
        <p:sp>
          <p:nvSpPr>
            <p:cNvPr id="14" name="TextBox 41"/>
            <p:cNvSpPr txBox="1">
              <a:spLocks noChangeArrowheads="1"/>
            </p:cNvSpPr>
            <p:nvPr/>
          </p:nvSpPr>
          <p:spPr bwMode="auto">
            <a:xfrm>
              <a:off x="3646714" y="4028786"/>
              <a:ext cx="20465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i="1" dirty="0">
                  <a:solidFill>
                    <a:srgbClr val="006600"/>
                  </a:solidFill>
                </a:rPr>
                <a:t>is equivalent to</a:t>
              </a:r>
              <a:endParaRPr lang="en-SG" i="1" dirty="0">
                <a:solidFill>
                  <a:srgbClr val="006600"/>
                </a:solidFill>
              </a:endParaRPr>
            </a:p>
          </p:txBody>
        </p:sp>
      </p:grpSp>
      <p:grpSp>
        <p:nvGrpSpPr>
          <p:cNvPr id="15" name="Group 47"/>
          <p:cNvGrpSpPr>
            <a:grpSpLocks/>
          </p:cNvGrpSpPr>
          <p:nvPr/>
        </p:nvGrpSpPr>
        <p:grpSpPr bwMode="auto">
          <a:xfrm>
            <a:off x="682625" y="3894889"/>
            <a:ext cx="7961313" cy="461963"/>
            <a:chOff x="682174" y="4729390"/>
            <a:chExt cx="7961083" cy="463097"/>
          </a:xfrm>
        </p:grpSpPr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682174" y="4729390"/>
              <a:ext cx="3023014" cy="463097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rgbClr val="8A8AB9"/>
              </a:solidFill>
              <a:miter lim="800000"/>
              <a:headEnd/>
              <a:tailEnd/>
            </a:ln>
            <a:effectLst>
              <a:outerShdw dist="38100" dir="2700000" algn="tl" rotWithShape="0">
                <a:srgbClr val="808080">
                  <a:alpha val="39998"/>
                </a:srgbClr>
              </a:outerShdw>
            </a:effectLst>
          </p:spPr>
          <p:txBody>
            <a:bodyPr/>
            <a:lstStyle/>
            <a:p>
              <a:pPr>
                <a:tabLst>
                  <a:tab pos="358775" algn="l"/>
                  <a:tab pos="715963" algn="l"/>
                  <a:tab pos="1074738" algn="l"/>
                </a:tabLst>
              </a:pPr>
              <a:r>
                <a:rPr lang="en-US" sz="2000" b="1" dirty="0">
                  <a:latin typeface="Courier New" pitchFamily="49" charset="0"/>
                </a:rPr>
                <a:t>(*</a:t>
              </a:r>
              <a:r>
                <a:rPr lang="en-US" sz="2000" b="1" dirty="0" err="1">
                  <a:latin typeface="Courier New" pitchFamily="49" charset="0"/>
                </a:rPr>
                <a:t>player_ptr</a:t>
              </a:r>
              <a:r>
                <a:rPr lang="en-US" sz="2000" b="1" dirty="0">
                  <a:latin typeface="Courier New" pitchFamily="49" charset="0"/>
                </a:rPr>
                <a:t>).age</a:t>
              </a:r>
            </a:p>
          </p:txBody>
        </p:sp>
        <p:sp>
          <p:nvSpPr>
            <p:cNvPr id="17" name="Rectangle 8"/>
            <p:cNvSpPr>
              <a:spLocks noChangeArrowheads="1"/>
            </p:cNvSpPr>
            <p:nvPr/>
          </p:nvSpPr>
          <p:spPr bwMode="auto">
            <a:xfrm>
              <a:off x="5812826" y="4729390"/>
              <a:ext cx="2830431" cy="463097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rgbClr val="8A8AB9"/>
              </a:solidFill>
              <a:miter lim="800000"/>
              <a:headEnd/>
              <a:tailEnd/>
            </a:ln>
            <a:effectLst>
              <a:outerShdw dist="38100" dir="2700000" algn="tl" rotWithShape="0">
                <a:srgbClr val="808080">
                  <a:alpha val="39998"/>
                </a:srgbClr>
              </a:outerShdw>
            </a:effectLst>
          </p:spPr>
          <p:txBody>
            <a:bodyPr/>
            <a:lstStyle/>
            <a:p>
              <a:pPr>
                <a:tabLst>
                  <a:tab pos="358775" algn="l"/>
                  <a:tab pos="715963" algn="l"/>
                  <a:tab pos="1074738" algn="l"/>
                </a:tabLst>
              </a:pPr>
              <a:r>
                <a:rPr lang="en-US" sz="2000" b="1" dirty="0" err="1">
                  <a:latin typeface="Courier New" pitchFamily="49" charset="0"/>
                </a:rPr>
                <a:t>player_ptr</a:t>
              </a:r>
              <a:r>
                <a:rPr lang="en-US" sz="2000" b="1" dirty="0">
                  <a:latin typeface="Courier New" pitchFamily="49" charset="0"/>
                </a:rPr>
                <a:t>-&gt;age</a:t>
              </a:r>
            </a:p>
          </p:txBody>
        </p:sp>
        <p:sp>
          <p:nvSpPr>
            <p:cNvPr id="18" name="TextBox 45"/>
            <p:cNvSpPr txBox="1">
              <a:spLocks noChangeArrowheads="1"/>
            </p:cNvSpPr>
            <p:nvPr/>
          </p:nvSpPr>
          <p:spPr bwMode="auto">
            <a:xfrm>
              <a:off x="3646714" y="4776272"/>
              <a:ext cx="20465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i="1" dirty="0">
                  <a:solidFill>
                    <a:srgbClr val="006600"/>
                  </a:solidFill>
                </a:rPr>
                <a:t>is equivalent to</a:t>
              </a:r>
              <a:endParaRPr lang="en-SG" i="1" dirty="0">
                <a:solidFill>
                  <a:srgbClr val="006600"/>
                </a:solidFill>
              </a:endParaRPr>
            </a:p>
          </p:txBody>
        </p:sp>
      </p:grp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733425" y="4716379"/>
            <a:ext cx="7834313" cy="1796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Can we write </a:t>
            </a:r>
            <a:r>
              <a:rPr lang="en-US" sz="2400" dirty="0">
                <a:solidFill>
                  <a:srgbClr val="0000FF"/>
                </a:solidFill>
              </a:rPr>
              <a:t>*</a:t>
            </a:r>
            <a:r>
              <a:rPr lang="en-US" sz="2400" dirty="0" err="1">
                <a:solidFill>
                  <a:srgbClr val="0000FF"/>
                </a:solidFill>
              </a:rPr>
              <a:t>player_ptr.name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instead of </a:t>
            </a:r>
            <a:r>
              <a:rPr lang="en-US" sz="2400" dirty="0">
                <a:solidFill>
                  <a:srgbClr val="0000FF"/>
                </a:solidFill>
              </a:rPr>
              <a:t>(*</a:t>
            </a:r>
            <a:r>
              <a:rPr lang="en-US" sz="2400" dirty="0" err="1">
                <a:solidFill>
                  <a:srgbClr val="0000FF"/>
                </a:solidFill>
              </a:rPr>
              <a:t>player_ptr</a:t>
            </a:r>
            <a:r>
              <a:rPr lang="en-US" sz="2400" dirty="0">
                <a:solidFill>
                  <a:srgbClr val="0000FF"/>
                </a:solidFill>
              </a:rPr>
              <a:t>).name</a:t>
            </a:r>
            <a:r>
              <a:rPr lang="en-US" sz="2400" dirty="0"/>
              <a:t>? 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i="1" dirty="0">
                <a:solidFill>
                  <a:srgbClr val="0000FF"/>
                </a:solidFill>
              </a:rPr>
              <a:t>No</a:t>
            </a:r>
            <a:r>
              <a:rPr lang="en-US" sz="2400" dirty="0"/>
              <a:t>, because </a:t>
            </a:r>
            <a:r>
              <a:rPr lang="en-US" sz="2400" b="1" dirty="0">
                <a:solidFill>
                  <a:srgbClr val="FF0000"/>
                </a:solidFill>
              </a:rPr>
              <a:t>. </a:t>
            </a:r>
            <a:r>
              <a:rPr lang="en-US" sz="2400" dirty="0"/>
              <a:t>(dot) has higher precedence than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, so </a:t>
            </a:r>
            <a:r>
              <a:rPr lang="en-US" sz="2400" dirty="0">
                <a:solidFill>
                  <a:srgbClr val="0000FF"/>
                </a:solidFill>
              </a:rPr>
              <a:t>*</a:t>
            </a:r>
            <a:r>
              <a:rPr lang="en-US" sz="2400" dirty="0" err="1">
                <a:solidFill>
                  <a:srgbClr val="0000FF"/>
                </a:solidFill>
              </a:rPr>
              <a:t>player_ptr.name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means </a:t>
            </a:r>
            <a:r>
              <a:rPr lang="en-US" sz="2400" dirty="0">
                <a:solidFill>
                  <a:srgbClr val="0000FF"/>
                </a:solidFill>
              </a:rPr>
              <a:t>*(player_ptr.name)</a:t>
            </a:r>
            <a:r>
              <a:rPr 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849151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8. The Arrow Operator (</a:t>
            </a:r>
            <a:r>
              <a:rPr lang="en-GB" sz="3600" dirty="0">
                <a:solidFill>
                  <a:srgbClr val="C00000"/>
                </a:solidFill>
              </a:rPr>
              <a:t>-&gt;</a:t>
            </a:r>
            <a:r>
              <a:rPr lang="en-GB" sz="3600" dirty="0">
                <a:solidFill>
                  <a:srgbClr val="0000FF"/>
                </a:solidFill>
              </a:rPr>
              <a:t>) (2/2)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33425" y="1411706"/>
            <a:ext cx="7834313" cy="1000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Function </a:t>
            </a:r>
            <a:r>
              <a:rPr lang="en-US" sz="2400" dirty="0" err="1">
                <a:solidFill>
                  <a:srgbClr val="0000FF"/>
                </a:solidFill>
              </a:rPr>
              <a:t>change_name_and_age</a:t>
            </a:r>
            <a:r>
              <a:rPr lang="en-US" sz="2400" dirty="0">
                <a:solidFill>
                  <a:srgbClr val="0000FF"/>
                </a:solidFill>
              </a:rPr>
              <a:t>() </a:t>
            </a:r>
            <a:r>
              <a:rPr lang="en-US" sz="2400" dirty="0"/>
              <a:t>in</a:t>
            </a:r>
            <a:r>
              <a:rPr lang="en-US" sz="2400" dirty="0">
                <a:solidFill>
                  <a:srgbClr val="0000FF"/>
                </a:solidFill>
              </a:rPr>
              <a:t> Unit19_Demo5.c</a:t>
            </a:r>
            <a:r>
              <a:rPr lang="en-US" sz="2400" dirty="0"/>
              <a:t> modified to use the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2400" dirty="0"/>
              <a:t> operator.</a:t>
            </a:r>
          </a:p>
        </p:txBody>
      </p:sp>
      <p:grpSp>
        <p:nvGrpSpPr>
          <p:cNvPr id="20" name="Group 5"/>
          <p:cNvGrpSpPr>
            <a:grpSpLocks/>
          </p:cNvGrpSpPr>
          <p:nvPr/>
        </p:nvGrpSpPr>
        <p:grpSpPr bwMode="auto">
          <a:xfrm>
            <a:off x="860913" y="2283926"/>
            <a:ext cx="7368687" cy="1871908"/>
            <a:chOff x="790833" y="873162"/>
            <a:chExt cx="7369034" cy="1871681"/>
          </a:xfrm>
        </p:grpSpPr>
        <p:sp>
          <p:nvSpPr>
            <p:cNvPr id="21" name="TextBox 20"/>
            <p:cNvSpPr txBox="1"/>
            <p:nvPr/>
          </p:nvSpPr>
          <p:spPr>
            <a:xfrm>
              <a:off x="790833" y="1152292"/>
              <a:ext cx="7258192" cy="159255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To change a player’s name and age</a:t>
              </a:r>
            </a:p>
            <a:p>
              <a:pPr>
                <a:spcAft>
                  <a:spcPts val="300"/>
                </a:spcAft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change_name_and_age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*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player_ptr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spcAft>
                  <a:spcPts val="300"/>
                </a:spcAft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strcpy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player_ptr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name, 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"Alexandra"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spcAft>
                  <a:spcPts val="300"/>
                </a:spcAft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player_ptr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-&gt;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age = </a:t>
              </a:r>
              <a:r>
                <a:rPr lang="en-US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25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63538" algn="l"/>
                  <a:tab pos="714375" algn="l"/>
                  <a:tab pos="1077913" algn="l"/>
                  <a:tab pos="1430338" algn="l"/>
                  <a:tab pos="1793875" algn="l"/>
                </a:tabLst>
                <a:defRPr/>
              </a:pP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39536" y="873162"/>
              <a:ext cx="1920331" cy="369842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dirty="0"/>
                <a:t>Unit19_Demo6.c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19284410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9. Returning Structure from Functions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33425" y="1413164"/>
            <a:ext cx="7834313" cy="1561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 function can return a structure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Example: Define a function </a:t>
            </a:r>
            <a:r>
              <a:rPr lang="en-US" sz="2400" dirty="0" err="1">
                <a:solidFill>
                  <a:srgbClr val="0000FF"/>
                </a:solidFill>
              </a:rPr>
              <a:t>func</a:t>
            </a:r>
            <a:r>
              <a:rPr lang="en-US" sz="2400" dirty="0">
                <a:solidFill>
                  <a:srgbClr val="0000FF"/>
                </a:solidFill>
              </a:rPr>
              <a:t>()</a:t>
            </a:r>
            <a:r>
              <a:rPr lang="en-US" sz="2400" dirty="0"/>
              <a:t> that returns a structure of type </a:t>
            </a:r>
            <a:r>
              <a:rPr lang="en-US" sz="2400" dirty="0" err="1"/>
              <a:t>player_t</a:t>
            </a:r>
            <a:r>
              <a:rPr lang="en-US" sz="2400" dirty="0"/>
              <a:t>: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893888" y="2889395"/>
            <a:ext cx="5421312" cy="1344612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latin typeface="Courier New" pitchFamily="49" charset="0"/>
              </a:rPr>
              <a:t>player_t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func</a:t>
            </a:r>
            <a:r>
              <a:rPr lang="en-US" sz="2000" b="1" dirty="0">
                <a:latin typeface="Courier New" pitchFamily="49" charset="0"/>
              </a:rPr>
              <a:t>( ... ) { 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 	...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endParaRPr lang="en-US" sz="2000" b="1" dirty="0">
              <a:latin typeface="Courier New" pitchFamily="49" charset="0"/>
            </a:endParaRP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} 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41363" y="4349895"/>
            <a:ext cx="783431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To call </a:t>
            </a:r>
            <a:r>
              <a:rPr lang="en-US" sz="2400" dirty="0" err="1">
                <a:solidFill>
                  <a:srgbClr val="0000FF"/>
                </a:solidFill>
              </a:rPr>
              <a:t>func</a:t>
            </a:r>
            <a:r>
              <a:rPr lang="en-US" sz="2400" dirty="0">
                <a:solidFill>
                  <a:srgbClr val="0000FF"/>
                </a:solidFill>
              </a:rPr>
              <a:t>()</a:t>
            </a:r>
            <a:r>
              <a:rPr lang="en-US" sz="2400" dirty="0"/>
              <a:t>: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893888" y="4884882"/>
            <a:ext cx="5421313" cy="1062038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 err="1">
                <a:latin typeface="Courier New" pitchFamily="49" charset="0"/>
              </a:rPr>
              <a:t>player_t</a:t>
            </a:r>
            <a:r>
              <a:rPr lang="en-US" sz="2000" b="1" dirty="0">
                <a:latin typeface="Courier New" pitchFamily="49" charset="0"/>
              </a:rPr>
              <a:t> player3;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endParaRPr lang="en-US" sz="2000" b="1" dirty="0">
              <a:latin typeface="Courier New" pitchFamily="49" charset="0"/>
            </a:endParaRPr>
          </a:p>
          <a:p>
            <a:pPr>
              <a:tabLst>
                <a:tab pos="358775" algn="l"/>
                <a:tab pos="715963" algn="l"/>
                <a:tab pos="1074738" algn="l"/>
              </a:tabLst>
            </a:pPr>
            <a:r>
              <a:rPr lang="en-US" sz="2000" b="1" dirty="0">
                <a:latin typeface="Courier New" pitchFamily="49" charset="0"/>
              </a:rPr>
              <a:t>player3 = </a:t>
            </a:r>
            <a:r>
              <a:rPr lang="en-US" sz="2000" b="1" dirty="0" err="1">
                <a:latin typeface="Courier New" pitchFamily="49" charset="0"/>
              </a:rPr>
              <a:t>func</a:t>
            </a:r>
            <a:r>
              <a:rPr lang="en-US" sz="2000" b="1" dirty="0">
                <a:latin typeface="Courier New" pitchFamily="49" charset="0"/>
              </a:rPr>
              <a:t>( ... );</a:t>
            </a:r>
          </a:p>
        </p:txBody>
      </p:sp>
    </p:spTree>
    <p:extLst>
      <p:ext uri="{BB962C8B-B14F-4D97-AF65-F5344CB8AC3E}">
        <p14:creationId xmlns:p14="http://schemas.microsoft.com/office/powerpoint/2010/main" val="20771654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build="p" bldLvl="2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9. Demo #9: Returning Structure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grpSp>
        <p:nvGrpSpPr>
          <p:cNvPr id="14" name="Group 5"/>
          <p:cNvGrpSpPr>
            <a:grpSpLocks/>
          </p:cNvGrpSpPr>
          <p:nvPr/>
        </p:nvGrpSpPr>
        <p:grpSpPr bwMode="auto">
          <a:xfrm>
            <a:off x="739775" y="1243013"/>
            <a:ext cx="8010686" cy="4738885"/>
            <a:chOff x="624114" y="1112923"/>
            <a:chExt cx="8009480" cy="4737615"/>
          </a:xfrm>
        </p:grpSpPr>
        <p:sp>
          <p:nvSpPr>
            <p:cNvPr id="15" name="TextBox 14"/>
            <p:cNvSpPr txBox="1"/>
            <p:nvPr/>
          </p:nvSpPr>
          <p:spPr>
            <a:xfrm>
              <a:off x="624114" y="1235127"/>
              <a:ext cx="8009480" cy="46154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 err="1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main(void){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 player1, player2;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endParaRPr lang="en-SG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"Enter player 1's particulars:</a:t>
              </a:r>
              <a:r>
                <a:rPr lang="en-SG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player1 = </a:t>
              </a:r>
              <a:r>
                <a:rPr lang="en-SG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scan_player</a:t>
              </a:r>
              <a:r>
                <a:rPr lang="en-SG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"Enter player 2's particulars:</a:t>
              </a:r>
              <a:r>
                <a:rPr lang="en-SG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player2 = </a:t>
              </a:r>
              <a:r>
                <a:rPr lang="en-SG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scan_player</a:t>
              </a:r>
              <a:r>
                <a:rPr lang="en-SG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US" sz="1600" b="1" dirty="0">
                  <a:latin typeface="Courier New" pitchFamily="49" charset="0"/>
                  <a:cs typeface="Courier New" pitchFamily="49" charset="0"/>
                </a:rPr>
                <a:t>	. . .</a:t>
              </a:r>
              <a:endParaRPr lang="en-SG" sz="16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 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endParaRPr lang="en-SG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4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// To read in particulars of a player and return structure to caller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SG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scan_player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() {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player_t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 player;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endParaRPr lang="en-SG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"Enter name, age and gender: "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scanf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%s %d %c</a:t>
              </a:r>
              <a:r>
                <a:rPr lang="en-SG" sz="16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, player.name, &amp;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player.age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, &amp;</a:t>
              </a:r>
              <a:r>
                <a:rPr lang="en-SG" sz="1600" b="1" dirty="0" err="1">
                  <a:latin typeface="Courier New" pitchFamily="49" charset="0"/>
                  <a:cs typeface="Courier New" pitchFamily="49" charset="0"/>
                </a:rPr>
                <a:t>player.gender</a:t>
              </a: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endParaRPr lang="en-SG" sz="1000" b="1" dirty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600" b="1" dirty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 </a:t>
              </a:r>
              <a:r>
                <a:rPr lang="en-SG" sz="1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player;</a:t>
              </a:r>
            </a:p>
            <a:p>
              <a:pPr>
                <a:tabLst>
                  <a:tab pos="358775" algn="l"/>
                  <a:tab pos="717550" algn="l"/>
                  <a:tab pos="1076325" algn="l"/>
                  <a:tab pos="1435100" algn="l"/>
                  <a:tab pos="1792288" algn="l"/>
                </a:tabLst>
                <a:defRPr/>
              </a:pPr>
              <a:r>
                <a:rPr lang="en-SG" sz="1600" b="1" dirty="0">
                  <a:latin typeface="Courier New" pitchFamily="49" charset="0"/>
                  <a:cs typeface="Courier New" pitchFamily="49" charset="0"/>
                </a:rPr>
                <a:t>}</a:t>
              </a:r>
              <a:endParaRPr lang="en-US" sz="16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112863" y="1112923"/>
              <a:ext cx="1980902" cy="369788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dirty="0"/>
                <a:t>Unit19_Demo7.c</a:t>
              </a:r>
              <a:endParaRPr lang="en-SG" dirty="0"/>
            </a:p>
          </p:txBody>
        </p:sp>
      </p:grpSp>
      <p:sp>
        <p:nvSpPr>
          <p:cNvPr id="17" name="Line Callout 2 (Border and Accent Bar) 16"/>
          <p:cNvSpPr/>
          <p:nvPr/>
        </p:nvSpPr>
        <p:spPr bwMode="auto">
          <a:xfrm>
            <a:off x="4370888" y="4142593"/>
            <a:ext cx="3031875" cy="55245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25034"/>
              <a:gd name="adj5" fmla="val 64763"/>
              <a:gd name="adj6" fmla="val -39144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600">
                <a:latin typeface="Arial" charset="0"/>
                <a:cs typeface="Arial" charset="0"/>
              </a:rPr>
              <a:t>variable player </a:t>
            </a:r>
            <a:r>
              <a:rPr lang="en-US" sz="1600" dirty="0">
                <a:latin typeface="Arial" charset="0"/>
                <a:cs typeface="Arial" charset="0"/>
              </a:rPr>
              <a:t>temporarily stores the user’s inputs</a:t>
            </a:r>
            <a:endParaRPr lang="en-SG" sz="1600" dirty="0">
              <a:latin typeface="Arial" charset="0"/>
              <a:cs typeface="Arial" charset="0"/>
            </a:endParaRPr>
          </a:p>
        </p:txBody>
      </p:sp>
      <p:sp>
        <p:nvSpPr>
          <p:cNvPr id="18" name="Line Callout 2 (Border and Accent Bar) 17"/>
          <p:cNvSpPr/>
          <p:nvPr/>
        </p:nvSpPr>
        <p:spPr bwMode="auto">
          <a:xfrm>
            <a:off x="3577368" y="5551032"/>
            <a:ext cx="2414588" cy="381000"/>
          </a:xfrm>
          <a:prstGeom prst="accentBorderCallout2">
            <a:avLst>
              <a:gd name="adj1" fmla="val 63558"/>
              <a:gd name="adj2" fmla="val -8333"/>
              <a:gd name="adj3" fmla="val 63558"/>
              <a:gd name="adj4" fmla="val -22475"/>
              <a:gd name="adj5" fmla="val 21599"/>
              <a:gd name="adj6" fmla="val -36132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player is returned here</a:t>
            </a:r>
            <a:endParaRPr lang="en-SG" sz="1600" dirty="0">
              <a:latin typeface="Arial" charset="0"/>
              <a:cs typeface="Arial" charset="0"/>
            </a:endParaRPr>
          </a:p>
        </p:txBody>
      </p:sp>
      <p:sp>
        <p:nvSpPr>
          <p:cNvPr id="19" name="Line Callout 2 (Border and Accent Bar) 18"/>
          <p:cNvSpPr/>
          <p:nvPr/>
        </p:nvSpPr>
        <p:spPr bwMode="auto">
          <a:xfrm>
            <a:off x="6390733" y="2564858"/>
            <a:ext cx="2024062" cy="549275"/>
          </a:xfrm>
          <a:prstGeom prst="accentBorderCallout2">
            <a:avLst>
              <a:gd name="adj1" fmla="val 63558"/>
              <a:gd name="adj2" fmla="val -8333"/>
              <a:gd name="adj3" fmla="val 63558"/>
              <a:gd name="adj4" fmla="val -22475"/>
              <a:gd name="adj5" fmla="val -17840"/>
              <a:gd name="adj6" fmla="val -109667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600" dirty="0">
                <a:latin typeface="Arial" charset="0"/>
                <a:cs typeface="Arial" charset="0"/>
              </a:rPr>
              <a:t>returned structure is copied to player1</a:t>
            </a:r>
            <a:endParaRPr lang="en-SG" sz="1600" dirty="0">
              <a:latin typeface="Arial" charset="0"/>
              <a:cs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2369700" y="2301017"/>
            <a:ext cx="1646716" cy="268563"/>
          </a:xfrm>
          <a:prstGeom prst="rect">
            <a:avLst/>
          </a:prstGeom>
          <a:solidFill>
            <a:srgbClr val="FFC000">
              <a:alpha val="32157"/>
            </a:srgbClr>
          </a:solidFill>
          <a:ln w="12700" cap="sq" cmpd="sng" algn="ctr">
            <a:solidFill>
              <a:srgbClr val="CCCC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2369700" y="2765933"/>
            <a:ext cx="1646716" cy="268563"/>
          </a:xfrm>
          <a:prstGeom prst="rect">
            <a:avLst/>
          </a:prstGeom>
          <a:solidFill>
            <a:srgbClr val="FFC000">
              <a:alpha val="32157"/>
            </a:srgbClr>
          </a:solidFill>
          <a:ln w="12700" cap="sq" cmpd="sng" algn="ctr">
            <a:solidFill>
              <a:srgbClr val="CCCC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4321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Summary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20" y="1219200"/>
            <a:ext cx="8127386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In this unit, you have learned about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How to aggregate data in structures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How to pass structures to functions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How to return structures in functions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How to declare arrays of structures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063929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73163" y="2824163"/>
            <a:ext cx="6751637" cy="1143000"/>
          </a:xfrm>
        </p:spPr>
        <p:txBody>
          <a:bodyPr/>
          <a:lstStyle/>
          <a:p>
            <a:pPr algn="ctr" eaLnBrk="1" hangingPunct="1"/>
            <a:r>
              <a:rPr lang="en-GB" dirty="0">
                <a:solidFill>
                  <a:srgbClr val="9933FF"/>
                </a:solidFill>
                <a:latin typeface="+mn-lt"/>
              </a:rPr>
              <a:t>End of File</a:t>
            </a:r>
          </a:p>
        </p:txBody>
      </p:sp>
      <p:sp>
        <p:nvSpPr>
          <p:cNvPr id="3" name="[Slide Number Placeholder 8]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noFill/>
        </p:spPr>
        <p:txBody>
          <a:bodyPr/>
          <a:lstStyle/>
          <a:p>
            <a:pPr algn="l"/>
            <a:r>
              <a:rPr lang="en-US"/>
              <a:t>Programming Methodology</a:t>
            </a:r>
            <a:endParaRPr lang="en-US" dirty="0"/>
          </a:p>
        </p:txBody>
      </p:sp>
      <p:sp>
        <p:nvSpPr>
          <p:cNvPr id="4" name="[Date Placeholder 3]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Unit19</a:t>
            </a:r>
            <a:r>
              <a:rPr dirty="0"/>
              <a:t> - </a:t>
            </a:r>
            <a:fld id="{24D17162-63A3-49DC-92B1-933428BCC85F}" type="slidenum">
              <a:rPr smtClean="0"/>
              <a:pPr>
                <a:defRPr/>
              </a:pPr>
              <a:t>40</a:t>
            </a:fld>
            <a:endParaRPr dirty="0"/>
          </a:p>
        </p:txBody>
      </p:sp>
      <p:sp>
        <p:nvSpPr>
          <p:cNvPr id="5" name="[Footer Placeholder 6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IT - TDT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23988</TotalTime>
  <Words>3996</Words>
  <Application>Microsoft Macintosh PowerPoint</Application>
  <PresentationFormat>On-screen Show (4:3)</PresentationFormat>
  <Paragraphs>716</Paragraphs>
  <Slides>40</Slides>
  <Notes>37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Courier New</vt:lpstr>
      <vt:lpstr>Lucida Console</vt:lpstr>
      <vt:lpstr>Times New Roman</vt:lpstr>
      <vt:lpstr>Wingdings</vt:lpstr>
      <vt:lpstr>Clarity</vt:lpstr>
      <vt:lpstr>http://www.comp.nus.edu.sg/~cs1010/</vt:lpstr>
      <vt:lpstr>Programming Methodology (phương pháp LẬP TRÌNH) </vt:lpstr>
      <vt:lpstr>Acknowledgement</vt:lpstr>
      <vt:lpstr>Policies for students</vt:lpstr>
      <vt:lpstr>Recording of modifications</vt:lpstr>
      <vt:lpstr>Unit 19: Structures</vt:lpstr>
      <vt:lpstr>Unit 19: Structures (1/2)</vt:lpstr>
      <vt:lpstr>Unit 19: Structures (2/2)</vt:lpstr>
      <vt:lpstr>1. Organizing Data (1/4)</vt:lpstr>
      <vt:lpstr>1. Organizing Data (2/4)</vt:lpstr>
      <vt:lpstr>1. Organizing Data (3/4)</vt:lpstr>
      <vt:lpstr>1. Organizing Data (4/4)</vt:lpstr>
      <vt:lpstr>2. Structure Types (1/2)</vt:lpstr>
      <vt:lpstr>2. Structure Types (2/2)</vt:lpstr>
      <vt:lpstr>3. Structure Variables (1/3)</vt:lpstr>
      <vt:lpstr>3. Structure Variables (2/3)</vt:lpstr>
      <vt:lpstr>3. Structure Variables (3/3)</vt:lpstr>
      <vt:lpstr>3.1 Initializing Structure Variables</vt:lpstr>
      <vt:lpstr>3.2 Accessing Members of a Structure Variable</vt:lpstr>
      <vt:lpstr>3.3 Demo #1: Initializing and Accessing Members</vt:lpstr>
      <vt:lpstr>3.4 Reading a Structure Member</vt:lpstr>
      <vt:lpstr>4. Assigning Structures</vt:lpstr>
      <vt:lpstr>5. Passing Structures to Functions</vt:lpstr>
      <vt:lpstr>5. Demo #2: Passing Structures to Functions</vt:lpstr>
      <vt:lpstr>6. Array of Structures (1/2)</vt:lpstr>
      <vt:lpstr>6. Array of Structures (2/2)</vt:lpstr>
      <vt:lpstr>6. Demo #3: Array of Structures (1/3)</vt:lpstr>
      <vt:lpstr>6. Demo #3: Array of Structures (2/3)</vt:lpstr>
      <vt:lpstr>6. Demo #3: Array of Structures (3/3)</vt:lpstr>
      <vt:lpstr>7. Passing Address of Structure to Functions (1/5)</vt:lpstr>
      <vt:lpstr>7. Passing Address of Structure to Functions (2/5)</vt:lpstr>
      <vt:lpstr>7. Passing Address of Structure to Functions (3/5)</vt:lpstr>
      <vt:lpstr>7. Passing Address of Structure to Functions (4/5)</vt:lpstr>
      <vt:lpstr>7. Passing Address of Structure to Functions (5/5)</vt:lpstr>
      <vt:lpstr>8. The Arrow Operator (-&gt;) (1/2)</vt:lpstr>
      <vt:lpstr>8. The Arrow Operator (-&gt;) (2/2)</vt:lpstr>
      <vt:lpstr>9. Returning Structure from Functions</vt:lpstr>
      <vt:lpstr>9. Demo #9: Returning Structure</vt:lpstr>
      <vt:lpstr>Summary</vt:lpstr>
      <vt:lpstr>End of File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Microsoft Office User</cp:lastModifiedBy>
  <cp:revision>1697</cp:revision>
  <cp:lastPrinted>2014-07-01T03:51:49Z</cp:lastPrinted>
  <dcterms:created xsi:type="dcterms:W3CDTF">1998-09-05T15:03:32Z</dcterms:created>
  <dcterms:modified xsi:type="dcterms:W3CDTF">2023-01-08T16:19:02Z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