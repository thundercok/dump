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3"/>
  </p:notesMasterIdLst>
  <p:handoutMasterIdLst>
    <p:handoutMasterId r:id="rId34"/>
  </p:handoutMasterIdLst>
  <p:sldIdLst>
    <p:sldId id="287" r:id="rId2"/>
    <p:sldId id="288" r:id="rId3"/>
    <p:sldId id="435" r:id="rId4"/>
    <p:sldId id="307" r:id="rId5"/>
    <p:sldId id="308" r:id="rId6"/>
    <p:sldId id="431" r:id="rId7"/>
    <p:sldId id="309" r:id="rId8"/>
    <p:sldId id="311" r:id="rId9"/>
    <p:sldId id="400" r:id="rId10"/>
    <p:sldId id="403" r:id="rId11"/>
    <p:sldId id="404" r:id="rId12"/>
    <p:sldId id="405" r:id="rId13"/>
    <p:sldId id="406" r:id="rId14"/>
    <p:sldId id="407" r:id="rId15"/>
    <p:sldId id="408" r:id="rId16"/>
    <p:sldId id="410" r:id="rId17"/>
    <p:sldId id="409" r:id="rId18"/>
    <p:sldId id="312" r:id="rId19"/>
    <p:sldId id="313" r:id="rId20"/>
    <p:sldId id="314" r:id="rId21"/>
    <p:sldId id="315" r:id="rId22"/>
    <p:sldId id="438" r:id="rId23"/>
    <p:sldId id="316" r:id="rId24"/>
    <p:sldId id="317" r:id="rId25"/>
    <p:sldId id="444" r:id="rId26"/>
    <p:sldId id="445" r:id="rId27"/>
    <p:sldId id="446" r:id="rId28"/>
    <p:sldId id="447" r:id="rId29"/>
    <p:sldId id="448" r:id="rId30"/>
    <p:sldId id="449" r:id="rId31"/>
    <p:sldId id="350" r:id="rId32"/>
  </p:sldIdLst>
  <p:sldSz cx="9144000" cy="6858000" type="screen4x3"/>
  <p:notesSz cx="6997700" cy="9283700"/>
  <p:custShowLst>
    <p:custShow name="Custom Show 1" id="0">
      <p:sldLst>
        <p:sld r:id="rId2"/>
        <p:sld r:id="rId21"/>
        <p:sld r:id="rId20"/>
        <p:sld r:id="rId3"/>
        <p:sld r:id="rId9"/>
        <p:sld r:id="rId19"/>
      </p:sldLst>
    </p:custShow>
  </p:custShow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itchFamily="2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itchFamily="2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itchFamily="2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itchFamily="2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itchFamily="2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9">
          <p15:clr>
            <a:srgbClr val="A4A3A4"/>
          </p15:clr>
        </p15:guide>
        <p15:guide id="2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EA8FE9-6A38-1943-944B-CB31B70F7BCC}" v="3" dt="2022-03-29T09:20:17.3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719"/>
  </p:normalViewPr>
  <p:slideViewPr>
    <p:cSldViewPr snapToGrid="0">
      <p:cViewPr varScale="1">
        <p:scale>
          <a:sx n="152" d="100"/>
          <a:sy n="152" d="100"/>
        </p:scale>
        <p:origin x="2304" y="168"/>
      </p:cViewPr>
      <p:guideLst>
        <p:guide orient="horz" pos="679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ynh Ngoc Tu" userId="c95d9f86-079b-4b8f-8d00-c3090cca29c6" providerId="ADAL" clId="{9CEA8FE9-6A38-1943-944B-CB31B70F7BCC}"/>
    <pc:docChg chg="custSel modSld">
      <pc:chgData name="Huynh Ngoc Tu" userId="c95d9f86-079b-4b8f-8d00-c3090cca29c6" providerId="ADAL" clId="{9CEA8FE9-6A38-1943-944B-CB31B70F7BCC}" dt="2022-04-05T03:53:14.192" v="7" actId="20577"/>
      <pc:docMkLst>
        <pc:docMk/>
      </pc:docMkLst>
      <pc:sldChg chg="modSp mod">
        <pc:chgData name="Huynh Ngoc Tu" userId="c95d9f86-079b-4b8f-8d00-c3090cca29c6" providerId="ADAL" clId="{9CEA8FE9-6A38-1943-944B-CB31B70F7BCC}" dt="2022-04-05T03:53:14.192" v="7" actId="20577"/>
        <pc:sldMkLst>
          <pc:docMk/>
          <pc:sldMk cId="0" sldId="287"/>
        </pc:sldMkLst>
        <pc:spChg chg="mod">
          <ac:chgData name="Huynh Ngoc Tu" userId="c95d9f86-079b-4b8f-8d00-c3090cca29c6" providerId="ADAL" clId="{9CEA8FE9-6A38-1943-944B-CB31B70F7BCC}" dt="2022-04-05T03:53:14.192" v="7" actId="20577"/>
          <ac:spMkLst>
            <pc:docMk/>
            <pc:sldMk cId="0" sldId="287"/>
            <ac:spMk id="308226" creationId="{9F7CB27E-A13F-6B46-A907-17BE6C57F944}"/>
          </ac:spMkLst>
        </pc:spChg>
      </pc:sldChg>
      <pc:sldChg chg="modSp mod">
        <pc:chgData name="Huynh Ngoc Tu" userId="c95d9f86-079b-4b8f-8d00-c3090cca29c6" providerId="ADAL" clId="{9CEA8FE9-6A38-1943-944B-CB31B70F7BCC}" dt="2022-04-05T03:53:03.560" v="5" actId="20577"/>
        <pc:sldMkLst>
          <pc:docMk/>
          <pc:sldMk cId="0" sldId="350"/>
        </pc:sldMkLst>
        <pc:spChg chg="mod">
          <ac:chgData name="Huynh Ngoc Tu" userId="c95d9f86-079b-4b8f-8d00-c3090cca29c6" providerId="ADAL" clId="{9CEA8FE9-6A38-1943-944B-CB31B70F7BCC}" dt="2022-04-05T03:53:03.560" v="5" actId="20577"/>
          <ac:spMkLst>
            <pc:docMk/>
            <pc:sldMk cId="0" sldId="350"/>
            <ac:spMk id="437250" creationId="{4F623D87-1349-3947-89B7-EB9FDF3B765E}"/>
          </ac:spMkLst>
        </pc:spChg>
      </pc:sldChg>
      <pc:sldChg chg="modSp mod">
        <pc:chgData name="Huynh Ngoc Tu" userId="c95d9f86-079b-4b8f-8d00-c3090cca29c6" providerId="ADAL" clId="{9CEA8FE9-6A38-1943-944B-CB31B70F7BCC}" dt="2022-03-29T09:26:29.167" v="3" actId="27636"/>
        <pc:sldMkLst>
          <pc:docMk/>
          <pc:sldMk cId="1108103377" sldId="400"/>
        </pc:sldMkLst>
        <pc:spChg chg="mod">
          <ac:chgData name="Huynh Ngoc Tu" userId="c95d9f86-079b-4b8f-8d00-c3090cca29c6" providerId="ADAL" clId="{9CEA8FE9-6A38-1943-944B-CB31B70F7BCC}" dt="2022-03-29T09:26:29.167" v="3" actId="27636"/>
          <ac:spMkLst>
            <pc:docMk/>
            <pc:sldMk cId="1108103377" sldId="400"/>
            <ac:spMk id="3" creationId="{00000000-0000-0000-0000-000000000000}"/>
          </ac:spMkLst>
        </pc:spChg>
      </pc:sldChg>
      <pc:sldChg chg="modSp">
        <pc:chgData name="Huynh Ngoc Tu" userId="c95d9f86-079b-4b8f-8d00-c3090cca29c6" providerId="ADAL" clId="{9CEA8FE9-6A38-1943-944B-CB31B70F7BCC}" dt="2022-03-29T09:20:17.391" v="2" actId="14100"/>
        <pc:sldMkLst>
          <pc:docMk/>
          <pc:sldMk cId="26932634" sldId="407"/>
        </pc:sldMkLst>
        <pc:picChg chg="mod">
          <ac:chgData name="Huynh Ngoc Tu" userId="c95d9f86-079b-4b8f-8d00-c3090cca29c6" providerId="ADAL" clId="{9CEA8FE9-6A38-1943-944B-CB31B70F7BCC}" dt="2022-03-29T09:20:17.391" v="2" actId="14100"/>
          <ac:picMkLst>
            <pc:docMk/>
            <pc:sldMk cId="26932634" sldId="407"/>
            <ac:picMk id="4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8CE5C5E0-346B-BB4F-9BB2-AB71CCB6064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 eaLnBrk="0" hangingPunct="0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590FD843-BB50-E044-BF6F-74EB69871CC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>
            <a:extLst>
              <a:ext uri="{FF2B5EF4-FFF2-40B4-BE49-F238E27FC236}">
                <a16:creationId xmlns:a16="http://schemas.microsoft.com/office/drawing/2014/main" id="{459D7F74-075E-9548-85BF-B5D172AD76E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 eaLnBrk="0" hangingPunct="0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>
            <a:extLst>
              <a:ext uri="{FF2B5EF4-FFF2-40B4-BE49-F238E27FC236}">
                <a16:creationId xmlns:a16="http://schemas.microsoft.com/office/drawing/2014/main" id="{26FFFA62-E4C8-9241-88B2-10A3B9BE43C8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53A063CE-7E43-E740-B483-7ECAFB09239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3EE8F2AD-F748-0047-B5EC-0C4AA9746B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 eaLnBrk="0" hangingPunct="0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D764C843-4CD6-DB4D-9B2F-FE6B9785E1C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 eaLnBrk="0" hangingPunct="0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948" name="Rectangle 4">
            <a:extLst>
              <a:ext uri="{FF2B5EF4-FFF2-40B4-BE49-F238E27FC236}">
                <a16:creationId xmlns:a16="http://schemas.microsoft.com/office/drawing/2014/main" id="{D76E1984-84A7-8848-B6D9-9F9367ED3D9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A282AAFC-D2F9-4E48-B111-6D650166C29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0075"/>
            <a:ext cx="5130800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CF363A04-BBDE-3B47-88D3-08805D8F336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 eaLnBrk="0" hangingPunct="0">
              <a:defRPr sz="12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5668DCF7-3202-664A-8300-914284F33A4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A27432A3-5CE7-0743-BC46-D09B33AD3F9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ＭＳ Ｐゴシック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CD0A1BB8-B493-4C42-9EE4-6907FADFCA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17FF2FFE-6F77-9F49-91FC-3D78D9F1C975}" type="slidenum">
              <a:rPr lang="en-US" altLang="en-US" sz="1200"/>
              <a:pPr/>
              <a:t>1</a:t>
            </a:fld>
            <a:endParaRPr lang="en-US" altLang="en-US" sz="1200"/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B9B82643-9167-2047-8D0A-4CF832C435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06216E93-5F7F-6844-BB63-339DF8A87E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3E498D2E-144C-2044-B4FD-3B64C1F1CB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9D7E3CB3-5DF3-A84F-9A5F-63E6FC7F74B4}" type="slidenum">
              <a:rPr lang="en-US" altLang="en-US" sz="1200"/>
              <a:pPr/>
              <a:t>2</a:t>
            </a:fld>
            <a:endParaRPr lang="en-US" altLang="en-US" sz="1200"/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FBBB433C-3BBA-C249-9CB6-A2F40AEBC2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2DD9ABB3-1098-2346-BE5F-B47AF901F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41E5305D-09E4-D24B-B36C-25E4249520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B603C668-FB15-0640-B043-2AB6802924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9E7FDE02-BF45-254A-A253-BDCF124D5E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69EC3D72-408B-2841-9B72-1B2AD793A143}" type="slidenum">
              <a:rPr lang="en-US" altLang="en-US" sz="1200"/>
              <a:pPr/>
              <a:t>4</a:t>
            </a:fld>
            <a:endParaRPr lang="en-US" altLang="en-US" sz="1200"/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314CD3BF-383A-6A4F-998F-E6FA1465335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470B1EB0-82E6-8A43-A2A4-C3EF2B536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7FD13519-5B3A-AC47-BF84-A69F3C6BB5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E17461E4-1358-AE4D-975C-04CB27441A8E}" type="slidenum">
              <a:rPr lang="en-US" altLang="en-US" sz="1200"/>
              <a:pPr/>
              <a:t>5</a:t>
            </a:fld>
            <a:endParaRPr lang="en-US" altLang="en-US" sz="1200"/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D2EFD74D-3DF5-7C4E-9384-2A749F0D5ED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A2D8D768-7378-084F-81B9-E3DE4BCA4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E66279B6-97B9-4345-8113-4525BC80CC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68106759-B954-484B-B5B0-2B85654E7531}" type="slidenum">
              <a:rPr lang="en-US" altLang="en-US" sz="1200"/>
              <a:pPr/>
              <a:t>6</a:t>
            </a:fld>
            <a:endParaRPr lang="en-US" altLang="en-US" sz="1200"/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4E073B0A-FDE9-A246-89BA-5F4F7D9379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1EDB19A4-7FDC-294C-98B5-FE1B953FA0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4CE6B721-1E20-214B-A139-D991FE6937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35570694-08CC-3C4D-8F87-6D97904A3BFA}" type="slidenum">
              <a:rPr lang="en-US" altLang="en-US" sz="1200"/>
              <a:pPr/>
              <a:t>7</a:t>
            </a:fld>
            <a:endParaRPr lang="en-US" altLang="en-US" sz="1200"/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AF8E1072-E22C-A94A-ADB8-8F5D606713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A9B0D8CA-E729-7B49-AB7B-C06A2E608B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41C7683A-4E83-0848-B765-7CAFADCDA9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45D00527-C944-014E-B18B-85121636F5CB}" type="slidenum">
              <a:rPr lang="en-US" altLang="en-US" sz="1200"/>
              <a:pPr/>
              <a:t>8</a:t>
            </a:fld>
            <a:endParaRPr lang="en-US" altLang="en-US" sz="1200"/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A7F5BF1E-2E44-674D-A0BD-2035CAB077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B40FCFC6-87E7-3E48-AC68-4FD414FEE3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C1EB67-F149-44AB-8268-6FBAA37BC8D1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086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C1EB67-F149-44AB-8268-6FBAA37BC8D1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8915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DCB0831F-0C5A-DC4F-A2D6-3FE6B8EE656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96BF1F96-7C34-374F-9265-9B1C1894808C}" type="slidenum">
              <a:rPr lang="en-US" altLang="en-US" sz="1200"/>
              <a:pPr/>
              <a:t>18</a:t>
            </a:fld>
            <a:endParaRPr lang="en-US" altLang="en-US" sz="1200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D48A37A1-6D70-AD46-9E8B-30D16F6AE4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7753D7CF-B81C-384F-9DE7-830506023A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F56EAC30-FB60-3E4A-AD5E-5002BD5AC00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B493CBB9-4135-804B-B8CF-AF07E9CFF0E0}" type="slidenum">
              <a:rPr lang="en-US" altLang="en-US" sz="1200"/>
              <a:pPr/>
              <a:t>19</a:t>
            </a:fld>
            <a:endParaRPr lang="en-US" altLang="en-US" sz="1200"/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CFA41954-0343-6F4C-9E09-54AD2CA088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28E4C26E-9E90-6A44-A66D-2EFC566EA8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FB7A7FA8-A2ED-BC40-B25A-F816525C43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CB1C79CF-8345-1249-9DB4-1A62F7149D25}" type="slidenum">
              <a:rPr lang="en-US" altLang="en-US" sz="1200"/>
              <a:pPr/>
              <a:t>20</a:t>
            </a:fld>
            <a:endParaRPr lang="en-US" altLang="en-US" sz="1200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ADF0AD09-E0D9-2442-B7B0-6EE0DB7F93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41F91C7C-8168-1940-8613-17492CC6F3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72EA4981-72E5-A74F-BD8E-921281089FC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A6DC3236-6456-EF4F-924A-C656AC84F650}" type="slidenum">
              <a:rPr lang="en-US" altLang="en-US" sz="1200"/>
              <a:pPr/>
              <a:t>21</a:t>
            </a:fld>
            <a:endParaRPr lang="en-US" altLang="en-US" sz="1200"/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45707DFA-64D3-6F42-A8E7-497D888858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C268609C-9EFE-C145-A8F2-75C28E3719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01E6AC86-88AA-8B44-9AAD-68E1A50C08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9E207867-00EB-E545-A1F5-393D6C098B11}" type="slidenum">
              <a:rPr lang="en-US" altLang="en-US" sz="1200"/>
              <a:pPr/>
              <a:t>22</a:t>
            </a:fld>
            <a:endParaRPr lang="en-US" altLang="en-US" sz="1200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647C503B-B45C-8A44-B65A-FD7173BABF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01B803F5-826A-EA42-B051-1F9F1321ED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0A5C40B1-7A0D-E94F-AFAA-F1BF0CB215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14F0BA81-5091-DB49-ACE9-5118688F9D49}" type="slidenum">
              <a:rPr lang="en-US" altLang="en-US" sz="1200"/>
              <a:pPr/>
              <a:t>23</a:t>
            </a:fld>
            <a:endParaRPr lang="en-US" altLang="en-US" sz="1200"/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286F33D6-DEC0-4F45-B29D-1B417E68D5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6EA2579B-ECE7-3745-9E0F-C6C4FAE2D3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9C6C420F-0777-E24D-94DC-60DC6F3C1D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C63843F4-A8C1-DB4F-B77C-306C594854DF}" type="slidenum">
              <a:rPr lang="en-US" altLang="en-US" sz="1200"/>
              <a:pPr/>
              <a:t>24</a:t>
            </a:fld>
            <a:endParaRPr lang="en-US" altLang="en-US" sz="1200"/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485F5125-7C6D-E348-AAB3-10694EDCF7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C2B0AEF5-25D8-744C-8A1E-7B4BA507F6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2">
            <a:extLst>
              <a:ext uri="{FF2B5EF4-FFF2-40B4-BE49-F238E27FC236}">
                <a16:creationId xmlns:a16="http://schemas.microsoft.com/office/drawing/2014/main" id="{9C140D8B-6538-0E4F-9ADB-61B00A20AC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79" name="Rectangle 3">
            <a:extLst>
              <a:ext uri="{FF2B5EF4-FFF2-40B4-BE49-F238E27FC236}">
                <a16:creationId xmlns:a16="http://schemas.microsoft.com/office/drawing/2014/main" id="{14D407B3-FD73-E341-BB1E-A2153884A8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90DA63F3-1AE0-7644-B3D9-86CDBFCB5E5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C84DEAC7-3CBB-4546-AF0A-5AA1911E61AF}" type="slidenum">
              <a:rPr lang="en-US" altLang="en-US" sz="1200"/>
              <a:pPr algn="r"/>
              <a:t>26</a:t>
            </a:fld>
            <a:endParaRPr lang="en-US" altLang="en-US" sz="1200"/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7361B803-5025-6549-9E11-72A4F33E88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6CE99B0B-30A9-194B-906A-527D370D9C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>
            <a:extLst>
              <a:ext uri="{FF2B5EF4-FFF2-40B4-BE49-F238E27FC236}">
                <a16:creationId xmlns:a16="http://schemas.microsoft.com/office/drawing/2014/main" id="{72E7E28F-B489-E143-B2FB-BF2AC931E9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7" name="Rectangle 3">
            <a:extLst>
              <a:ext uri="{FF2B5EF4-FFF2-40B4-BE49-F238E27FC236}">
                <a16:creationId xmlns:a16="http://schemas.microsoft.com/office/drawing/2014/main" id="{885C7569-30F4-D54A-A32F-51662F0B5B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>
            <a:extLst>
              <a:ext uri="{FF2B5EF4-FFF2-40B4-BE49-F238E27FC236}">
                <a16:creationId xmlns:a16="http://schemas.microsoft.com/office/drawing/2014/main" id="{8F03D2EE-23DD-8145-8624-67A935443F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>
            <a:extLst>
              <a:ext uri="{FF2B5EF4-FFF2-40B4-BE49-F238E27FC236}">
                <a16:creationId xmlns:a16="http://schemas.microsoft.com/office/drawing/2014/main" id="{C1E8D8FD-F5C3-C349-8905-9E1BACE214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>
            <a:extLst>
              <a:ext uri="{FF2B5EF4-FFF2-40B4-BE49-F238E27FC236}">
                <a16:creationId xmlns:a16="http://schemas.microsoft.com/office/drawing/2014/main" id="{2D5FA717-E97D-3547-AC3B-12C45A7D458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F2A74779-A45C-174D-BF2C-3C6A8BEFBB7D}" type="slidenum">
              <a:rPr lang="en-US" altLang="en-US" sz="1200"/>
              <a:pPr algn="r"/>
              <a:t>29</a:t>
            </a:fld>
            <a:endParaRPr lang="en-US" altLang="en-US" sz="1200"/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32CC572D-FB14-A045-A4D7-357E518FE4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131076" name="Rectangle 3">
            <a:extLst>
              <a:ext uri="{FF2B5EF4-FFF2-40B4-BE49-F238E27FC236}">
                <a16:creationId xmlns:a16="http://schemas.microsoft.com/office/drawing/2014/main" id="{766C88E0-15A0-9749-976B-0F57ADC8C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9AF1751F-D84F-F14B-9974-CAC9C829FE82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31" tIns="46516" rIns="93031" bIns="46516" anchor="b"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0DEDBF38-96B3-3F4D-B4AB-CA98F9148DE7}" type="slidenum">
              <a:rPr lang="en-US" altLang="en-US" sz="1200"/>
              <a:pPr algn="r"/>
              <a:t>30</a:t>
            </a:fld>
            <a:endParaRPr lang="en-US" altLang="en-US" sz="1200"/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8E3D740F-FB4B-8B4F-AE73-A839E4EFD1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22856519-9E33-414D-B4BB-A0C79CC36E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>
            <a:extLst>
              <a:ext uri="{FF2B5EF4-FFF2-40B4-BE49-F238E27FC236}">
                <a16:creationId xmlns:a16="http://schemas.microsoft.com/office/drawing/2014/main" id="{DB6009F6-F857-DE4D-990D-EF82C86C66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 defTabSz="930275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fld id="{46BCF92A-69ED-2B49-BF75-76656B3207C5}" type="slidenum">
              <a:rPr lang="en-US" altLang="en-US" sz="1200"/>
              <a:pPr/>
              <a:t>31</a:t>
            </a:fld>
            <a:endParaRPr lang="en-US" altLang="en-US" sz="1200"/>
          </a:p>
        </p:txBody>
      </p:sp>
      <p:sp>
        <p:nvSpPr>
          <p:cNvPr id="152579" name="Rectangle 2">
            <a:extLst>
              <a:ext uri="{FF2B5EF4-FFF2-40B4-BE49-F238E27FC236}">
                <a16:creationId xmlns:a16="http://schemas.microsoft.com/office/drawing/2014/main" id="{136C38CF-5298-094D-89C5-A62E8111023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>
            <a:extLst>
              <a:ext uri="{FF2B5EF4-FFF2-40B4-BE49-F238E27FC236}">
                <a16:creationId xmlns:a16="http://schemas.microsoft.com/office/drawing/2014/main" id="{6AF7DB6A-4C53-A04B-91CB-A6B906BDE4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7">
            <a:extLst>
              <a:ext uri="{FF2B5EF4-FFF2-40B4-BE49-F238E27FC236}">
                <a16:creationId xmlns:a16="http://schemas.microsoft.com/office/drawing/2014/main" id="{6F0D6F20-E59E-F941-A080-4DCCA5E89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>
                <a:solidFill>
                  <a:srgbClr val="CC3300"/>
                </a:solidFill>
              </a:rPr>
              <a:t>Database System Concepts, 6</a:t>
            </a:r>
            <a:r>
              <a:rPr lang="en-US" altLang="en-US" b="1" baseline="30000">
                <a:solidFill>
                  <a:srgbClr val="CC3300"/>
                </a:solidFill>
              </a:rPr>
              <a:t>th</a:t>
            </a:r>
            <a:r>
              <a:rPr lang="en-US" altLang="en-US" b="1">
                <a:solidFill>
                  <a:srgbClr val="CC3300"/>
                </a:solidFill>
              </a:rPr>
              <a:t> Ed</a:t>
            </a:r>
            <a:r>
              <a:rPr lang="en-US" altLang="en-US">
                <a:solidFill>
                  <a:srgbClr val="CC330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>
                <a:solidFill>
                  <a:srgbClr val="CC3300"/>
                </a:solidFill>
              </a:rPr>
              <a:t>©Silberschatz, Korth and Sudarshan</a:t>
            </a:r>
            <a:br>
              <a:rPr lang="en-US" altLang="en-US" sz="1200" b="1">
                <a:solidFill>
                  <a:srgbClr val="CC3300"/>
                </a:solidFill>
              </a:rPr>
            </a:br>
            <a:r>
              <a:rPr lang="en-US" altLang="en-US" sz="1200" b="1">
                <a:solidFill>
                  <a:srgbClr val="CC3300"/>
                </a:solidFill>
              </a:rPr>
              <a:t>See </a:t>
            </a:r>
            <a:r>
              <a:rPr lang="en-US" altLang="en-US" sz="1200" b="1">
                <a:solidFill>
                  <a:srgbClr val="CC3300"/>
                </a:solidFill>
                <a:hlinkClick r:id="rId2"/>
              </a:rPr>
              <a:t>www.db-book.com</a:t>
            </a:r>
            <a:r>
              <a:rPr lang="en-US" altLang="en-US" sz="1200" b="1">
                <a:solidFill>
                  <a:srgbClr val="CC3300"/>
                </a:solidFill>
              </a:rPr>
              <a:t> for conditions on re-use </a:t>
            </a:r>
          </a:p>
        </p:txBody>
      </p:sp>
      <p:sp>
        <p:nvSpPr>
          <p:cNvPr id="486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Picture 2" descr="logoTDT-banquyen">
            <a:extLst>
              <a:ext uri="{FF2B5EF4-FFF2-40B4-BE49-F238E27FC236}">
                <a16:creationId xmlns:a16="http://schemas.microsoft.com/office/drawing/2014/main" id="{3FFCCE08-88C6-2D4E-95B5-1648D46956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77788"/>
            <a:ext cx="1138238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184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295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72658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4720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448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67576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0272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40513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1119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8323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17804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08558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0547542-3BBC-F04A-A56C-A9460FCBE7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7" name="Text Box 4">
            <a:extLst>
              <a:ext uri="{FF2B5EF4-FFF2-40B4-BE49-F238E27FC236}">
                <a16:creationId xmlns:a16="http://schemas.microsoft.com/office/drawing/2014/main" id="{74483C3D-910A-AB45-AB38-702F21347E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>
                <a:solidFill>
                  <a:srgbClr val="000099"/>
                </a:solidFill>
              </a:rPr>
              <a:t>©Silberschatz, Korth and Sudarshan</a:t>
            </a:r>
          </a:p>
        </p:txBody>
      </p:sp>
      <p:sp>
        <p:nvSpPr>
          <p:cNvPr id="1028" name="Text Box 5">
            <a:extLst>
              <a:ext uri="{FF2B5EF4-FFF2-40B4-BE49-F238E27FC236}">
                <a16:creationId xmlns:a16="http://schemas.microsoft.com/office/drawing/2014/main" id="{8D8675B8-10B9-A448-9D47-1732F78B3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9925" y="6613525"/>
            <a:ext cx="447675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0099"/>
                </a:solidFill>
              </a:rPr>
              <a:t>5.</a:t>
            </a:r>
            <a:fld id="{05077837-BBF9-3143-AFB9-42EE9E045CDF}" type="slidenum">
              <a:rPr lang="en-US" altLang="en-US" sz="1000" b="1">
                <a:solidFill>
                  <a:srgbClr val="000099"/>
                </a:solidFill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0099"/>
              </a:solidFill>
            </a:endParaRPr>
          </a:p>
        </p:txBody>
      </p:sp>
      <p:sp>
        <p:nvSpPr>
          <p:cNvPr id="485382" name="Rectangle 6">
            <a:extLst>
              <a:ext uri="{FF2B5EF4-FFF2-40B4-BE49-F238E27FC236}">
                <a16:creationId xmlns:a16="http://schemas.microsoft.com/office/drawing/2014/main" id="{5BB96EA2-8933-2243-822B-7D7401052A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30" name="Text Box 7">
            <a:extLst>
              <a:ext uri="{FF2B5EF4-FFF2-40B4-BE49-F238E27FC236}">
                <a16:creationId xmlns:a16="http://schemas.microsoft.com/office/drawing/2014/main" id="{0EF5092C-A2B6-894E-98DB-1429B69FC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6613525"/>
            <a:ext cx="2574925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charset="0"/>
                <a:ea typeface="ＭＳ Ｐゴシック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000099"/>
                </a:solidFill>
              </a:rPr>
              <a:t>Database System Concepts - 6</a:t>
            </a:r>
            <a:r>
              <a:rPr lang="en-US" sz="1000" b="1" baseline="30000">
                <a:solidFill>
                  <a:srgbClr val="000099"/>
                </a:solidFill>
              </a:rPr>
              <a:t>th</a:t>
            </a:r>
            <a:r>
              <a:rPr lang="en-US" sz="1000" b="1">
                <a:solidFill>
                  <a:srgbClr val="000099"/>
                </a:solidFill>
              </a:rPr>
              <a:t> Edition</a:t>
            </a:r>
          </a:p>
        </p:txBody>
      </p:sp>
      <p:sp>
        <p:nvSpPr>
          <p:cNvPr id="1031" name="Freeform 8">
            <a:extLst>
              <a:ext uri="{FF2B5EF4-FFF2-40B4-BE49-F238E27FC236}">
                <a16:creationId xmlns:a16="http://schemas.microsoft.com/office/drawing/2014/main" id="{0F4ADA66-D069-214E-B631-D85A57F4C277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2147483646 h 61"/>
              <a:gd name="T2" fmla="*/ 1010703623 w 285"/>
              <a:gd name="T3" fmla="*/ 2147483646 h 61"/>
              <a:gd name="T4" fmla="*/ 2147483646 w 285"/>
              <a:gd name="T5" fmla="*/ 2147483646 h 61"/>
              <a:gd name="T6" fmla="*/ 2147483646 w 285"/>
              <a:gd name="T7" fmla="*/ 2147483646 h 61"/>
              <a:gd name="T8" fmla="*/ 2147483646 w 285"/>
              <a:gd name="T9" fmla="*/ 2147483646 h 61"/>
              <a:gd name="T10" fmla="*/ 2147483646 w 285"/>
              <a:gd name="T11" fmla="*/ 2147483646 h 61"/>
              <a:gd name="T12" fmla="*/ 2147483646 w 285"/>
              <a:gd name="T13" fmla="*/ 2147483646 h 61"/>
              <a:gd name="T14" fmla="*/ 2147483646 w 285"/>
              <a:gd name="T15" fmla="*/ 951510025 h 61"/>
              <a:gd name="T16" fmla="*/ 2147483646 w 285"/>
              <a:gd name="T17" fmla="*/ 0 h 61"/>
              <a:gd name="T18" fmla="*/ 2147483646 w 285"/>
              <a:gd name="T19" fmla="*/ 0 h 61"/>
              <a:gd name="T20" fmla="*/ 2147483646 w 285"/>
              <a:gd name="T21" fmla="*/ 0 h 61"/>
              <a:gd name="T22" fmla="*/ 2147483646 w 285"/>
              <a:gd name="T23" fmla="*/ 0 h 61"/>
              <a:gd name="T24" fmla="*/ 2147483646 w 285"/>
              <a:gd name="T25" fmla="*/ 951510025 h 61"/>
              <a:gd name="T26" fmla="*/ 2147483646 w 285"/>
              <a:gd name="T27" fmla="*/ 2147483646 h 61"/>
              <a:gd name="T28" fmla="*/ 2147483646 w 285"/>
              <a:gd name="T29" fmla="*/ 2147483646 h 61"/>
              <a:gd name="T30" fmla="*/ 2147483646 w 285"/>
              <a:gd name="T31" fmla="*/ 2147483646 h 61"/>
              <a:gd name="T32" fmla="*/ 2147483646 w 285"/>
              <a:gd name="T33" fmla="*/ 2147483646 h 61"/>
              <a:gd name="T34" fmla="*/ 2147483646 w 285"/>
              <a:gd name="T35" fmla="*/ 2147483646 h 61"/>
              <a:gd name="T36" fmla="*/ 2147483646 w 285"/>
              <a:gd name="T37" fmla="*/ 2147483646 h 61"/>
              <a:gd name="T38" fmla="*/ 2147483646 w 285"/>
              <a:gd name="T39" fmla="*/ 2147483646 h 61"/>
              <a:gd name="T40" fmla="*/ 2147483646 w 285"/>
              <a:gd name="T41" fmla="*/ 2147483646 h 61"/>
              <a:gd name="T42" fmla="*/ 2147483646 w 285"/>
              <a:gd name="T43" fmla="*/ 2147483646 h 61"/>
              <a:gd name="T44" fmla="*/ 2147483646 w 285"/>
              <a:gd name="T45" fmla="*/ 2147483646 h 61"/>
              <a:gd name="T46" fmla="*/ 2147483646 w 285"/>
              <a:gd name="T47" fmla="*/ 2147483646 h 61"/>
              <a:gd name="T48" fmla="*/ 2147483646 w 285"/>
              <a:gd name="T49" fmla="*/ 2147483646 h 61"/>
              <a:gd name="T50" fmla="*/ 2147483646 w 285"/>
              <a:gd name="T51" fmla="*/ 2147483646 h 61"/>
              <a:gd name="T52" fmla="*/ 2147483646 w 285"/>
              <a:gd name="T53" fmla="*/ 2147483646 h 61"/>
              <a:gd name="T54" fmla="*/ 2147483646 w 285"/>
              <a:gd name="T55" fmla="*/ 2147483646 h 61"/>
              <a:gd name="T56" fmla="*/ 2147483646 w 285"/>
              <a:gd name="T57" fmla="*/ 2147483646 h 61"/>
              <a:gd name="T58" fmla="*/ 2147483646 w 285"/>
              <a:gd name="T59" fmla="*/ 2147483646 h 61"/>
              <a:gd name="T60" fmla="*/ 2147483646 w 285"/>
              <a:gd name="T61" fmla="*/ 2147483646 h 61"/>
              <a:gd name="T62" fmla="*/ 2147483646 w 285"/>
              <a:gd name="T63" fmla="*/ 2147483646 h 61"/>
              <a:gd name="T64" fmla="*/ 2147483646 w 285"/>
              <a:gd name="T65" fmla="*/ 2147483646 h 61"/>
              <a:gd name="T66" fmla="*/ 2147483646 w 285"/>
              <a:gd name="T67" fmla="*/ 2147483646 h 61"/>
              <a:gd name="T68" fmla="*/ 2147483646 w 285"/>
              <a:gd name="T69" fmla="*/ 2147483646 h 61"/>
              <a:gd name="T70" fmla="*/ 2147483646 w 285"/>
              <a:gd name="T71" fmla="*/ 2147483646 h 61"/>
              <a:gd name="T72" fmla="*/ 2147483646 w 285"/>
              <a:gd name="T73" fmla="*/ 2147483646 h 61"/>
              <a:gd name="T74" fmla="*/ 2147483646 w 285"/>
              <a:gd name="T75" fmla="*/ 2147483646 h 61"/>
              <a:gd name="T76" fmla="*/ 2147483646 w 285"/>
              <a:gd name="T77" fmla="*/ 2147483646 h 61"/>
              <a:gd name="T78" fmla="*/ 2147483646 w 285"/>
              <a:gd name="T79" fmla="*/ 2147483646 h 61"/>
              <a:gd name="T80" fmla="*/ 2147483646 w 285"/>
              <a:gd name="T81" fmla="*/ 2147483646 h 61"/>
              <a:gd name="T82" fmla="*/ 2147483646 w 285"/>
              <a:gd name="T83" fmla="*/ 2147483646 h 61"/>
              <a:gd name="T84" fmla="*/ 2147483646 w 285"/>
              <a:gd name="T85" fmla="*/ 2147483646 h 61"/>
              <a:gd name="T86" fmla="*/ 1010703623 w 285"/>
              <a:gd name="T87" fmla="*/ 2147483646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>
              <a:latin typeface="Helvetica" pitchFamily="-65" charset="0"/>
              <a:ea typeface="MS PGothic" pitchFamily="34" charset="-128"/>
            </a:endParaRPr>
          </a:p>
        </p:txBody>
      </p:sp>
      <p:pic>
        <p:nvPicPr>
          <p:cNvPr id="9" name="Picture 2" descr="logoTDT-banquyen">
            <a:extLst>
              <a:ext uri="{FF2B5EF4-FFF2-40B4-BE49-F238E27FC236}">
                <a16:creationId xmlns:a16="http://schemas.microsoft.com/office/drawing/2014/main" id="{2B8F00DD-CE23-2142-8F07-DC446082E63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7788"/>
            <a:ext cx="955497" cy="60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73" r:id="rId1"/>
    <p:sldLayoutId id="2147484062" r:id="rId2"/>
    <p:sldLayoutId id="2147484063" r:id="rId3"/>
    <p:sldLayoutId id="2147484064" r:id="rId4"/>
    <p:sldLayoutId id="2147484065" r:id="rId5"/>
    <p:sldLayoutId id="2147484066" r:id="rId6"/>
    <p:sldLayoutId id="2147484067" r:id="rId7"/>
    <p:sldLayoutId id="2147484068" r:id="rId8"/>
    <p:sldLayoutId id="2147484069" r:id="rId9"/>
    <p:sldLayoutId id="2147484070" r:id="rId10"/>
    <p:sldLayoutId id="2147484071" r:id="rId11"/>
    <p:sldLayoutId id="2147484072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ＭＳ Ｐゴシック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ＭＳ Ｐゴシック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itchFamily="2" charset="2"/>
        <a:buChar char="4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>
            <a:extLst>
              <a:ext uri="{FF2B5EF4-FFF2-40B4-BE49-F238E27FC236}">
                <a16:creationId xmlns:a16="http://schemas.microsoft.com/office/drawing/2014/main" id="{9F7CB27E-A13F-6B46-A907-17BE6C57F9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Chapter 5-6: Advanced SQL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5DE31E-23EE-8740-BABF-90109F39FC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V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E343B492-3E7E-D643-9604-68ECF32C5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Outline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74BE309-2FB4-7040-ACFF-056F4B9F5F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1375" y="1135063"/>
            <a:ext cx="6843713" cy="4887912"/>
          </a:xfrm>
        </p:spPr>
        <p:txBody>
          <a:bodyPr/>
          <a:lstStyle/>
          <a:p>
            <a:r>
              <a:rPr lang="en-US" altLang="en-US" dirty="0"/>
              <a:t>Functions and Procedural Constructs</a:t>
            </a:r>
          </a:p>
          <a:p>
            <a:r>
              <a:rPr lang="en-US" altLang="en-US" dirty="0"/>
              <a:t>Triggers</a:t>
            </a:r>
          </a:p>
          <a:p>
            <a:r>
              <a:rPr lang="en-US" altLang="en-US" dirty="0"/>
              <a:t>Advanced Aggregation Features</a:t>
            </a:r>
          </a:p>
          <a:p>
            <a:endParaRPr lang="en-US" altLang="en-US" dirty="0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0E08B829-2448-E042-A458-8B036200E7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100" y="-763588"/>
            <a:ext cx="1841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itchFamily="2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4">
            <a:extLst>
              <a:ext uri="{FF2B5EF4-FFF2-40B4-BE49-F238E27FC236}">
                <a16:creationId xmlns:a16="http://schemas.microsoft.com/office/drawing/2014/main" id="{21B9BFEF-7356-2C42-8552-5C86C87480E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Extensions to SQL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>
            <a:extLst>
              <a:ext uri="{FF2B5EF4-FFF2-40B4-BE49-F238E27FC236}">
                <a16:creationId xmlns:a16="http://schemas.microsoft.com/office/drawing/2014/main" id="{A4CA0F7C-203D-3B47-B77F-F2143DC70A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Functions and Procedures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50DE6160-D2F1-B448-95D2-9270B11E07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1375" y="1135063"/>
            <a:ext cx="7848600" cy="4876800"/>
          </a:xfrm>
        </p:spPr>
        <p:txBody>
          <a:bodyPr/>
          <a:lstStyle/>
          <a:p>
            <a:r>
              <a:rPr lang="en-US" altLang="en-US" dirty="0"/>
              <a:t>SQL:1999 supports functions and procedures</a:t>
            </a:r>
          </a:p>
          <a:p>
            <a:pPr lvl="1"/>
            <a:r>
              <a:rPr lang="en-US" altLang="en-US" dirty="0"/>
              <a:t>Functions/procedures can be written in SQL itself, or in an external programming language (e.g., C, Java).</a:t>
            </a:r>
          </a:p>
          <a:p>
            <a:pPr lvl="1"/>
            <a:r>
              <a:rPr lang="en-US" altLang="en-US" dirty="0"/>
              <a:t>Functions written in an external languages are particularly useful with specialized data types such as images and geometric objects.</a:t>
            </a:r>
          </a:p>
          <a:p>
            <a:pPr lvl="2"/>
            <a:r>
              <a:rPr lang="en-US" altLang="en-US" dirty="0"/>
              <a:t>Example: functions to check if polygons overlap, or to compare images for similarity.</a:t>
            </a:r>
          </a:p>
          <a:p>
            <a:pPr lvl="1"/>
            <a:r>
              <a:rPr lang="en-US" altLang="en-US" dirty="0"/>
              <a:t>Some database systems support </a:t>
            </a:r>
            <a:r>
              <a:rPr lang="en-US" altLang="en-US" b="1" dirty="0">
                <a:solidFill>
                  <a:srgbClr val="000099"/>
                </a:solidFill>
              </a:rPr>
              <a:t>table-valued functions</a:t>
            </a:r>
            <a:r>
              <a:rPr lang="en-US" altLang="en-US" dirty="0"/>
              <a:t>, which can return a relation as a result.</a:t>
            </a:r>
          </a:p>
          <a:p>
            <a:r>
              <a:rPr lang="en-US" altLang="en-US" dirty="0"/>
              <a:t>SQL:1999 also supports a rich set of imperative constructs, including</a:t>
            </a:r>
          </a:p>
          <a:p>
            <a:pPr lvl="1"/>
            <a:r>
              <a:rPr lang="en-US" altLang="en-US" dirty="0"/>
              <a:t>Loops, if-then-else, assignment</a:t>
            </a:r>
          </a:p>
          <a:p>
            <a:r>
              <a:rPr lang="en-US" altLang="en-US" dirty="0"/>
              <a:t>Many databases have proprietary procedural extensions to SQL that differ from SQL:1999.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>
            <a:extLst>
              <a:ext uri="{FF2B5EF4-FFF2-40B4-BE49-F238E27FC236}">
                <a16:creationId xmlns:a16="http://schemas.microsoft.com/office/drawing/2014/main" id="{5E12D10C-621D-6E49-9951-119A5D3A4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SQL Functions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DE151C4F-41B9-1B45-B34C-8E850A19D4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098550" y="1073150"/>
            <a:ext cx="7445375" cy="4903788"/>
          </a:xfrm>
        </p:spPr>
        <p:txBody>
          <a:bodyPr/>
          <a:lstStyle/>
          <a:p>
            <a:pPr>
              <a:tabLst>
                <a:tab pos="803275" algn="l"/>
                <a:tab pos="1370013" algn="l"/>
                <a:tab pos="2112963" algn="l"/>
              </a:tabLst>
            </a:pPr>
            <a:r>
              <a:rPr lang="en-US" altLang="en-US"/>
              <a:t>Define a function that, given the name of a department, returns the count of the number of instructors in that department.</a:t>
            </a:r>
          </a:p>
          <a:p>
            <a:pPr>
              <a:buFont typeface="Monotype Sorts" pitchFamily="2" charset="2"/>
              <a:buNone/>
              <a:tabLst>
                <a:tab pos="803275" algn="l"/>
                <a:tab pos="1370013" algn="l"/>
                <a:tab pos="2112963" algn="l"/>
              </a:tabLst>
            </a:pPr>
            <a:r>
              <a:rPr lang="en-US" altLang="en-US" sz="1600" b="1"/>
              <a:t>             </a:t>
            </a:r>
            <a:r>
              <a:rPr lang="en-US" altLang="en-US" b="1"/>
              <a:t>create function </a:t>
            </a:r>
            <a:r>
              <a:rPr lang="en-US" altLang="en-US" i="1"/>
              <a:t>dept_count </a:t>
            </a:r>
            <a:r>
              <a:rPr lang="en-US" altLang="en-US"/>
              <a:t>(</a:t>
            </a:r>
            <a:r>
              <a:rPr lang="en-US" altLang="en-US" i="1"/>
              <a:t>dept_name </a:t>
            </a:r>
            <a:r>
              <a:rPr lang="en-US" altLang="en-US" b="1"/>
              <a:t>varchar</a:t>
            </a:r>
            <a:r>
              <a:rPr lang="en-US" altLang="en-US"/>
              <a:t>(20))</a:t>
            </a:r>
            <a:br>
              <a:rPr lang="en-US" altLang="en-US" b="1"/>
            </a:br>
            <a:r>
              <a:rPr lang="en-US" altLang="en-US" sz="1600" b="1"/>
              <a:t>                </a:t>
            </a:r>
            <a:r>
              <a:rPr lang="en-US" altLang="en-US" b="1"/>
              <a:t>returns integer</a:t>
            </a:r>
            <a:br>
              <a:rPr lang="en-US" altLang="en-US" b="1"/>
            </a:br>
            <a:r>
              <a:rPr lang="en-US" altLang="en-US" b="1"/>
              <a:t>               begin</a:t>
            </a:r>
            <a:br>
              <a:rPr lang="en-US" altLang="en-US" b="1"/>
            </a:br>
            <a:r>
              <a:rPr lang="en-US" altLang="en-US" b="1"/>
              <a:t>               declare </a:t>
            </a:r>
            <a:r>
              <a:rPr lang="en-US" altLang="en-US" i="1"/>
              <a:t>d_count  </a:t>
            </a:r>
            <a:r>
              <a:rPr lang="en-US" altLang="en-US" b="1"/>
              <a:t>integer;</a:t>
            </a:r>
            <a:br>
              <a:rPr lang="en-US" altLang="en-US" b="1"/>
            </a:br>
            <a:r>
              <a:rPr lang="en-US" altLang="en-US" b="1"/>
              <a:t>                      select count </a:t>
            </a:r>
            <a:r>
              <a:rPr lang="en-US" altLang="en-US"/>
              <a:t>(</a:t>
            </a:r>
            <a:r>
              <a:rPr lang="en-US" altLang="en-US" i="1"/>
              <a:t>* </a:t>
            </a:r>
            <a:r>
              <a:rPr lang="en-US" altLang="en-US"/>
              <a:t>) </a:t>
            </a:r>
            <a:r>
              <a:rPr lang="en-US" altLang="en-US" b="1"/>
              <a:t>into </a:t>
            </a:r>
            <a:r>
              <a:rPr lang="en-US" altLang="en-US" i="1"/>
              <a:t>d_count</a:t>
            </a:r>
            <a:br>
              <a:rPr lang="en-US" altLang="en-US" i="1"/>
            </a:br>
            <a:r>
              <a:rPr lang="en-US" altLang="en-US" i="1"/>
              <a:t>                      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i="1"/>
              <a:t>                      </a:t>
            </a:r>
            <a:r>
              <a:rPr lang="en-US" altLang="en-US" b="1"/>
              <a:t>where </a:t>
            </a:r>
            <a:r>
              <a:rPr lang="en-US" altLang="en-US" i="1"/>
              <a:t>instructor.dept_name = dept_name</a:t>
            </a:r>
            <a:br>
              <a:rPr lang="en-US" altLang="en-US" i="1"/>
            </a:br>
            <a:r>
              <a:rPr lang="en-US" altLang="en-US" i="1"/>
              <a:t>               </a:t>
            </a:r>
            <a:r>
              <a:rPr lang="en-US" altLang="en-US" b="1"/>
              <a:t>return </a:t>
            </a:r>
            <a:r>
              <a:rPr lang="en-US" altLang="en-US" i="1"/>
              <a:t>d_count;</a:t>
            </a:r>
            <a:br>
              <a:rPr lang="en-US" altLang="en-US" i="1"/>
            </a:br>
            <a:r>
              <a:rPr lang="en-US" altLang="en-US" i="1"/>
              <a:t>       </a:t>
            </a:r>
            <a:r>
              <a:rPr lang="en-US" altLang="en-US" b="1"/>
              <a:t>end</a:t>
            </a:r>
          </a:p>
          <a:p>
            <a:pPr>
              <a:tabLst>
                <a:tab pos="803275" algn="l"/>
                <a:tab pos="1370013" algn="l"/>
                <a:tab pos="2112963" algn="l"/>
              </a:tabLst>
            </a:pPr>
            <a:r>
              <a:rPr lang="en-US" altLang="en-US"/>
              <a:t>The function </a:t>
            </a:r>
            <a:r>
              <a:rPr lang="en-US" altLang="en-US" i="1"/>
              <a:t>dept_</a:t>
            </a:r>
            <a:r>
              <a:rPr lang="en-US" altLang="en-US"/>
              <a:t>count can be used to find the department names and budget of all departments with more that 12 instructors.</a:t>
            </a:r>
          </a:p>
          <a:p>
            <a:pPr>
              <a:buFont typeface="Monotype Sorts" pitchFamily="2" charset="2"/>
              <a:buNone/>
              <a:tabLst>
                <a:tab pos="803275" algn="l"/>
                <a:tab pos="1370013" algn="l"/>
                <a:tab pos="2112963" algn="l"/>
              </a:tabLst>
            </a:pPr>
            <a:r>
              <a:rPr lang="en-US" altLang="en-US"/>
              <a:t>		</a:t>
            </a:r>
            <a:r>
              <a:rPr lang="en-US" altLang="en-US" b="1"/>
              <a:t>select </a:t>
            </a:r>
            <a:r>
              <a:rPr lang="en-US" altLang="en-US" i="1"/>
              <a:t>dept_name, budget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from</a:t>
            </a:r>
            <a:r>
              <a:rPr lang="en-US" altLang="en-US" i="1"/>
              <a:t> department</a:t>
            </a:r>
            <a:br>
              <a:rPr lang="en-US" altLang="en-US" i="1"/>
            </a:br>
            <a:r>
              <a:rPr lang="en-US" altLang="en-US" i="1"/>
              <a:t>	</a:t>
            </a:r>
            <a:r>
              <a:rPr lang="en-US" altLang="en-US" b="1"/>
              <a:t>where </a:t>
            </a:r>
            <a:r>
              <a:rPr lang="en-US" altLang="en-US" i="1"/>
              <a:t>dept_</a:t>
            </a:r>
            <a:r>
              <a:rPr lang="en-US" altLang="en-US"/>
              <a:t>count (</a:t>
            </a:r>
            <a:r>
              <a:rPr lang="en-US" altLang="en-US" i="1"/>
              <a:t>dept_name </a:t>
            </a:r>
            <a:r>
              <a:rPr lang="en-US" altLang="en-US"/>
              <a:t>) &gt; 12</a:t>
            </a:r>
            <a:endParaRPr lang="en-US" altLang="en-US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>
            <a:extLst>
              <a:ext uri="{FF2B5EF4-FFF2-40B4-BE49-F238E27FC236}">
                <a16:creationId xmlns:a16="http://schemas.microsoft.com/office/drawing/2014/main" id="{57D5CE3E-FC29-514D-9FDD-8C20E04577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571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SQL functions (Cont.)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F5F72F01-D248-3B40-9B6D-5ABA1AB98E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0" y="936625"/>
            <a:ext cx="6899275" cy="530225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endParaRPr lang="en-US" altLang="en-US">
              <a:latin typeface="Tahoma" panose="020B0604030504040204" pitchFamily="34" charset="0"/>
            </a:endParaRPr>
          </a:p>
          <a:p>
            <a:r>
              <a:rPr lang="en-US" altLang="en-US">
                <a:latin typeface="Tahoma" panose="020B0604030504040204" pitchFamily="34" charset="0"/>
              </a:rPr>
              <a:t>Compound statement:  </a:t>
            </a:r>
            <a:r>
              <a:rPr lang="en-US" altLang="en-US" b="1">
                <a:latin typeface="Tahoma" panose="020B0604030504040204" pitchFamily="34" charset="0"/>
              </a:rPr>
              <a:t>begin … end</a:t>
            </a:r>
            <a:endParaRPr lang="en-US" altLang="en-US">
              <a:latin typeface="Tahoma" panose="020B0604030504040204" pitchFamily="34" charset="0"/>
            </a:endParaRPr>
          </a:p>
          <a:p>
            <a:pPr lvl="1"/>
            <a:r>
              <a:rPr lang="en-US" altLang="en-US">
                <a:latin typeface="Tahoma" panose="020B0604030504040204" pitchFamily="34" charset="0"/>
              </a:rPr>
              <a:t>May contain multiple SQL statements between </a:t>
            </a:r>
            <a:r>
              <a:rPr lang="en-US" altLang="en-US" b="1">
                <a:latin typeface="Tahoma" panose="020B0604030504040204" pitchFamily="34" charset="0"/>
              </a:rPr>
              <a:t>begin </a:t>
            </a:r>
            <a:r>
              <a:rPr lang="en-US" altLang="en-US">
                <a:latin typeface="Tahoma" panose="020B0604030504040204" pitchFamily="34" charset="0"/>
              </a:rPr>
              <a:t>and </a:t>
            </a:r>
            <a:r>
              <a:rPr lang="en-US" altLang="en-US" b="1">
                <a:latin typeface="Tahoma" panose="020B0604030504040204" pitchFamily="34" charset="0"/>
              </a:rPr>
              <a:t>end</a:t>
            </a:r>
            <a:r>
              <a:rPr lang="en-US" altLang="en-US">
                <a:latin typeface="Tahoma" panose="020B0604030504040204" pitchFamily="34" charset="0"/>
              </a:rPr>
              <a:t>.</a:t>
            </a:r>
          </a:p>
          <a:p>
            <a:r>
              <a:rPr lang="en-US" altLang="en-US" b="1">
                <a:latin typeface="Tahoma" panose="020B0604030504040204" pitchFamily="34" charset="0"/>
              </a:rPr>
              <a:t>returns</a:t>
            </a:r>
            <a:r>
              <a:rPr lang="en-US" altLang="en-US">
                <a:latin typeface="Tahoma" panose="020B0604030504040204" pitchFamily="34" charset="0"/>
              </a:rPr>
              <a:t>   -- indicates the variable-type that is returned (e.g., integer)</a:t>
            </a:r>
          </a:p>
          <a:p>
            <a:r>
              <a:rPr lang="en-US" altLang="en-US" b="1">
                <a:latin typeface="Tahoma" panose="020B0604030504040204" pitchFamily="34" charset="0"/>
              </a:rPr>
              <a:t>return  -- </a:t>
            </a:r>
            <a:r>
              <a:rPr lang="en-US" altLang="en-US">
                <a:latin typeface="Tahoma" panose="020B0604030504040204" pitchFamily="34" charset="0"/>
              </a:rPr>
              <a:t>specifies the values that are to be returned as result of invoking the function</a:t>
            </a:r>
          </a:p>
          <a:p>
            <a:r>
              <a:rPr lang="en-US" altLang="en-US">
                <a:latin typeface="Tahoma" panose="020B0604030504040204" pitchFamily="34" charset="0"/>
              </a:rPr>
              <a:t>SQL function  are  in fact </a:t>
            </a:r>
            <a:r>
              <a:rPr lang="en-US" altLang="en-US">
                <a:solidFill>
                  <a:srgbClr val="000099"/>
                </a:solidFill>
                <a:latin typeface="Tahoma" panose="020B0604030504040204" pitchFamily="34" charset="0"/>
              </a:rPr>
              <a:t>parameterized views </a:t>
            </a:r>
            <a:r>
              <a:rPr lang="en-US" altLang="en-US">
                <a:latin typeface="Tahoma" panose="020B0604030504040204" pitchFamily="34" charset="0"/>
              </a:rPr>
              <a:t>that generalize the regular notion of views by allowing parameters.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>
            <a:extLst>
              <a:ext uri="{FF2B5EF4-FFF2-40B4-BE49-F238E27FC236}">
                <a16:creationId xmlns:a16="http://schemas.microsoft.com/office/drawing/2014/main" id="{04CFEBF0-9902-CA4A-828B-EB7D05F807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Table Functions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56066078-A94B-8A40-9732-57D012825C2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336675" y="1130300"/>
            <a:ext cx="7794625" cy="5508625"/>
          </a:xfrm>
        </p:spPr>
        <p:txBody>
          <a:bodyPr/>
          <a:lstStyle/>
          <a:p>
            <a:r>
              <a:rPr lang="en-US" altLang="en-US"/>
              <a:t>SQL:2003 added functions that return a relation as a result</a:t>
            </a:r>
          </a:p>
          <a:p>
            <a:r>
              <a:rPr lang="en-US" altLang="en-US"/>
              <a:t>Example: Return all instructors in a given department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</a:t>
            </a:r>
            <a:r>
              <a:rPr lang="en-US" altLang="en-US" b="1"/>
              <a:t>create</a:t>
            </a:r>
            <a:r>
              <a:rPr lang="en-US" altLang="en-US"/>
              <a:t> </a:t>
            </a:r>
            <a:r>
              <a:rPr lang="en-US" altLang="en-US" b="1"/>
              <a:t>function</a:t>
            </a:r>
            <a:r>
              <a:rPr lang="en-US" altLang="en-US"/>
              <a:t> </a:t>
            </a:r>
            <a:r>
              <a:rPr lang="en-US" altLang="en-US" i="1"/>
              <a:t>instructor_of</a:t>
            </a:r>
            <a:r>
              <a:rPr lang="en-US" altLang="en-US"/>
              <a:t> (</a:t>
            </a:r>
            <a:r>
              <a:rPr lang="en-US" altLang="en-US" i="1"/>
              <a:t>dept_name</a:t>
            </a:r>
            <a:r>
              <a:rPr lang="en-US" altLang="en-US"/>
              <a:t> </a:t>
            </a:r>
            <a:r>
              <a:rPr lang="en-US" altLang="en-US" b="1"/>
              <a:t>char</a:t>
            </a:r>
            <a:r>
              <a:rPr lang="en-US" altLang="en-US"/>
              <a:t>(20))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	</a:t>
            </a:r>
            <a:r>
              <a:rPr lang="en-US" altLang="en-US" b="1"/>
              <a:t>returns</a:t>
            </a:r>
            <a:r>
              <a:rPr lang="en-US" altLang="en-US"/>
              <a:t> </a:t>
            </a:r>
            <a:r>
              <a:rPr lang="en-US" altLang="en-US" b="1"/>
              <a:t>table  </a:t>
            </a:r>
            <a:r>
              <a:rPr lang="en-US" altLang="en-US"/>
              <a:t>(</a:t>
            </a:r>
            <a:r>
              <a:rPr lang="en-US" altLang="en-US" b="1"/>
              <a:t> </a:t>
            </a:r>
            <a:r>
              <a:rPr lang="en-US" altLang="en-US"/>
              <a:t> 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                        </a:t>
            </a:r>
            <a:r>
              <a:rPr lang="en-US" altLang="en-US" i="1"/>
              <a:t>ID </a:t>
            </a:r>
            <a:r>
              <a:rPr lang="en-US" altLang="en-US" b="1"/>
              <a:t>varchar</a:t>
            </a:r>
            <a:r>
              <a:rPr lang="en-US" altLang="en-US"/>
              <a:t>(5),</a:t>
            </a:r>
            <a:br>
              <a:rPr lang="en-US" altLang="en-US"/>
            </a:br>
            <a:r>
              <a:rPr lang="en-US" altLang="en-US"/>
              <a:t>	          </a:t>
            </a:r>
            <a:r>
              <a:rPr lang="en-US" altLang="en-US" i="1"/>
              <a:t>name</a:t>
            </a:r>
            <a:r>
              <a:rPr lang="en-US" altLang="en-US"/>
              <a:t> </a:t>
            </a:r>
            <a:r>
              <a:rPr lang="en-US" altLang="en-US" b="1"/>
              <a:t>varchar</a:t>
            </a:r>
            <a:r>
              <a:rPr lang="en-US" altLang="en-US"/>
              <a:t>(20),</a:t>
            </a:r>
            <a:br>
              <a:rPr lang="en-US" altLang="en-US"/>
            </a:br>
            <a:r>
              <a:rPr lang="en-US" altLang="en-US"/>
              <a:t>                   </a:t>
            </a:r>
            <a:r>
              <a:rPr lang="en-US" altLang="en-US" i="1"/>
              <a:t>dept_name</a:t>
            </a:r>
            <a:r>
              <a:rPr lang="en-US" altLang="en-US"/>
              <a:t> </a:t>
            </a:r>
            <a:r>
              <a:rPr lang="en-US" altLang="en-US" b="1"/>
              <a:t>varchar</a:t>
            </a:r>
            <a:r>
              <a:rPr lang="en-US" altLang="en-US"/>
              <a:t>(20),</a:t>
            </a:r>
            <a:br>
              <a:rPr lang="en-US" altLang="en-US"/>
            </a:br>
            <a:r>
              <a:rPr lang="en-US" altLang="en-US"/>
              <a:t>	          </a:t>
            </a:r>
            <a:r>
              <a:rPr lang="en-US" altLang="en-US" i="1"/>
              <a:t>salary</a:t>
            </a:r>
            <a:r>
              <a:rPr lang="en-US" altLang="en-US"/>
              <a:t> </a:t>
            </a:r>
            <a:r>
              <a:rPr lang="en-US" altLang="en-US" b="1"/>
              <a:t>numeric</a:t>
            </a:r>
            <a:r>
              <a:rPr lang="en-US" altLang="en-US"/>
              <a:t>(8,2))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         </a:t>
            </a:r>
            <a:r>
              <a:rPr lang="en-US" altLang="en-US" b="1"/>
              <a:t>return</a:t>
            </a:r>
            <a:r>
              <a:rPr lang="en-US" altLang="en-US"/>
              <a:t> </a:t>
            </a:r>
            <a:r>
              <a:rPr lang="en-US" altLang="en-US" b="1"/>
              <a:t>table</a:t>
            </a:r>
            <a:br>
              <a:rPr lang="en-US" altLang="en-US"/>
            </a:br>
            <a:r>
              <a:rPr lang="en-US" altLang="en-US"/>
              <a:t>	         (</a:t>
            </a:r>
            <a:r>
              <a:rPr lang="en-US" altLang="en-US" b="1"/>
              <a:t>select</a:t>
            </a:r>
            <a:r>
              <a:rPr lang="en-US" altLang="en-US"/>
              <a:t> </a:t>
            </a:r>
            <a:r>
              <a:rPr lang="en-US" altLang="en-US" i="1"/>
              <a:t>ID, name, dept_name, salary</a:t>
            </a:r>
            <a:br>
              <a:rPr lang="en-US" altLang="en-US"/>
            </a:br>
            <a:r>
              <a:rPr lang="en-US" altLang="en-US"/>
              <a:t>	          </a:t>
            </a:r>
            <a:r>
              <a:rPr lang="en-US" altLang="en-US" b="1"/>
              <a:t>from</a:t>
            </a:r>
            <a:r>
              <a:rPr lang="en-US" altLang="en-US"/>
              <a:t>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/>
              <a:t>	          </a:t>
            </a:r>
            <a:r>
              <a:rPr lang="en-US" altLang="en-US" b="1"/>
              <a:t>where</a:t>
            </a:r>
            <a:r>
              <a:rPr lang="en-US" altLang="en-US" i="1"/>
              <a:t> instructor.dept_name = instructor_of.dept_name</a:t>
            </a:r>
            <a:r>
              <a:rPr lang="en-US" altLang="en-US"/>
              <a:t>)</a:t>
            </a:r>
          </a:p>
          <a:p>
            <a:r>
              <a:rPr lang="en-US" altLang="en-US"/>
              <a:t>Usage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	</a:t>
            </a:r>
            <a:r>
              <a:rPr lang="en-US" altLang="en-US" b="1"/>
              <a:t>select *</a:t>
            </a:r>
            <a:br>
              <a:rPr lang="en-US" altLang="en-US" b="1"/>
            </a:br>
            <a:r>
              <a:rPr lang="en-US" altLang="en-US" b="1"/>
              <a:t>	from table </a:t>
            </a:r>
            <a:r>
              <a:rPr lang="en-US" altLang="en-US"/>
              <a:t>(</a:t>
            </a:r>
            <a:r>
              <a:rPr lang="en-US" altLang="en-US" i="1"/>
              <a:t>instructor_of </a:t>
            </a:r>
            <a:r>
              <a:rPr lang="en-US" altLang="en-US"/>
              <a:t>(</a:t>
            </a:r>
            <a:r>
              <a:rPr lang="ja-JP" altLang="en-US"/>
              <a:t>‘</a:t>
            </a:r>
            <a:r>
              <a:rPr lang="en-US" altLang="ja-JP"/>
              <a:t>Music</a:t>
            </a:r>
            <a:r>
              <a:rPr lang="ja-JP" altLang="en-US"/>
              <a:t>’</a:t>
            </a:r>
            <a:r>
              <a:rPr lang="en-US" altLang="ja-JP"/>
              <a:t>))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>
            <a:extLst>
              <a:ext uri="{FF2B5EF4-FFF2-40B4-BE49-F238E27FC236}">
                <a16:creationId xmlns:a16="http://schemas.microsoft.com/office/drawing/2014/main" id="{BD5D60AF-5573-5B4D-B76E-EF37EF5DCC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9650" y="666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SQL Procedures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58AFE743-9DFB-6F48-B18A-EE9C3A7A00B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089025" y="1073150"/>
            <a:ext cx="8054975" cy="5281613"/>
          </a:xfrm>
        </p:spPr>
        <p:txBody>
          <a:bodyPr/>
          <a:lstStyle/>
          <a:p>
            <a:r>
              <a:rPr lang="en-US" altLang="en-US"/>
              <a:t>The </a:t>
            </a:r>
            <a:r>
              <a:rPr lang="en-US" altLang="en-US" i="1"/>
              <a:t>dept_count </a:t>
            </a:r>
            <a:r>
              <a:rPr lang="en-US" altLang="en-US"/>
              <a:t>function could instead be written as procedure:</a:t>
            </a:r>
          </a:p>
          <a:p>
            <a:pPr>
              <a:buFont typeface="Monotype Sorts" pitchFamily="2" charset="2"/>
              <a:buNone/>
            </a:pPr>
            <a:r>
              <a:rPr lang="en-US" altLang="en-US" b="1"/>
              <a:t>	create procedure </a:t>
            </a:r>
            <a:r>
              <a:rPr lang="en-US" altLang="en-US" i="1"/>
              <a:t>dept_count_proc </a:t>
            </a:r>
            <a:r>
              <a:rPr lang="en-US" altLang="en-US"/>
              <a:t>(</a:t>
            </a:r>
            <a:r>
              <a:rPr lang="en-US" altLang="en-US" b="1"/>
              <a:t>in </a:t>
            </a:r>
            <a:r>
              <a:rPr lang="en-US" altLang="en-US" i="1"/>
              <a:t>dept_name </a:t>
            </a:r>
            <a:r>
              <a:rPr lang="en-US" altLang="en-US" b="1"/>
              <a:t>varchar</a:t>
            </a:r>
            <a:r>
              <a:rPr lang="en-US" altLang="en-US"/>
              <a:t>(20), </a:t>
            </a:r>
            <a:br>
              <a:rPr lang="en-US" altLang="en-US"/>
            </a:br>
            <a:r>
              <a:rPr lang="en-US" altLang="en-US"/>
              <a:t>                                                           </a:t>
            </a:r>
            <a:r>
              <a:rPr lang="en-US" altLang="en-US" b="1"/>
              <a:t>out </a:t>
            </a:r>
            <a:r>
              <a:rPr lang="en-US" altLang="en-US" i="1"/>
              <a:t>d_count </a:t>
            </a:r>
            <a:r>
              <a:rPr lang="en-US" altLang="en-US" b="1"/>
              <a:t>integer)</a:t>
            </a:r>
            <a:br>
              <a:rPr lang="en-US" altLang="en-US" b="1"/>
            </a:br>
            <a:r>
              <a:rPr lang="en-US" altLang="en-US" b="1"/>
              <a:t>   begin</a:t>
            </a:r>
          </a:p>
          <a:p>
            <a:pPr>
              <a:buFont typeface="Monotype Sorts" pitchFamily="2" charset="2"/>
              <a:buNone/>
            </a:pPr>
            <a:r>
              <a:rPr lang="en-US" altLang="en-US" b="1"/>
              <a:t>	       select count</a:t>
            </a:r>
            <a:r>
              <a:rPr lang="en-US" altLang="en-US"/>
              <a:t>(</a:t>
            </a:r>
            <a:r>
              <a:rPr lang="en-US" altLang="en-US" i="1"/>
              <a:t>*</a:t>
            </a:r>
            <a:r>
              <a:rPr lang="en-US" altLang="en-US"/>
              <a:t>) </a:t>
            </a:r>
            <a:r>
              <a:rPr lang="en-US" altLang="en-US" b="1"/>
              <a:t>into </a:t>
            </a:r>
            <a:r>
              <a:rPr lang="en-US" altLang="en-US" i="1"/>
              <a:t>d_count</a:t>
            </a:r>
            <a:br>
              <a:rPr lang="en-US" altLang="en-US" i="1"/>
            </a:br>
            <a:r>
              <a:rPr lang="en-US" altLang="en-US" i="1"/>
              <a:t>       </a:t>
            </a:r>
            <a:r>
              <a:rPr lang="en-US" altLang="en-US" b="1"/>
              <a:t>from </a:t>
            </a:r>
            <a:r>
              <a:rPr lang="en-US" altLang="en-US" i="1"/>
              <a:t>instructor</a:t>
            </a:r>
            <a:br>
              <a:rPr lang="en-US" altLang="en-US" i="1"/>
            </a:br>
            <a:r>
              <a:rPr lang="en-US" altLang="en-US" i="1"/>
              <a:t>       </a:t>
            </a:r>
            <a:r>
              <a:rPr lang="en-US" altLang="en-US" b="1"/>
              <a:t>where </a:t>
            </a:r>
            <a:r>
              <a:rPr lang="en-US" altLang="en-US" i="1"/>
              <a:t>instructor.dept_name = dept_count_proc.dept_name</a:t>
            </a:r>
          </a:p>
          <a:p>
            <a:pPr>
              <a:buFont typeface="Monotype Sorts" pitchFamily="2" charset="2"/>
              <a:buNone/>
            </a:pPr>
            <a:r>
              <a:rPr lang="en-US" altLang="en-US" i="1"/>
              <a:t>        </a:t>
            </a:r>
            <a:r>
              <a:rPr lang="en-US" altLang="en-US" b="1"/>
              <a:t>end</a:t>
            </a:r>
          </a:p>
          <a:p>
            <a:r>
              <a:rPr lang="en-US" altLang="en-US"/>
              <a:t>Procedures can be invoked either from an SQL procedure or from embedded SQL, using the </a:t>
            </a:r>
            <a:r>
              <a:rPr lang="en-US" altLang="en-US" b="1"/>
              <a:t>call</a:t>
            </a:r>
            <a:r>
              <a:rPr lang="en-US" altLang="en-US"/>
              <a:t> statement.</a:t>
            </a:r>
          </a:p>
          <a:p>
            <a:pPr>
              <a:buFont typeface="Monotype Sorts" pitchFamily="2" charset="2"/>
              <a:buNone/>
            </a:pPr>
            <a:r>
              <a:rPr lang="en-US" altLang="en-US" b="1"/>
              <a:t>		declare </a:t>
            </a:r>
            <a:r>
              <a:rPr lang="en-US" altLang="en-US" i="1"/>
              <a:t>d_count </a:t>
            </a:r>
            <a:r>
              <a:rPr lang="en-US" altLang="en-US" b="1"/>
              <a:t>integer</a:t>
            </a:r>
            <a:r>
              <a:rPr lang="en-US" altLang="en-US"/>
              <a:t>;</a:t>
            </a:r>
            <a:br>
              <a:rPr lang="en-US" altLang="en-US"/>
            </a:br>
            <a:r>
              <a:rPr lang="en-US" altLang="en-US"/>
              <a:t>	</a:t>
            </a:r>
            <a:r>
              <a:rPr lang="en-US" altLang="en-US" b="1"/>
              <a:t>call </a:t>
            </a:r>
            <a:r>
              <a:rPr lang="en-US" altLang="en-US" i="1"/>
              <a:t>dept_count_proc</a:t>
            </a:r>
            <a:r>
              <a:rPr lang="en-US" altLang="en-US"/>
              <a:t>( </a:t>
            </a:r>
            <a:r>
              <a:rPr lang="ja-JP" altLang="en-US"/>
              <a:t>‘</a:t>
            </a:r>
            <a:r>
              <a:rPr lang="en-US" altLang="ja-JP"/>
              <a:t>Physics</a:t>
            </a:r>
            <a:r>
              <a:rPr lang="ja-JP" altLang="en-US"/>
              <a:t>’</a:t>
            </a:r>
            <a:r>
              <a:rPr lang="en-US" altLang="ja-JP"/>
              <a:t>, </a:t>
            </a:r>
            <a:r>
              <a:rPr lang="en-US" altLang="ja-JP" i="1"/>
              <a:t>d_count</a:t>
            </a:r>
            <a:r>
              <a:rPr lang="en-US" altLang="ja-JP"/>
              <a:t>);</a:t>
            </a:r>
          </a:p>
          <a:p>
            <a:pPr>
              <a:buFont typeface="Monotype Sorts" pitchFamily="2" charset="2"/>
              <a:buNone/>
            </a:pPr>
            <a:r>
              <a:rPr lang="en-US" altLang="en-US"/>
              <a:t>	Procedures and functions can be invoked also from dynamic SQL</a:t>
            </a:r>
          </a:p>
          <a:p>
            <a:r>
              <a:rPr lang="en-US" altLang="en-US"/>
              <a:t>SQL:1999 allows more than one function/procedure of the same name (called name </a:t>
            </a:r>
            <a:r>
              <a:rPr lang="en-US" altLang="en-US" b="1">
                <a:solidFill>
                  <a:srgbClr val="000099"/>
                </a:solidFill>
              </a:rPr>
              <a:t>overloading</a:t>
            </a:r>
            <a:r>
              <a:rPr lang="en-US" altLang="en-US"/>
              <a:t>), as long as the number of </a:t>
            </a:r>
            <a:br>
              <a:rPr lang="en-US" altLang="en-US"/>
            </a:br>
            <a:r>
              <a:rPr lang="en-US" altLang="en-US"/>
              <a:t>arguments differ, or at least the types of the arguments differ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Stored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1676400"/>
          </a:xfrm>
        </p:spPr>
        <p:txBody>
          <a:bodyPr>
            <a:normAutofit/>
          </a:bodyPr>
          <a:lstStyle/>
          <a:p>
            <a:r>
              <a:rPr lang="en-US" dirty="0"/>
              <a:t>Reduces Duplication of effort and improves software modularity</a:t>
            </a:r>
          </a:p>
          <a:p>
            <a:pPr lvl="1"/>
            <a:r>
              <a:rPr lang="en-US" dirty="0"/>
              <a:t>Multiple applications can use the stored procedure vs. the SQL statements being stored in the application language (PHP)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2819400"/>
            <a:ext cx="83058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Reduces communication and data transfer cost between client and server (in certain situations)</a:t>
            </a:r>
          </a:p>
          <a:p>
            <a:pPr lvl="1"/>
            <a:r>
              <a:rPr lang="en-US" dirty="0"/>
              <a:t>Instead of sending multiple lengthy SQL statements, the application only has to send the name and parameters of the Stored Procedure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4800600"/>
            <a:ext cx="83058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Can be more secure than SQL statements</a:t>
            </a:r>
          </a:p>
          <a:p>
            <a:pPr lvl="1"/>
            <a:r>
              <a:rPr lang="en-US" dirty="0"/>
              <a:t>Permission can be granted to certain stored procedures without granting access to database tables</a:t>
            </a:r>
          </a:p>
        </p:txBody>
      </p:sp>
    </p:spTree>
    <p:extLst>
      <p:ext uri="{BB962C8B-B14F-4D97-AF65-F5344CB8AC3E}">
        <p14:creationId xmlns:p14="http://schemas.microsoft.com/office/powerpoint/2010/main" val="110810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Stored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05800" cy="1676400"/>
          </a:xfrm>
        </p:spPr>
        <p:txBody>
          <a:bodyPr>
            <a:normAutofit/>
          </a:bodyPr>
          <a:lstStyle/>
          <a:p>
            <a:r>
              <a:rPr lang="en-US" dirty="0"/>
              <a:t>Difficult to debug</a:t>
            </a:r>
          </a:p>
          <a:p>
            <a:pPr lvl="1"/>
            <a:r>
              <a:rPr lang="en-US" dirty="0" err="1"/>
              <a:t>SQLServer</a:t>
            </a:r>
            <a:r>
              <a:rPr lang="en-US" dirty="0"/>
              <a:t>/MySQL does not provide ways for debugging stored procedures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" y="2819400"/>
            <a:ext cx="83058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Many stored procedures can increase memory use</a:t>
            </a:r>
          </a:p>
          <a:p>
            <a:pPr lvl="1"/>
            <a:r>
              <a:rPr lang="en-US" dirty="0"/>
              <a:t>The more stored procedures you use, the more memory is used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" y="4419600"/>
            <a:ext cx="8305800" cy="22098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Can be difficult to maintain and develop stored procedures</a:t>
            </a:r>
          </a:p>
          <a:p>
            <a:pPr lvl="1"/>
            <a:r>
              <a:rPr lang="en-US" dirty="0"/>
              <a:t>Another programming language to learn</a:t>
            </a:r>
          </a:p>
        </p:txBody>
      </p:sp>
    </p:spTree>
    <p:extLst>
      <p:ext uri="{BB962C8B-B14F-4D97-AF65-F5344CB8AC3E}">
        <p14:creationId xmlns:p14="http://schemas.microsoft.com/office/powerpoint/2010/main" val="1825290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Stored Procedures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3400" y="990600"/>
            <a:ext cx="8001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800" dirty="0"/>
              <a:t>DELIMITER //</a:t>
            </a:r>
          </a:p>
          <a:p>
            <a:r>
              <a:rPr lang="en-US" sz="2800" dirty="0"/>
              <a:t> CREATE PROCEDURE name</a:t>
            </a:r>
          </a:p>
          <a:p>
            <a:r>
              <a:rPr lang="en-US" sz="2800" dirty="0"/>
              <a:t>   BEGIN</a:t>
            </a:r>
          </a:p>
          <a:p>
            <a:r>
              <a:rPr lang="en-US" sz="2800" dirty="0"/>
              <a:t>	SQL STATEMENT</a:t>
            </a:r>
            <a:endParaRPr lang="en-US" sz="2800" b="1" dirty="0"/>
          </a:p>
          <a:p>
            <a:r>
              <a:rPr lang="en-US" sz="2800" dirty="0"/>
              <a:t>   END //</a:t>
            </a:r>
          </a:p>
          <a:p>
            <a:r>
              <a:rPr lang="en-US" sz="2800" dirty="0"/>
              <a:t> DELIMITER ;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" y="3799344"/>
            <a:ext cx="8001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2800" dirty="0"/>
              <a:t>DELIMITER //</a:t>
            </a:r>
          </a:p>
          <a:p>
            <a:r>
              <a:rPr lang="en-US" sz="2800" dirty="0"/>
              <a:t> CREATE PROCEDURE </a:t>
            </a:r>
            <a:r>
              <a:rPr lang="en-US" sz="2800" dirty="0" err="1"/>
              <a:t>GetAllProducts</a:t>
            </a:r>
            <a:r>
              <a:rPr lang="en-US" sz="2800" dirty="0"/>
              <a:t>()</a:t>
            </a:r>
          </a:p>
          <a:p>
            <a:r>
              <a:rPr lang="en-US" sz="2800" dirty="0"/>
              <a:t>   BEGIN</a:t>
            </a:r>
          </a:p>
          <a:p>
            <a:r>
              <a:rPr lang="en-US" sz="2800" dirty="0"/>
              <a:t>  </a:t>
            </a:r>
            <a:r>
              <a:rPr lang="en-US" sz="2800" b="1" dirty="0"/>
              <a:t> SELECT *  FROM products;</a:t>
            </a:r>
          </a:p>
          <a:p>
            <a:r>
              <a:rPr lang="en-US" sz="2800" dirty="0"/>
              <a:t>   END //</a:t>
            </a:r>
          </a:p>
          <a:p>
            <a:r>
              <a:rPr lang="en-US" sz="2800" dirty="0"/>
              <a:t> DELIMITER ;</a:t>
            </a:r>
          </a:p>
        </p:txBody>
      </p:sp>
    </p:spTree>
    <p:extLst>
      <p:ext uri="{BB962C8B-B14F-4D97-AF65-F5344CB8AC3E}">
        <p14:creationId xmlns:p14="http://schemas.microsoft.com/office/powerpoint/2010/main" val="1124479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 in Workbench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1219200"/>
            <a:ext cx="6396140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561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 in Workbench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-12498"/>
            <a:ext cx="6981851" cy="6870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67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4297" r="4297"/>
          <a:stretch>
            <a:fillRect/>
          </a:stretch>
        </p:blipFill>
        <p:spPr>
          <a:xfrm>
            <a:off x="512956" y="914400"/>
            <a:ext cx="7869044" cy="5178552"/>
          </a:xfrm>
        </p:spPr>
      </p:pic>
    </p:spTree>
    <p:extLst>
      <p:ext uri="{BB962C8B-B14F-4D97-AF65-F5344CB8AC3E}">
        <p14:creationId xmlns:p14="http://schemas.microsoft.com/office/powerpoint/2010/main" val="269326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t="1555" b="1555"/>
          <a:stretch>
            <a:fillRect/>
          </a:stretch>
        </p:blipFill>
        <p:spPr>
          <a:xfrm>
            <a:off x="609600" y="839724"/>
            <a:ext cx="7924800" cy="5178552"/>
          </a:xfrm>
        </p:spPr>
      </p:pic>
    </p:spTree>
    <p:extLst>
      <p:ext uri="{BB962C8B-B14F-4D97-AF65-F5344CB8AC3E}">
        <p14:creationId xmlns:p14="http://schemas.microsoft.com/office/powerpoint/2010/main" val="18086297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rcRect l="1449" r="1449"/>
          <a:stretch>
            <a:fillRect/>
          </a:stretch>
        </p:blipFill>
        <p:spPr>
          <a:xfrm>
            <a:off x="457200" y="533400"/>
            <a:ext cx="7924800" cy="5178552"/>
          </a:xfrm>
        </p:spPr>
      </p:pic>
    </p:spTree>
    <p:extLst>
      <p:ext uri="{BB962C8B-B14F-4D97-AF65-F5344CB8AC3E}">
        <p14:creationId xmlns:p14="http://schemas.microsoft.com/office/powerpoint/2010/main" val="772162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Calling Stored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7848600" cy="23622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CALL</a:t>
            </a:r>
            <a:r>
              <a:rPr lang="en-US" sz="3600" dirty="0"/>
              <a:t> STORED_PROCEDURE_NAME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3200400"/>
            <a:ext cx="7848600" cy="2362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/>
              <a:buNone/>
            </a:pPr>
            <a:r>
              <a:rPr lang="en-US" sz="3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CALL</a:t>
            </a:r>
            <a:r>
              <a:rPr lang="en-US" sz="3600" dirty="0"/>
              <a:t> </a:t>
            </a:r>
            <a:r>
              <a:rPr lang="en-US" sz="3600" dirty="0" err="1"/>
              <a:t>GetAllProducts</a:t>
            </a:r>
            <a:r>
              <a:rPr lang="en-US" sz="36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5609801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>
            <a:extLst>
              <a:ext uri="{FF2B5EF4-FFF2-40B4-BE49-F238E27FC236}">
                <a16:creationId xmlns:a16="http://schemas.microsoft.com/office/drawing/2014/main" id="{46863EA6-BEB0-4044-8745-C6C9BD0413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57150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sz="240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Language Constructs for Procedures &amp; Functions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4AD412B-80CC-684D-8F89-2A9F1EA8F55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77925" y="1058863"/>
            <a:ext cx="7966075" cy="5302250"/>
          </a:xfrm>
        </p:spPr>
        <p:txBody>
          <a:bodyPr/>
          <a:lstStyle/>
          <a:p>
            <a:r>
              <a:rPr lang="en-US" altLang="en-US">
                <a:latin typeface="Tahoma" panose="020B0604030504040204" pitchFamily="34" charset="0"/>
              </a:rPr>
              <a:t>SQL supports constructs that gives it almost all the power of a general-purpose programming language.</a:t>
            </a:r>
          </a:p>
          <a:p>
            <a:pPr lvl="1"/>
            <a:r>
              <a:rPr lang="en-US" altLang="en-US">
                <a:latin typeface="Tahoma" panose="020B0604030504040204" pitchFamily="34" charset="0"/>
              </a:rPr>
              <a:t>Warning: most database systems implement their own variant of the standard syntax below.</a:t>
            </a:r>
          </a:p>
          <a:p>
            <a:r>
              <a:rPr lang="en-US" altLang="en-US">
                <a:latin typeface="Tahoma" panose="020B0604030504040204" pitchFamily="34" charset="0"/>
              </a:rPr>
              <a:t>Compound statement: </a:t>
            </a:r>
            <a:r>
              <a:rPr lang="en-US" altLang="en-US" b="1">
                <a:latin typeface="Tahoma" panose="020B0604030504040204" pitchFamily="34" charset="0"/>
              </a:rPr>
              <a:t>begin … end</a:t>
            </a:r>
            <a:r>
              <a:rPr lang="en-US" altLang="en-US">
                <a:latin typeface="Tahoma" panose="020B0604030504040204" pitchFamily="34" charset="0"/>
              </a:rPr>
              <a:t>, </a:t>
            </a:r>
          </a:p>
          <a:p>
            <a:pPr lvl="1"/>
            <a:r>
              <a:rPr lang="en-US" altLang="en-US">
                <a:latin typeface="Tahoma" panose="020B0604030504040204" pitchFamily="34" charset="0"/>
              </a:rPr>
              <a:t>May contain multiple SQL statements between </a:t>
            </a:r>
            <a:r>
              <a:rPr lang="en-US" altLang="en-US" b="1">
                <a:latin typeface="Tahoma" panose="020B0604030504040204" pitchFamily="34" charset="0"/>
              </a:rPr>
              <a:t>begin </a:t>
            </a:r>
            <a:r>
              <a:rPr lang="en-US" altLang="en-US">
                <a:latin typeface="Tahoma" panose="020B0604030504040204" pitchFamily="34" charset="0"/>
              </a:rPr>
              <a:t>and </a:t>
            </a:r>
            <a:r>
              <a:rPr lang="en-US" altLang="en-US" b="1">
                <a:latin typeface="Tahoma" panose="020B0604030504040204" pitchFamily="34" charset="0"/>
              </a:rPr>
              <a:t>end</a:t>
            </a:r>
            <a:r>
              <a:rPr lang="en-US" altLang="en-US">
                <a:latin typeface="Tahoma" panose="020B0604030504040204" pitchFamily="34" charset="0"/>
              </a:rPr>
              <a:t>.</a:t>
            </a:r>
          </a:p>
          <a:p>
            <a:pPr lvl="1"/>
            <a:r>
              <a:rPr lang="en-US" altLang="en-US">
                <a:latin typeface="Tahoma" panose="020B0604030504040204" pitchFamily="34" charset="0"/>
              </a:rPr>
              <a:t>Local variables can be declared within a compound statements</a:t>
            </a:r>
          </a:p>
          <a:p>
            <a:r>
              <a:rPr lang="en-US" altLang="en-US" b="1">
                <a:latin typeface="Tahoma" panose="020B0604030504040204" pitchFamily="34" charset="0"/>
              </a:rPr>
              <a:t>While </a:t>
            </a:r>
            <a:r>
              <a:rPr lang="en-US" altLang="en-US">
                <a:latin typeface="Tahoma" panose="020B0604030504040204" pitchFamily="34" charset="0"/>
              </a:rPr>
              <a:t>and </a:t>
            </a:r>
            <a:r>
              <a:rPr lang="en-US" altLang="en-US" b="1">
                <a:latin typeface="Tahoma" panose="020B0604030504040204" pitchFamily="34" charset="0"/>
              </a:rPr>
              <a:t>repeat</a:t>
            </a:r>
            <a:r>
              <a:rPr lang="en-US" altLang="en-US">
                <a:latin typeface="Tahoma" panose="020B0604030504040204" pitchFamily="34" charset="0"/>
              </a:rPr>
              <a:t> statements:</a:t>
            </a:r>
          </a:p>
          <a:p>
            <a:pPr lvl="1"/>
            <a:r>
              <a:rPr lang="en-US" altLang="en-US" b="1">
                <a:latin typeface="Tahoma" panose="020B0604030504040204" pitchFamily="34" charset="0"/>
              </a:rPr>
              <a:t>  while </a:t>
            </a:r>
            <a:r>
              <a:rPr lang="en-US" altLang="en-US" i="1">
                <a:latin typeface="Tahoma" panose="020B0604030504040204" pitchFamily="34" charset="0"/>
              </a:rPr>
              <a:t>boolean expression </a:t>
            </a:r>
            <a:r>
              <a:rPr lang="en-US" altLang="en-US">
                <a:latin typeface="Tahoma" panose="020B0604030504040204" pitchFamily="34" charset="0"/>
              </a:rPr>
              <a:t> </a:t>
            </a:r>
            <a:r>
              <a:rPr lang="en-US" altLang="en-US" b="1">
                <a:latin typeface="Tahoma" panose="020B0604030504040204" pitchFamily="34" charset="0"/>
              </a:rPr>
              <a:t>do</a:t>
            </a:r>
          </a:p>
          <a:p>
            <a:pPr lvl="2">
              <a:lnSpc>
                <a:spcPct val="70000"/>
              </a:lnSpc>
              <a:buFont typeface="Webdings" pitchFamily="2" charset="2"/>
              <a:buNone/>
            </a:pPr>
            <a:r>
              <a:rPr lang="en-US" altLang="en-US" b="1">
                <a:latin typeface="Tahoma" panose="020B0604030504040204" pitchFamily="34" charset="0"/>
              </a:rPr>
              <a:t>           </a:t>
            </a:r>
            <a:r>
              <a:rPr lang="en-US" altLang="en-US" i="1">
                <a:latin typeface="Tahoma" panose="020B0604030504040204" pitchFamily="34" charset="0"/>
              </a:rPr>
              <a:t>sequence of statements </a:t>
            </a:r>
            <a:r>
              <a:rPr lang="en-US" altLang="en-US">
                <a:latin typeface="Tahoma" panose="020B0604030504040204" pitchFamily="34" charset="0"/>
              </a:rPr>
              <a:t>;</a:t>
            </a:r>
          </a:p>
          <a:p>
            <a:pPr lvl="1">
              <a:lnSpc>
                <a:spcPct val="70000"/>
              </a:lnSpc>
              <a:buFont typeface="Monotype Sorts" pitchFamily="2" charset="2"/>
              <a:buNone/>
            </a:pPr>
            <a:r>
              <a:rPr lang="en-US" altLang="en-US" b="1">
                <a:latin typeface="Tahoma" panose="020B0604030504040204" pitchFamily="34" charset="0"/>
              </a:rPr>
              <a:t>		end while</a:t>
            </a:r>
          </a:p>
          <a:p>
            <a:pPr lvl="1">
              <a:lnSpc>
                <a:spcPct val="70000"/>
              </a:lnSpc>
              <a:buFont typeface="Monotype Sorts" pitchFamily="2" charset="2"/>
              <a:buNone/>
            </a:pPr>
            <a:endParaRPr lang="en-US" altLang="en-US" b="1">
              <a:latin typeface="Tahoma" panose="020B0604030504040204" pitchFamily="34" charset="0"/>
            </a:endParaRPr>
          </a:p>
          <a:p>
            <a:pPr lvl="1"/>
            <a:r>
              <a:rPr lang="en-US" altLang="en-US" b="1">
                <a:latin typeface="Tahoma" panose="020B0604030504040204" pitchFamily="34" charset="0"/>
              </a:rPr>
              <a:t> repeat</a:t>
            </a:r>
          </a:p>
          <a:p>
            <a:pPr lvl="2">
              <a:lnSpc>
                <a:spcPct val="70000"/>
              </a:lnSpc>
              <a:buFont typeface="Monotype Sorts" pitchFamily="2" charset="2"/>
              <a:buNone/>
            </a:pPr>
            <a:r>
              <a:rPr lang="en-US" altLang="en-US" b="1">
                <a:latin typeface="Tahoma" panose="020B0604030504040204" pitchFamily="34" charset="0"/>
              </a:rPr>
              <a:t>         </a:t>
            </a:r>
            <a:r>
              <a:rPr lang="en-US" altLang="en-US" i="1">
                <a:latin typeface="Tahoma" panose="020B0604030504040204" pitchFamily="34" charset="0"/>
              </a:rPr>
              <a:t>sequence of statements </a:t>
            </a:r>
            <a:r>
              <a:rPr lang="en-US" altLang="en-US">
                <a:latin typeface="Tahoma" panose="020B0604030504040204" pitchFamily="34" charset="0"/>
              </a:rPr>
              <a:t>;</a:t>
            </a:r>
          </a:p>
          <a:p>
            <a:pPr lvl="1">
              <a:lnSpc>
                <a:spcPct val="70000"/>
              </a:lnSpc>
              <a:buFont typeface="Monotype Sorts" pitchFamily="2" charset="2"/>
              <a:buNone/>
            </a:pPr>
            <a:r>
              <a:rPr lang="en-US" altLang="en-US" b="1">
                <a:latin typeface="Tahoma" panose="020B0604030504040204" pitchFamily="34" charset="0"/>
              </a:rPr>
              <a:t>		until </a:t>
            </a:r>
            <a:r>
              <a:rPr lang="en-US" altLang="en-US" i="1">
                <a:latin typeface="Tahoma" panose="020B0604030504040204" pitchFamily="34" charset="0"/>
              </a:rPr>
              <a:t>boolean expression </a:t>
            </a:r>
            <a:endParaRPr lang="en-US" altLang="en-US">
              <a:latin typeface="Tahoma" panose="020B0604030504040204" pitchFamily="34" charset="0"/>
            </a:endParaRPr>
          </a:p>
          <a:p>
            <a:pPr lvl="1">
              <a:lnSpc>
                <a:spcPct val="70000"/>
              </a:lnSpc>
              <a:buFont typeface="Monotype Sorts" pitchFamily="2" charset="2"/>
              <a:buNone/>
            </a:pPr>
            <a:r>
              <a:rPr lang="en-US" altLang="en-US" b="1">
                <a:latin typeface="Tahoma" panose="020B0604030504040204" pitchFamily="34" charset="0"/>
              </a:rPr>
              <a:t>		end repeat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>
            <a:extLst>
              <a:ext uri="{FF2B5EF4-FFF2-40B4-BE49-F238E27FC236}">
                <a16:creationId xmlns:a16="http://schemas.microsoft.com/office/drawing/2014/main" id="{B7AC8CFB-0EA7-CB48-8E44-38E4E5574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Language Constructs (Cont.)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1AE72FF9-D39C-834D-9211-3FCC88650E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1375" y="1135063"/>
            <a:ext cx="7661275" cy="490378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b="1">
                <a:latin typeface="Tahoma" panose="020B0604030504040204" pitchFamily="34" charset="0"/>
              </a:rPr>
              <a:t>For</a:t>
            </a:r>
            <a:r>
              <a:rPr lang="en-US" altLang="en-US">
                <a:latin typeface="Tahoma" panose="020B0604030504040204" pitchFamily="34" charset="0"/>
              </a:rPr>
              <a:t> loop</a:t>
            </a:r>
          </a:p>
          <a:p>
            <a:pPr lvl="1">
              <a:lnSpc>
                <a:spcPct val="80000"/>
              </a:lnSpc>
            </a:pPr>
            <a:r>
              <a:rPr lang="en-US" altLang="en-US">
                <a:latin typeface="Tahoma" panose="020B0604030504040204" pitchFamily="34" charset="0"/>
              </a:rPr>
              <a:t>Permits iteration over all results of a query</a:t>
            </a:r>
          </a:p>
          <a:p>
            <a:r>
              <a:rPr lang="en-US" altLang="en-US">
                <a:latin typeface="Tahoma" panose="020B0604030504040204" pitchFamily="34" charset="0"/>
              </a:rPr>
              <a:t>Example:   Find the budget of all departments</a:t>
            </a:r>
            <a:br>
              <a:rPr lang="en-US" altLang="en-US">
                <a:latin typeface="Tahoma" panose="020B0604030504040204" pitchFamily="34" charset="0"/>
              </a:rPr>
            </a:br>
            <a:br>
              <a:rPr lang="en-US" altLang="en-US">
                <a:latin typeface="Tahoma" panose="020B0604030504040204" pitchFamily="34" charset="0"/>
              </a:rPr>
            </a:br>
            <a:r>
              <a:rPr lang="en-US" altLang="en-US">
                <a:latin typeface="Tahoma" panose="020B0604030504040204" pitchFamily="34" charset="0"/>
              </a:rPr>
              <a:t>  </a:t>
            </a:r>
            <a:r>
              <a:rPr lang="en-US" altLang="en-US" b="1"/>
              <a:t>declare </a:t>
            </a:r>
            <a:r>
              <a:rPr lang="en-US" altLang="en-US" i="1"/>
              <a:t>n  </a:t>
            </a:r>
            <a:r>
              <a:rPr lang="en-US" altLang="en-US" b="1"/>
              <a:t>integer default </a:t>
            </a:r>
            <a:r>
              <a:rPr lang="en-US" altLang="en-US"/>
              <a:t>0;</a:t>
            </a:r>
            <a:br>
              <a:rPr lang="en-US" altLang="en-US"/>
            </a:br>
            <a:r>
              <a:rPr lang="en-US" altLang="en-US"/>
              <a:t>   </a:t>
            </a:r>
            <a:r>
              <a:rPr lang="en-US" altLang="en-US" b="1"/>
              <a:t>for </a:t>
            </a:r>
            <a:r>
              <a:rPr lang="en-US" altLang="en-US" i="1"/>
              <a:t>r  </a:t>
            </a:r>
            <a:r>
              <a:rPr lang="en-US" altLang="en-US" b="1"/>
              <a:t>as</a:t>
            </a:r>
            <a:br>
              <a:rPr lang="en-US" altLang="en-US" b="1"/>
            </a:br>
            <a:r>
              <a:rPr lang="en-US" altLang="en-US" b="1"/>
              <a:t>         select </a:t>
            </a:r>
            <a:r>
              <a:rPr lang="en-US" altLang="en-US" i="1"/>
              <a:t>budget </a:t>
            </a:r>
            <a:r>
              <a:rPr lang="en-US" altLang="en-US" b="1"/>
              <a:t>from </a:t>
            </a:r>
            <a:r>
              <a:rPr lang="en-US" altLang="en-US" i="1"/>
              <a:t>department</a:t>
            </a:r>
            <a:br>
              <a:rPr lang="en-US" altLang="en-US"/>
            </a:br>
            <a:r>
              <a:rPr lang="en-US" altLang="en-US"/>
              <a:t>   </a:t>
            </a:r>
            <a:r>
              <a:rPr lang="en-US" altLang="en-US" b="1"/>
              <a:t>do</a:t>
            </a:r>
            <a:br>
              <a:rPr lang="en-US" altLang="en-US" b="1"/>
            </a:br>
            <a:r>
              <a:rPr lang="en-US" altLang="en-US" b="1"/>
              <a:t>	       set </a:t>
            </a:r>
            <a:r>
              <a:rPr lang="en-US" altLang="en-US" i="1"/>
              <a:t>n </a:t>
            </a:r>
            <a:r>
              <a:rPr lang="en-US" altLang="en-US"/>
              <a:t>= </a:t>
            </a:r>
            <a:r>
              <a:rPr lang="en-US" altLang="en-US" i="1"/>
              <a:t>n </a:t>
            </a:r>
            <a:r>
              <a:rPr lang="en-US" altLang="en-US"/>
              <a:t>+ r.</a:t>
            </a:r>
            <a:r>
              <a:rPr lang="en-US" altLang="en-US" i="1"/>
              <a:t>budget</a:t>
            </a:r>
            <a:br>
              <a:rPr lang="en-US" altLang="en-US" i="1"/>
            </a:br>
            <a:r>
              <a:rPr lang="en-US" altLang="en-US" i="1"/>
              <a:t>   </a:t>
            </a:r>
            <a:r>
              <a:rPr lang="en-US" altLang="en-US" b="1"/>
              <a:t>end for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>
            <a:extLst>
              <a:ext uri="{FF2B5EF4-FFF2-40B4-BE49-F238E27FC236}">
                <a16:creationId xmlns:a16="http://schemas.microsoft.com/office/drawing/2014/main" id="{C3AF4363-4561-1043-86C2-441BE7AB68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Language Constructs (Cont.)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787E9F57-888F-574D-AF71-94BF47473CD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155700" y="1135063"/>
            <a:ext cx="7988300" cy="5435600"/>
          </a:xfrm>
        </p:spPr>
        <p:txBody>
          <a:bodyPr/>
          <a:lstStyle/>
          <a:p>
            <a:r>
              <a:rPr lang="en-US" altLang="en-US" dirty="0"/>
              <a:t>Conditional statements  (</a:t>
            </a:r>
            <a:r>
              <a:rPr lang="en-US" altLang="en-US" b="1" dirty="0"/>
              <a:t>if-then-else</a:t>
            </a:r>
            <a:r>
              <a:rPr lang="en-US" altLang="en-US" dirty="0"/>
              <a:t>)</a:t>
            </a:r>
            <a:br>
              <a:rPr lang="en-US" altLang="en-US" dirty="0"/>
            </a:br>
            <a:r>
              <a:rPr lang="en-US" altLang="en-US" dirty="0"/>
              <a:t>SQL:1999 also supports a </a:t>
            </a:r>
            <a:r>
              <a:rPr lang="en-US" altLang="en-US" b="1" dirty="0"/>
              <a:t>case</a:t>
            </a:r>
            <a:r>
              <a:rPr lang="en-US" altLang="en-US" dirty="0"/>
              <a:t> statement similar to C case statement</a:t>
            </a:r>
          </a:p>
          <a:p>
            <a:r>
              <a:rPr lang="en-US" altLang="en-US" dirty="0"/>
              <a:t>Example procedure: registers student after ensuring classroom capacity is not exceeded</a:t>
            </a:r>
          </a:p>
          <a:p>
            <a:pPr lvl="1"/>
            <a:r>
              <a:rPr lang="en-US" altLang="en-US" dirty="0"/>
              <a:t>Returns 0 on success and -1 if capacity is exceeded</a:t>
            </a:r>
          </a:p>
          <a:p>
            <a:pPr lvl="1"/>
            <a:r>
              <a:rPr lang="en-US" altLang="en-US" dirty="0"/>
              <a:t>See book (page 177) for details</a:t>
            </a:r>
          </a:p>
          <a:p>
            <a:r>
              <a:rPr lang="en-US" altLang="en-US" dirty="0"/>
              <a:t>Signaling of exception conditions, and declaring handlers for exceptions</a:t>
            </a:r>
          </a:p>
          <a:p>
            <a:pPr>
              <a:buFont typeface="Monotype Sorts" pitchFamily="2" charset="2"/>
              <a:buNone/>
            </a:pPr>
            <a:r>
              <a:rPr lang="en-US" altLang="en-US" b="1" dirty="0"/>
              <a:t>		declare </a:t>
            </a:r>
            <a:r>
              <a:rPr lang="en-US" altLang="en-US" i="1" dirty="0" err="1"/>
              <a:t>out_of_classroom_seats</a:t>
            </a:r>
            <a:r>
              <a:rPr lang="en-US" altLang="en-US" i="1" dirty="0"/>
              <a:t>  </a:t>
            </a:r>
            <a:r>
              <a:rPr lang="en-US" altLang="en-US" b="1" dirty="0"/>
              <a:t>condition</a:t>
            </a:r>
            <a:br>
              <a:rPr lang="en-US" altLang="en-US" b="1" dirty="0"/>
            </a:br>
            <a:r>
              <a:rPr lang="en-US" altLang="en-US" b="1" dirty="0"/>
              <a:t>	declare exit handler for </a:t>
            </a:r>
            <a:r>
              <a:rPr lang="en-US" altLang="en-US" i="1" dirty="0" err="1"/>
              <a:t>out_of_classroom_seats</a:t>
            </a:r>
            <a:br>
              <a:rPr lang="en-US" altLang="en-US" i="1" dirty="0"/>
            </a:br>
            <a:r>
              <a:rPr lang="en-US" altLang="en-US" i="1" dirty="0"/>
              <a:t>	</a:t>
            </a:r>
            <a:r>
              <a:rPr lang="en-US" altLang="en-US" b="1" dirty="0"/>
              <a:t>begin</a:t>
            </a:r>
            <a:br>
              <a:rPr lang="en-US" altLang="en-US" b="1" dirty="0"/>
            </a:br>
            <a:r>
              <a:rPr lang="en-US" altLang="en-US" b="1" dirty="0"/>
              <a:t>	</a:t>
            </a:r>
            <a:r>
              <a:rPr lang="en-US" altLang="en-US" dirty="0"/>
              <a:t>…</a:t>
            </a:r>
            <a:br>
              <a:rPr lang="en-US" altLang="en-US" dirty="0"/>
            </a:br>
            <a:r>
              <a:rPr lang="en-US" altLang="en-US" dirty="0"/>
              <a:t>         ..  </a:t>
            </a:r>
            <a:r>
              <a:rPr lang="en-US" altLang="en-US" b="1" dirty="0"/>
              <a:t>signal</a:t>
            </a:r>
            <a:r>
              <a:rPr lang="en-US" altLang="en-US" dirty="0"/>
              <a:t> </a:t>
            </a:r>
            <a:r>
              <a:rPr lang="en-US" altLang="en-US" i="1" dirty="0" err="1"/>
              <a:t>out_of_classroom_seats</a:t>
            </a:r>
            <a:br>
              <a:rPr lang="en-US" altLang="en-US" dirty="0"/>
            </a:br>
            <a:r>
              <a:rPr lang="en-US" altLang="en-US" dirty="0"/>
              <a:t>	</a:t>
            </a:r>
            <a:r>
              <a:rPr lang="en-US" altLang="en-US" b="1" dirty="0"/>
              <a:t>end</a:t>
            </a:r>
          </a:p>
          <a:p>
            <a:pPr lvl="1"/>
            <a:r>
              <a:rPr lang="en-US" altLang="en-US" dirty="0"/>
              <a:t>The handler here is </a:t>
            </a:r>
            <a:r>
              <a:rPr lang="en-US" altLang="en-US" b="1" dirty="0"/>
              <a:t>exit </a:t>
            </a:r>
            <a:r>
              <a:rPr lang="en-US" altLang="en-US" dirty="0"/>
              <a:t>-- causes enclosing </a:t>
            </a:r>
            <a:r>
              <a:rPr lang="en-US" altLang="en-US" b="1" dirty="0" err="1"/>
              <a:t>begin..end</a:t>
            </a:r>
            <a:r>
              <a:rPr lang="en-US" altLang="en-US" dirty="0"/>
              <a:t> to be exited</a:t>
            </a:r>
          </a:p>
          <a:p>
            <a:pPr lvl="1"/>
            <a:r>
              <a:rPr lang="en-US" altLang="en-US" dirty="0"/>
              <a:t>Other actions possible on exception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>
            <a:extLst>
              <a:ext uri="{FF2B5EF4-FFF2-40B4-BE49-F238E27FC236}">
                <a16:creationId xmlns:a16="http://schemas.microsoft.com/office/drawing/2014/main" id="{D2A2EC86-B91C-DF4D-8E7B-F4E9021448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Language Routines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EBDF85E3-98EB-B143-8801-9DB13677DD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1375" y="1135063"/>
            <a:ext cx="8056563" cy="4729162"/>
          </a:xfrm>
        </p:spPr>
        <p:txBody>
          <a:bodyPr/>
          <a:lstStyle/>
          <a:p>
            <a:endParaRPr kumimoji="0" lang="en-US" altLang="en-US"/>
          </a:p>
          <a:p>
            <a:r>
              <a:rPr kumimoji="0" lang="en-US" altLang="en-US"/>
              <a:t>SQL:1999 permits the use of functions and procedures written in other languages such as C or C++</a:t>
            </a:r>
            <a:r>
              <a:rPr lang="en-US" altLang="en-US"/>
              <a:t> </a:t>
            </a:r>
          </a:p>
          <a:p>
            <a:r>
              <a:rPr lang="en-US" altLang="en-US"/>
              <a:t>Declaring external language procedures and functions</a:t>
            </a:r>
            <a:br>
              <a:rPr lang="en-US" altLang="en-US"/>
            </a:br>
            <a:endParaRPr lang="en-US" altLang="en-US"/>
          </a:p>
          <a:p>
            <a:pPr>
              <a:buFont typeface="Monotype Sorts" pitchFamily="2" charset="2"/>
              <a:buNone/>
            </a:pPr>
            <a:r>
              <a:rPr lang="en-US" altLang="en-US"/>
              <a:t>	</a:t>
            </a:r>
            <a:r>
              <a:rPr lang="en-US" altLang="en-US" b="1"/>
              <a:t>create procedure </a:t>
            </a:r>
            <a:r>
              <a:rPr lang="en-US" altLang="en-US"/>
              <a:t>dept_count_proc(</a:t>
            </a:r>
            <a:r>
              <a:rPr lang="en-US" altLang="en-US" b="1"/>
              <a:t>in</a:t>
            </a:r>
            <a:r>
              <a:rPr lang="en-US" altLang="en-US"/>
              <a:t> </a:t>
            </a:r>
            <a:r>
              <a:rPr lang="en-US" altLang="en-US" i="1"/>
              <a:t>dept_name </a:t>
            </a:r>
            <a:r>
              <a:rPr lang="en-US" altLang="en-US" b="1"/>
              <a:t>varchar</a:t>
            </a:r>
            <a:r>
              <a:rPr lang="en-US" altLang="en-US"/>
              <a:t>(20),</a:t>
            </a:r>
            <a:br>
              <a:rPr lang="en-US" altLang="en-US"/>
            </a:br>
            <a:r>
              <a:rPr lang="en-US" altLang="en-US"/>
              <a:t>                                                          </a:t>
            </a:r>
            <a:r>
              <a:rPr lang="en-US" altLang="en-US" b="1"/>
              <a:t>out </a:t>
            </a:r>
            <a:r>
              <a:rPr lang="en-US" altLang="en-US"/>
              <a:t>count </a:t>
            </a:r>
            <a:r>
              <a:rPr lang="en-US" altLang="en-US" b="1"/>
              <a:t>integer</a:t>
            </a:r>
            <a:r>
              <a:rPr lang="en-US" altLang="en-US"/>
              <a:t>)</a:t>
            </a:r>
            <a:br>
              <a:rPr lang="en-US" altLang="en-US"/>
            </a:br>
            <a:r>
              <a:rPr lang="en-US" altLang="en-US" b="1"/>
              <a:t>language </a:t>
            </a:r>
            <a:r>
              <a:rPr lang="en-US" altLang="en-US"/>
              <a:t>C</a:t>
            </a:r>
            <a:br>
              <a:rPr lang="en-US" altLang="en-US"/>
            </a:br>
            <a:r>
              <a:rPr lang="en-US" altLang="en-US" b="1"/>
              <a:t>external name </a:t>
            </a:r>
            <a:r>
              <a:rPr lang="ja-JP" altLang="en-US"/>
              <a:t>’</a:t>
            </a:r>
            <a:r>
              <a:rPr lang="en-US" altLang="ja-JP"/>
              <a:t> /usr/avi/bin/dept_count_proc</a:t>
            </a:r>
            <a:r>
              <a:rPr lang="ja-JP" altLang="en-US"/>
              <a:t>’</a:t>
            </a:r>
            <a:br>
              <a:rPr lang="en-US" altLang="ja-JP"/>
            </a:br>
            <a:br>
              <a:rPr lang="en-US" altLang="ja-JP"/>
            </a:br>
            <a:r>
              <a:rPr lang="en-US" altLang="ja-JP" b="1"/>
              <a:t>create function </a:t>
            </a:r>
            <a:r>
              <a:rPr lang="en-US" altLang="ja-JP"/>
              <a:t>dept_count(</a:t>
            </a:r>
            <a:r>
              <a:rPr lang="en-US" altLang="ja-JP" i="1"/>
              <a:t>dept_name </a:t>
            </a:r>
            <a:r>
              <a:rPr lang="en-US" altLang="ja-JP" b="1"/>
              <a:t>varchar</a:t>
            </a:r>
            <a:r>
              <a:rPr lang="en-US" altLang="ja-JP"/>
              <a:t>(20))</a:t>
            </a:r>
            <a:br>
              <a:rPr lang="en-US" altLang="ja-JP"/>
            </a:br>
            <a:r>
              <a:rPr lang="en-US" altLang="ja-JP" b="1"/>
              <a:t>returns </a:t>
            </a:r>
            <a:r>
              <a:rPr lang="en-US" altLang="ja-JP"/>
              <a:t>integer</a:t>
            </a:r>
            <a:br>
              <a:rPr lang="en-US" altLang="ja-JP"/>
            </a:br>
            <a:r>
              <a:rPr lang="en-US" altLang="ja-JP" b="1"/>
              <a:t>language </a:t>
            </a:r>
            <a:r>
              <a:rPr lang="en-US" altLang="ja-JP"/>
              <a:t>C</a:t>
            </a:r>
            <a:br>
              <a:rPr lang="en-US" altLang="ja-JP"/>
            </a:br>
            <a:r>
              <a:rPr lang="en-US" altLang="ja-JP" b="1"/>
              <a:t>external name </a:t>
            </a:r>
            <a:r>
              <a:rPr lang="ja-JP" altLang="en-US"/>
              <a:t>‘</a:t>
            </a:r>
            <a:r>
              <a:rPr lang="en-US" altLang="ja-JP"/>
              <a:t>/usr/avi/bin/dept_count</a:t>
            </a:r>
            <a:r>
              <a:rPr lang="ja-JP" altLang="en-US"/>
              <a:t>’</a:t>
            </a:r>
            <a:endParaRPr lang="en-US" altLang="ja-JP"/>
          </a:p>
          <a:p>
            <a:pPr>
              <a:buFont typeface="Monotype Sorts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>
            <a:extLst>
              <a:ext uri="{FF2B5EF4-FFF2-40B4-BE49-F238E27FC236}">
                <a16:creationId xmlns:a16="http://schemas.microsoft.com/office/drawing/2014/main" id="{5704968C-4F87-A84B-B8F8-F23DFAF9B0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Language Routines</a:t>
            </a: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33680C43-6B4C-1C4F-B152-CF6CDB8DDC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1375" y="1135063"/>
            <a:ext cx="8302625" cy="4729162"/>
          </a:xfrm>
        </p:spPr>
        <p:txBody>
          <a:bodyPr/>
          <a:lstStyle/>
          <a:p>
            <a:r>
              <a:rPr kumimoji="0" lang="en-US" altLang="en-US"/>
              <a:t>SQL:1999  allows the definition of procedures in an imperative programming language, (Java, C#, C or C++) which can be invoked from SQL queries.</a:t>
            </a:r>
          </a:p>
          <a:p>
            <a:r>
              <a:rPr kumimoji="0" lang="en-US" altLang="en-US"/>
              <a:t>Functions defined in this fashion can be more efficient than functions defined in SQL, and computations that cannot be carried out in SQL can be executed by these functions.</a:t>
            </a:r>
          </a:p>
          <a:p>
            <a:r>
              <a:rPr lang="en-US" altLang="en-US"/>
              <a:t>Declaring external language procedures and functions</a:t>
            </a:r>
            <a:br>
              <a:rPr lang="en-US" altLang="en-US"/>
            </a:br>
            <a:endParaRPr lang="en-US" altLang="en-US"/>
          </a:p>
          <a:p>
            <a:pPr>
              <a:buFont typeface="Monotype Sorts" pitchFamily="2" charset="2"/>
              <a:buNone/>
            </a:pPr>
            <a:r>
              <a:rPr lang="en-US" altLang="en-US"/>
              <a:t>	     </a:t>
            </a:r>
            <a:r>
              <a:rPr lang="en-US" altLang="en-US" b="1"/>
              <a:t>create procedure </a:t>
            </a:r>
            <a:r>
              <a:rPr lang="en-US" altLang="en-US"/>
              <a:t>dept_count_proc(</a:t>
            </a:r>
            <a:r>
              <a:rPr lang="en-US" altLang="en-US" b="1"/>
              <a:t>in</a:t>
            </a:r>
            <a:r>
              <a:rPr lang="en-US" altLang="en-US"/>
              <a:t> </a:t>
            </a:r>
            <a:r>
              <a:rPr lang="en-US" altLang="en-US" i="1"/>
              <a:t>dept_name </a:t>
            </a:r>
            <a:r>
              <a:rPr lang="en-US" altLang="en-US" b="1"/>
              <a:t>varchar</a:t>
            </a:r>
            <a:r>
              <a:rPr lang="en-US" altLang="en-US"/>
              <a:t>(20),</a:t>
            </a:r>
            <a:br>
              <a:rPr lang="en-US" altLang="en-US"/>
            </a:br>
            <a:r>
              <a:rPr lang="en-US" altLang="en-US"/>
              <a:t>                                                               </a:t>
            </a:r>
            <a:r>
              <a:rPr lang="en-US" altLang="en-US" b="1"/>
              <a:t>out </a:t>
            </a:r>
            <a:r>
              <a:rPr lang="en-US" altLang="en-US"/>
              <a:t>count </a:t>
            </a:r>
            <a:r>
              <a:rPr lang="en-US" altLang="en-US" b="1"/>
              <a:t>integer</a:t>
            </a:r>
            <a:r>
              <a:rPr lang="en-US" altLang="en-US"/>
              <a:t>)</a:t>
            </a:r>
            <a:br>
              <a:rPr lang="en-US" altLang="en-US"/>
            </a:br>
            <a:r>
              <a:rPr lang="en-US" altLang="en-US"/>
              <a:t>     </a:t>
            </a:r>
            <a:r>
              <a:rPr lang="en-US" altLang="en-US" b="1"/>
              <a:t>language </a:t>
            </a:r>
            <a:r>
              <a:rPr lang="en-US" altLang="en-US"/>
              <a:t>C</a:t>
            </a:r>
            <a:br>
              <a:rPr lang="en-US" altLang="en-US"/>
            </a:br>
            <a:r>
              <a:rPr lang="en-US" altLang="en-US"/>
              <a:t>     </a:t>
            </a:r>
            <a:r>
              <a:rPr lang="en-US" altLang="en-US" b="1"/>
              <a:t>external name </a:t>
            </a:r>
            <a:r>
              <a:rPr lang="ja-JP" altLang="en-US"/>
              <a:t>’</a:t>
            </a:r>
            <a:r>
              <a:rPr lang="en-US" altLang="ja-JP"/>
              <a:t> /usr/avi/bin/dept_count_proc</a:t>
            </a:r>
            <a:r>
              <a:rPr lang="ja-JP" altLang="en-US"/>
              <a:t>’</a:t>
            </a:r>
            <a:br>
              <a:rPr lang="en-US" altLang="ja-JP"/>
            </a:br>
            <a:br>
              <a:rPr lang="en-US" altLang="ja-JP"/>
            </a:br>
            <a:r>
              <a:rPr lang="en-US" altLang="ja-JP"/>
              <a:t>     </a:t>
            </a:r>
            <a:r>
              <a:rPr lang="en-US" altLang="ja-JP" b="1"/>
              <a:t>create function </a:t>
            </a:r>
            <a:r>
              <a:rPr lang="en-US" altLang="ja-JP"/>
              <a:t>dept_count(</a:t>
            </a:r>
            <a:r>
              <a:rPr lang="en-US" altLang="ja-JP" i="1"/>
              <a:t>dept_name </a:t>
            </a:r>
            <a:r>
              <a:rPr lang="en-US" altLang="ja-JP" b="1"/>
              <a:t>varchar</a:t>
            </a:r>
            <a:r>
              <a:rPr lang="en-US" altLang="ja-JP"/>
              <a:t>(20))</a:t>
            </a:r>
            <a:br>
              <a:rPr lang="en-US" altLang="ja-JP"/>
            </a:br>
            <a:r>
              <a:rPr lang="en-US" altLang="ja-JP"/>
              <a:t>     </a:t>
            </a:r>
            <a:r>
              <a:rPr lang="en-US" altLang="ja-JP" b="1"/>
              <a:t>returns </a:t>
            </a:r>
            <a:r>
              <a:rPr lang="en-US" altLang="ja-JP"/>
              <a:t>integer</a:t>
            </a:r>
            <a:br>
              <a:rPr lang="en-US" altLang="ja-JP"/>
            </a:br>
            <a:r>
              <a:rPr lang="en-US" altLang="ja-JP"/>
              <a:t>     </a:t>
            </a:r>
            <a:r>
              <a:rPr lang="en-US" altLang="ja-JP" b="1"/>
              <a:t>language </a:t>
            </a:r>
            <a:r>
              <a:rPr lang="en-US" altLang="ja-JP"/>
              <a:t>C</a:t>
            </a:r>
            <a:br>
              <a:rPr lang="en-US" altLang="ja-JP"/>
            </a:br>
            <a:r>
              <a:rPr lang="en-US" altLang="ja-JP"/>
              <a:t>     </a:t>
            </a:r>
            <a:r>
              <a:rPr lang="en-US" altLang="ja-JP" b="1"/>
              <a:t>external name </a:t>
            </a:r>
            <a:r>
              <a:rPr lang="ja-JP" altLang="en-US"/>
              <a:t>‘</a:t>
            </a:r>
            <a:r>
              <a:rPr lang="en-US" altLang="ja-JP"/>
              <a:t>/usr/avi/bin/dept_count</a:t>
            </a:r>
            <a:r>
              <a:rPr lang="ja-JP" altLang="en-US"/>
              <a:t>’</a:t>
            </a:r>
            <a:endParaRPr lang="en-US" altLang="ja-JP"/>
          </a:p>
          <a:p>
            <a:pPr>
              <a:buFont typeface="Monotype Sorts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>
            <a:extLst>
              <a:ext uri="{FF2B5EF4-FFF2-40B4-BE49-F238E27FC236}">
                <a16:creationId xmlns:a16="http://schemas.microsoft.com/office/drawing/2014/main" id="{6BF17333-F2FC-2341-9D71-28593CF72D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Language Routines (Cont.)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2631E682-363D-3646-8CEF-874DE91DBCF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06500" y="1135063"/>
            <a:ext cx="7937500" cy="5486400"/>
          </a:xfrm>
        </p:spPr>
        <p:txBody>
          <a:bodyPr/>
          <a:lstStyle/>
          <a:p>
            <a:r>
              <a:rPr lang="en-US" altLang="en-US"/>
              <a:t>Benefits of external language functions/procedures:  </a:t>
            </a:r>
          </a:p>
          <a:p>
            <a:pPr lvl="1"/>
            <a:r>
              <a:rPr lang="en-US" altLang="en-US"/>
              <a:t>more efficient for many operations, and more expressive power.</a:t>
            </a:r>
          </a:p>
          <a:p>
            <a:r>
              <a:rPr lang="en-US" altLang="en-US"/>
              <a:t>Drawbacks</a:t>
            </a:r>
          </a:p>
          <a:p>
            <a:pPr lvl="1"/>
            <a:r>
              <a:rPr lang="en-US" altLang="en-US"/>
              <a:t>Code to implement function may need to be loaded into database system and executed in the database system</a:t>
            </a:r>
            <a:r>
              <a:rPr lang="ja-JP" altLang="en-US"/>
              <a:t>’</a:t>
            </a:r>
            <a:r>
              <a:rPr lang="en-US" altLang="ja-JP"/>
              <a:t>s address space.</a:t>
            </a:r>
          </a:p>
          <a:p>
            <a:pPr lvl="2"/>
            <a:r>
              <a:rPr lang="en-US" altLang="en-US"/>
              <a:t>risk of accidental corruption of database structures</a:t>
            </a:r>
          </a:p>
          <a:p>
            <a:pPr lvl="2"/>
            <a:r>
              <a:rPr lang="en-US" altLang="en-US"/>
              <a:t>security risk, allowing users access to unauthorized data</a:t>
            </a:r>
          </a:p>
          <a:p>
            <a:pPr lvl="1"/>
            <a:r>
              <a:rPr lang="en-US" altLang="en-US"/>
              <a:t>There are alternatives, which give good security at the cost of potentially worse performance.</a:t>
            </a:r>
          </a:p>
          <a:p>
            <a:pPr lvl="1"/>
            <a:r>
              <a:rPr lang="en-US" altLang="en-US"/>
              <a:t>Direct execution in the database system</a:t>
            </a:r>
            <a:r>
              <a:rPr lang="ja-JP" altLang="en-US"/>
              <a:t>’</a:t>
            </a:r>
            <a:r>
              <a:rPr lang="en-US" altLang="ja-JP"/>
              <a:t>s space is used when efficiency is more important than security.</a:t>
            </a: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>
            <a:extLst>
              <a:ext uri="{FF2B5EF4-FFF2-40B4-BE49-F238E27FC236}">
                <a16:creationId xmlns:a16="http://schemas.microsoft.com/office/drawing/2014/main" id="{D3CEA383-F557-D54A-B268-56BBAD8C5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sz="280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Security with External Language Routines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4413EC84-BED7-B245-9804-0CE413639E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1375" y="1135063"/>
            <a:ext cx="7661275" cy="4903787"/>
          </a:xfrm>
        </p:spPr>
        <p:txBody>
          <a:bodyPr/>
          <a:lstStyle/>
          <a:p>
            <a:r>
              <a:rPr lang="en-US" altLang="en-US"/>
              <a:t>To deal with security problems, we can do on of the following:</a:t>
            </a:r>
          </a:p>
          <a:p>
            <a:pPr lvl="1"/>
            <a:r>
              <a:rPr lang="en-US" altLang="en-US"/>
              <a:t>Use </a:t>
            </a:r>
            <a:r>
              <a:rPr lang="en-US" altLang="en-US" b="1">
                <a:solidFill>
                  <a:srgbClr val="000099"/>
                </a:solidFill>
              </a:rPr>
              <a:t>sandbox</a:t>
            </a:r>
            <a:r>
              <a:rPr lang="en-US" altLang="en-US"/>
              <a:t> techniques</a:t>
            </a:r>
          </a:p>
          <a:p>
            <a:pPr lvl="2"/>
            <a:r>
              <a:rPr lang="en-US" altLang="en-US"/>
              <a:t>That is, use a safe language like Java, which cannot be used to  access/damage other parts of the database code.</a:t>
            </a:r>
          </a:p>
          <a:p>
            <a:pPr lvl="1"/>
            <a:r>
              <a:rPr lang="en-US" altLang="en-US"/>
              <a:t>Run external language functions/procedures in a separate process, with no access to the database process</a:t>
            </a:r>
            <a:r>
              <a:rPr lang="ja-JP" altLang="en-US"/>
              <a:t>’</a:t>
            </a:r>
            <a:r>
              <a:rPr lang="en-US" altLang="ja-JP"/>
              <a:t> memory.</a:t>
            </a:r>
          </a:p>
          <a:p>
            <a:pPr lvl="2"/>
            <a:r>
              <a:rPr lang="en-US" altLang="en-US"/>
              <a:t>Parameters and results communicated via inter-process communication</a:t>
            </a:r>
          </a:p>
          <a:p>
            <a:r>
              <a:rPr lang="en-US" altLang="en-US"/>
              <a:t>Both have performance overheads</a:t>
            </a:r>
          </a:p>
          <a:p>
            <a:r>
              <a:rPr lang="en-US" altLang="en-US"/>
              <a:t>Many database systems support both above approaches as well as direct executing in database system address space.</a:t>
            </a:r>
          </a:p>
          <a:p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4">
            <a:extLst>
              <a:ext uri="{FF2B5EF4-FFF2-40B4-BE49-F238E27FC236}">
                <a16:creationId xmlns:a16="http://schemas.microsoft.com/office/drawing/2014/main" id="{752719E9-DD01-2542-BDC1-FA564FA3F3B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Advanced Aggregation Features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482" name="Rectangle 2">
            <a:extLst>
              <a:ext uri="{FF2B5EF4-FFF2-40B4-BE49-F238E27FC236}">
                <a16:creationId xmlns:a16="http://schemas.microsoft.com/office/drawing/2014/main" id="{C070EEC2-DFCD-6048-A3BA-A3D2ED469C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Ranking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E770C1F-65C2-4249-BE4F-C75D89D8589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769938" y="881063"/>
            <a:ext cx="8374062" cy="5578475"/>
          </a:xfrm>
        </p:spPr>
        <p:txBody>
          <a:bodyPr/>
          <a:lstStyle/>
          <a:p>
            <a:r>
              <a:rPr lang="en-US" altLang="en-US" sz="2000"/>
              <a:t>Ranking is done in conjunction with an order by specification.</a:t>
            </a:r>
            <a:r>
              <a:rPr lang="en-US" altLang="en-US"/>
              <a:t> </a:t>
            </a:r>
          </a:p>
          <a:p>
            <a:r>
              <a:rPr lang="en-US" altLang="en-US" sz="2000"/>
              <a:t>Suppose we are given a relation </a:t>
            </a:r>
            <a:br>
              <a:rPr lang="en-US" altLang="en-US" sz="2000"/>
            </a:br>
            <a:r>
              <a:rPr lang="en-US" altLang="en-US" sz="2000"/>
              <a:t>       </a:t>
            </a:r>
            <a:r>
              <a:rPr lang="en-US" altLang="en-US" sz="2000" i="1"/>
              <a:t>student_grades(ID, GPA) </a:t>
            </a:r>
            <a:br>
              <a:rPr lang="en-US" altLang="en-US" sz="2000" i="1"/>
            </a:br>
            <a:r>
              <a:rPr lang="en-US" altLang="en-US" sz="2000"/>
              <a:t>giving the grade-point average of each student</a:t>
            </a:r>
            <a:endParaRPr lang="en-US" altLang="en-US"/>
          </a:p>
          <a:p>
            <a:r>
              <a:rPr lang="en-US" altLang="en-US" sz="2000"/>
              <a:t>Find the rank of each student.</a:t>
            </a:r>
            <a:endParaRPr lang="en-US" altLang="en-US"/>
          </a:p>
          <a:p>
            <a:pPr>
              <a:buFont typeface="Monotype Sorts" pitchFamily="2" charset="2"/>
              <a:buNone/>
            </a:pPr>
            <a:r>
              <a:rPr lang="en-US" altLang="en-US"/>
              <a:t>	       </a:t>
            </a:r>
            <a:r>
              <a:rPr lang="en-US" altLang="en-US" sz="2000" b="1"/>
              <a:t>select </a:t>
            </a:r>
            <a:r>
              <a:rPr lang="en-US" altLang="en-US" sz="2000" i="1"/>
              <a:t>ID</a:t>
            </a:r>
            <a:r>
              <a:rPr lang="en-US" altLang="en-US" sz="2000"/>
              <a:t>, </a:t>
            </a:r>
            <a:r>
              <a:rPr lang="en-US" altLang="en-US" sz="2000" b="1"/>
              <a:t>rank</a:t>
            </a:r>
            <a:r>
              <a:rPr lang="en-US" altLang="en-US" sz="2000"/>
              <a:t>() </a:t>
            </a:r>
            <a:r>
              <a:rPr lang="en-US" altLang="en-US" sz="2000" b="1"/>
              <a:t>over </a:t>
            </a:r>
            <a:r>
              <a:rPr lang="en-US" altLang="en-US" sz="2000"/>
              <a:t>(</a:t>
            </a:r>
            <a:r>
              <a:rPr lang="en-US" altLang="en-US" sz="2000" b="1"/>
              <a:t>order by </a:t>
            </a:r>
            <a:r>
              <a:rPr lang="en-US" altLang="en-US" sz="2000" i="1"/>
              <a:t>GPA</a:t>
            </a:r>
            <a:r>
              <a:rPr lang="en-US" altLang="en-US" sz="2000"/>
              <a:t> </a:t>
            </a:r>
            <a:r>
              <a:rPr lang="en-US" altLang="en-US" sz="2000" b="1"/>
              <a:t>desc) as </a:t>
            </a:r>
            <a:r>
              <a:rPr lang="en-US" altLang="en-US" sz="2000" i="1"/>
              <a:t>s_rank</a:t>
            </a:r>
            <a:br>
              <a:rPr lang="en-US" altLang="en-US" sz="2000"/>
            </a:br>
            <a:r>
              <a:rPr lang="en-US" altLang="en-US" sz="2000"/>
              <a:t>       </a:t>
            </a:r>
            <a:r>
              <a:rPr lang="en-US" altLang="en-US" sz="2000" b="1"/>
              <a:t>from </a:t>
            </a:r>
            <a:r>
              <a:rPr lang="en-US" altLang="en-US" sz="2000" i="1"/>
              <a:t>student_grades</a:t>
            </a:r>
            <a:endParaRPr lang="en-US" altLang="en-US" i="1"/>
          </a:p>
          <a:p>
            <a:r>
              <a:rPr lang="en-US" altLang="en-US" sz="2000"/>
              <a:t>An extra </a:t>
            </a:r>
            <a:r>
              <a:rPr lang="en-US" altLang="en-US" sz="2000" b="1"/>
              <a:t>order by </a:t>
            </a:r>
            <a:r>
              <a:rPr lang="en-US" altLang="en-US" sz="2000"/>
              <a:t>clause is needed to get them in sorted order</a:t>
            </a:r>
            <a:endParaRPr lang="en-US" altLang="en-US"/>
          </a:p>
          <a:p>
            <a:pPr>
              <a:buFont typeface="Monotype Sorts" pitchFamily="2" charset="2"/>
              <a:buNone/>
            </a:pPr>
            <a:r>
              <a:rPr lang="en-US" altLang="en-US"/>
              <a:t>	       </a:t>
            </a:r>
            <a:r>
              <a:rPr lang="en-US" altLang="en-US" sz="2000" b="1"/>
              <a:t>select </a:t>
            </a:r>
            <a:r>
              <a:rPr lang="en-US" altLang="en-US" sz="2000" i="1"/>
              <a:t>ID</a:t>
            </a:r>
            <a:r>
              <a:rPr lang="en-US" altLang="en-US" sz="2000"/>
              <a:t>, </a:t>
            </a:r>
            <a:r>
              <a:rPr lang="en-US" altLang="en-US" sz="2000" b="1"/>
              <a:t>rank</a:t>
            </a:r>
            <a:r>
              <a:rPr lang="en-US" altLang="en-US" sz="2000"/>
              <a:t>() </a:t>
            </a:r>
            <a:r>
              <a:rPr lang="en-US" altLang="en-US" sz="2000" b="1"/>
              <a:t>over </a:t>
            </a:r>
            <a:r>
              <a:rPr lang="en-US" altLang="en-US" sz="2000"/>
              <a:t>(</a:t>
            </a:r>
            <a:r>
              <a:rPr lang="en-US" altLang="en-US" sz="2000" b="1"/>
              <a:t>order by </a:t>
            </a:r>
            <a:r>
              <a:rPr lang="en-US" altLang="en-US" sz="2000" i="1"/>
              <a:t>GPA</a:t>
            </a:r>
            <a:r>
              <a:rPr lang="en-US" altLang="en-US" sz="2000"/>
              <a:t> </a:t>
            </a:r>
            <a:r>
              <a:rPr lang="en-US" altLang="en-US" sz="2000" b="1"/>
              <a:t>desc) as </a:t>
            </a:r>
            <a:r>
              <a:rPr lang="en-US" altLang="en-US" sz="2000" i="1"/>
              <a:t>s_rank</a:t>
            </a:r>
            <a:br>
              <a:rPr lang="en-US" altLang="en-US" sz="2000"/>
            </a:br>
            <a:r>
              <a:rPr lang="en-US" altLang="en-US" sz="2000"/>
              <a:t>       </a:t>
            </a:r>
            <a:r>
              <a:rPr lang="en-US" altLang="en-US" sz="2000" b="1"/>
              <a:t>from </a:t>
            </a:r>
            <a:r>
              <a:rPr lang="en-US" altLang="en-US" sz="2000" i="1"/>
              <a:t>student_grades </a:t>
            </a:r>
            <a:br>
              <a:rPr lang="en-US" altLang="en-US" sz="2000" i="1"/>
            </a:br>
            <a:r>
              <a:rPr lang="en-US" altLang="en-US" sz="2000" i="1"/>
              <a:t>       </a:t>
            </a:r>
            <a:r>
              <a:rPr lang="en-US" altLang="en-US" sz="2000" b="1"/>
              <a:t>order by </a:t>
            </a:r>
            <a:r>
              <a:rPr lang="en-US" altLang="en-US" sz="2000" i="1"/>
              <a:t>s_rank</a:t>
            </a:r>
            <a:endParaRPr lang="en-US" altLang="en-US" i="1"/>
          </a:p>
          <a:p>
            <a:r>
              <a:rPr lang="en-US" altLang="en-US" sz="2000"/>
              <a:t>Ranking may leave gaps: e.g. if 2 students have the same top GPA, both have rank 1, and the next rank is 3</a:t>
            </a:r>
            <a:endParaRPr lang="en-US" altLang="en-US"/>
          </a:p>
          <a:p>
            <a:pPr lvl="1"/>
            <a:r>
              <a:rPr lang="en-US" altLang="en-US" sz="2000" b="1"/>
              <a:t>dense_rank </a:t>
            </a:r>
            <a:r>
              <a:rPr lang="en-US" altLang="en-US" sz="2000"/>
              <a:t>does not leave gaps, so next dense rank would be 2</a:t>
            </a:r>
            <a:endParaRPr lang="en-US" altLang="en-US" b="1"/>
          </a:p>
          <a:p>
            <a:pPr>
              <a:buFont typeface="Monotype Sorts" pitchFamily="2" charset="2"/>
              <a:buNone/>
            </a:pPr>
            <a:endParaRPr lang="en-US" altLang="en-US" i="1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AD172456-1945-F54C-97D5-4B0F09E7CC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altLang="en-US">
                <a:effectLst/>
              </a:rPr>
              <a:t>Ranking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6F87B251-DA5E-6547-B179-BEC713FE0D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000"/>
              <a:t>Ranking can be done using basic SQL aggregation, but resultant query is very inefficient</a:t>
            </a:r>
            <a:endParaRPr lang="en-US" altLang="en-US"/>
          </a:p>
          <a:p>
            <a:pPr lvl="1">
              <a:buFont typeface="Monotype Sorts" pitchFamily="2" charset="2"/>
              <a:buNone/>
            </a:pPr>
            <a:r>
              <a:rPr lang="en-US" altLang="en-US" b="1"/>
              <a:t>    </a:t>
            </a:r>
            <a:r>
              <a:rPr lang="en-US" altLang="en-US" sz="2000" b="1"/>
              <a:t>select </a:t>
            </a:r>
            <a:r>
              <a:rPr lang="en-US" altLang="en-US" sz="2000" i="1"/>
              <a:t>ID</a:t>
            </a:r>
            <a:r>
              <a:rPr lang="en-US" altLang="en-US" sz="2000"/>
              <a:t>, (1 + (</a:t>
            </a:r>
            <a:r>
              <a:rPr lang="en-US" altLang="en-US" sz="2000" b="1"/>
              <a:t>select count</a:t>
            </a:r>
            <a:r>
              <a:rPr lang="en-US" altLang="en-US" sz="2000"/>
              <a:t>(*)</a:t>
            </a:r>
            <a:br>
              <a:rPr lang="en-US" altLang="en-US" sz="2000"/>
            </a:br>
            <a:r>
              <a:rPr lang="en-US" altLang="en-US" sz="2000"/>
              <a:t>                         </a:t>
            </a:r>
            <a:r>
              <a:rPr lang="en-US" altLang="en-US" sz="2000" b="1"/>
              <a:t>from </a:t>
            </a:r>
            <a:r>
              <a:rPr lang="en-US" altLang="en-US" sz="2000" i="1"/>
              <a:t>student_grades B</a:t>
            </a:r>
            <a:br>
              <a:rPr lang="en-US" altLang="en-US" sz="2000" i="1"/>
            </a:br>
            <a:r>
              <a:rPr lang="en-US" altLang="en-US" sz="2000" i="1"/>
              <a:t>                         </a:t>
            </a:r>
            <a:r>
              <a:rPr lang="en-US" altLang="en-US" sz="2000" b="1"/>
              <a:t>where </a:t>
            </a:r>
            <a:r>
              <a:rPr lang="en-US" altLang="en-US" sz="2000" i="1"/>
              <a:t>B</a:t>
            </a:r>
            <a:r>
              <a:rPr lang="en-US" altLang="en-US" sz="2000"/>
              <a:t>.</a:t>
            </a:r>
            <a:r>
              <a:rPr lang="en-US" altLang="en-US" sz="2000" i="1"/>
              <a:t>GPA </a:t>
            </a:r>
            <a:r>
              <a:rPr lang="en-US" altLang="en-US" sz="2000"/>
              <a:t>&gt; </a:t>
            </a:r>
            <a:r>
              <a:rPr lang="en-US" altLang="en-US" sz="2000" i="1"/>
              <a:t>A</a:t>
            </a:r>
            <a:r>
              <a:rPr lang="en-US" altLang="en-US" sz="2000"/>
              <a:t>.</a:t>
            </a:r>
            <a:r>
              <a:rPr lang="en-US" altLang="en-US" sz="2000" i="1"/>
              <a:t>GPA</a:t>
            </a:r>
            <a:r>
              <a:rPr lang="en-US" altLang="en-US" sz="2000"/>
              <a:t>)) </a:t>
            </a:r>
            <a:r>
              <a:rPr lang="en-US" altLang="en-US" sz="2000" b="1"/>
              <a:t>as </a:t>
            </a:r>
            <a:r>
              <a:rPr lang="en-US" altLang="en-US" sz="2000" i="1"/>
              <a:t>s_rank</a:t>
            </a:r>
            <a:br>
              <a:rPr lang="en-US" altLang="en-US" sz="2000" i="1"/>
            </a:br>
            <a:r>
              <a:rPr lang="en-US" altLang="en-US" sz="2000" b="1"/>
              <a:t>from </a:t>
            </a:r>
            <a:r>
              <a:rPr lang="en-US" altLang="en-US" sz="2000" i="1"/>
              <a:t>student_grades A</a:t>
            </a:r>
            <a:br>
              <a:rPr lang="en-US" altLang="en-US" sz="2000" i="1"/>
            </a:br>
            <a:r>
              <a:rPr lang="en-US" altLang="en-US" sz="2000" b="1"/>
              <a:t>order by </a:t>
            </a:r>
            <a:r>
              <a:rPr lang="en-US" altLang="en-US" sz="2000" i="1"/>
              <a:t>s_rank</a:t>
            </a:r>
            <a:r>
              <a:rPr lang="en-US" altLang="en-US" sz="2000"/>
              <a:t>;</a:t>
            </a:r>
            <a:endParaRPr lang="en-US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>
            <a:extLst>
              <a:ext uri="{FF2B5EF4-FFF2-40B4-BE49-F238E27FC236}">
                <a16:creationId xmlns:a16="http://schemas.microsoft.com/office/drawing/2014/main" id="{B8F10C3C-336F-4B46-8508-3D8E0A27A0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ffectLst>
                  <a:outerShdw blurRad="38100" dist="38100" dir="2700000" algn="tl">
                    <a:srgbClr val="C0C0C0"/>
                  </a:outerShdw>
                </a:effectLst>
                <a:cs typeface="+mj-cs"/>
              </a:rPr>
              <a:t>Ranking (Cont.)</a:t>
            </a:r>
            <a:endParaRPr lang="en-IN">
              <a:effectLst>
                <a:outerShdw blurRad="38100" dist="38100" dir="2700000" algn="tl">
                  <a:srgbClr val="C0C0C0"/>
                </a:outerShdw>
              </a:effectLst>
              <a:cs typeface="+mj-cs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E7A880F8-3210-034D-8111-9BA7FC3004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14388" y="1093788"/>
            <a:ext cx="8329612" cy="4903787"/>
          </a:xfrm>
        </p:spPr>
        <p:txBody>
          <a:bodyPr/>
          <a:lstStyle/>
          <a:p>
            <a:r>
              <a:rPr lang="en-US" altLang="en-US" sz="2000"/>
              <a:t>Ranking can be done within partition of the data.</a:t>
            </a:r>
            <a:endParaRPr lang="en-US" altLang="en-US"/>
          </a:p>
          <a:p>
            <a:r>
              <a:rPr lang="ja-JP" altLang="en-US" sz="2000"/>
              <a:t>“</a:t>
            </a:r>
            <a:r>
              <a:rPr lang="en-US" altLang="ja-JP" sz="2000"/>
              <a:t>Find the rank of students within each department.</a:t>
            </a:r>
            <a:r>
              <a:rPr lang="ja-JP" altLang="en-US" sz="2000"/>
              <a:t>”</a:t>
            </a:r>
            <a:endParaRPr lang="en-US" altLang="ja-JP"/>
          </a:p>
          <a:p>
            <a:pPr>
              <a:buFont typeface="Monotype Sorts" pitchFamily="2" charset="2"/>
              <a:buNone/>
            </a:pPr>
            <a:r>
              <a:rPr lang="en-US" altLang="en-US" b="1"/>
              <a:t>          </a:t>
            </a:r>
            <a:r>
              <a:rPr lang="en-US" altLang="en-US" sz="2000" b="1"/>
              <a:t>select </a:t>
            </a:r>
            <a:r>
              <a:rPr lang="en-US" altLang="en-US" sz="2000" i="1"/>
              <a:t>ID</a:t>
            </a:r>
            <a:r>
              <a:rPr lang="en-US" altLang="en-US" sz="2000"/>
              <a:t>, </a:t>
            </a:r>
            <a:r>
              <a:rPr lang="en-US" altLang="en-US" sz="2000" i="1"/>
              <a:t>dept_name</a:t>
            </a:r>
            <a:r>
              <a:rPr lang="en-US" altLang="en-US" sz="2000"/>
              <a:t>,</a:t>
            </a:r>
            <a:br>
              <a:rPr lang="en-US" altLang="en-US" sz="2000"/>
            </a:br>
            <a:r>
              <a:rPr lang="en-US" altLang="en-US" sz="2000"/>
              <a:t>           </a:t>
            </a:r>
            <a:r>
              <a:rPr lang="en-US" altLang="en-US" sz="2000" b="1"/>
              <a:t>rank </a:t>
            </a:r>
            <a:r>
              <a:rPr lang="en-US" altLang="en-US" sz="2000"/>
              <a:t>() </a:t>
            </a:r>
            <a:r>
              <a:rPr lang="en-US" altLang="en-US" sz="2000" b="1"/>
              <a:t>over </a:t>
            </a:r>
            <a:r>
              <a:rPr lang="en-US" altLang="en-US" sz="2000"/>
              <a:t>(</a:t>
            </a:r>
            <a:r>
              <a:rPr lang="en-US" altLang="en-US" sz="2000" b="1"/>
              <a:t>partition by </a:t>
            </a:r>
            <a:r>
              <a:rPr lang="en-US" altLang="en-US" sz="2000" i="1"/>
              <a:t>dept_name </a:t>
            </a:r>
            <a:r>
              <a:rPr lang="en-US" altLang="en-US" sz="2000" b="1"/>
              <a:t>order by </a:t>
            </a:r>
            <a:r>
              <a:rPr lang="en-US" altLang="en-US" sz="2000" i="1"/>
              <a:t>GPA </a:t>
            </a:r>
            <a:r>
              <a:rPr lang="en-US" altLang="en-US" sz="2000" b="1"/>
              <a:t>desc</a:t>
            </a:r>
            <a:r>
              <a:rPr lang="en-US" altLang="en-US" sz="2000"/>
              <a:t>) </a:t>
            </a:r>
            <a:br>
              <a:rPr lang="en-US" altLang="en-US" sz="2000"/>
            </a:br>
            <a:r>
              <a:rPr lang="en-US" altLang="en-US" sz="2000"/>
              <a:t>                        </a:t>
            </a:r>
            <a:r>
              <a:rPr lang="en-US" altLang="en-US" sz="2000" b="1"/>
              <a:t>as </a:t>
            </a:r>
            <a:r>
              <a:rPr lang="en-US" altLang="en-US" sz="2000" i="1"/>
              <a:t>dept_rank</a:t>
            </a:r>
            <a:br>
              <a:rPr lang="en-US" altLang="en-US" sz="2000" i="1"/>
            </a:br>
            <a:r>
              <a:rPr lang="en-US" altLang="en-US" sz="2000" i="1"/>
              <a:t>     </a:t>
            </a:r>
            <a:r>
              <a:rPr lang="en-US" altLang="en-US" sz="2000" b="1"/>
              <a:t>from </a:t>
            </a:r>
            <a:r>
              <a:rPr lang="en-US" altLang="en-US" sz="2000" i="1"/>
              <a:t>dept_grades</a:t>
            </a:r>
            <a:br>
              <a:rPr lang="en-US" altLang="en-US" sz="2000" i="1"/>
            </a:br>
            <a:r>
              <a:rPr lang="en-US" altLang="en-US" sz="2000" i="1"/>
              <a:t>     </a:t>
            </a:r>
            <a:r>
              <a:rPr lang="en-US" altLang="en-US" sz="2000" b="1"/>
              <a:t>order by </a:t>
            </a:r>
            <a:r>
              <a:rPr lang="en-US" altLang="en-US" sz="2000" i="1"/>
              <a:t>dept_name</a:t>
            </a:r>
            <a:r>
              <a:rPr lang="en-US" altLang="en-US" sz="2000"/>
              <a:t>, </a:t>
            </a:r>
            <a:r>
              <a:rPr lang="en-US" altLang="en-US" sz="2000" i="1"/>
              <a:t>dept_rank</a:t>
            </a:r>
            <a:r>
              <a:rPr lang="en-US" altLang="en-US" sz="2000"/>
              <a:t>;</a:t>
            </a:r>
            <a:endParaRPr lang="en-US" altLang="en-US"/>
          </a:p>
          <a:p>
            <a:r>
              <a:rPr lang="en-US" altLang="en-US" sz="2000"/>
              <a:t>Multiple </a:t>
            </a:r>
            <a:r>
              <a:rPr lang="en-US" altLang="en-US" sz="2000" b="1"/>
              <a:t>rank</a:t>
            </a:r>
            <a:r>
              <a:rPr lang="en-US" altLang="en-US" sz="2000"/>
              <a:t> clauses can occur in a single </a:t>
            </a:r>
            <a:r>
              <a:rPr lang="en-US" altLang="en-US" sz="2000" b="1"/>
              <a:t>select</a:t>
            </a:r>
            <a:r>
              <a:rPr lang="en-US" altLang="en-US" sz="2000"/>
              <a:t> clause.</a:t>
            </a:r>
            <a:endParaRPr lang="en-US" altLang="en-US"/>
          </a:p>
          <a:p>
            <a:r>
              <a:rPr lang="en-US" altLang="en-US" sz="2000"/>
              <a:t>Ranking is done </a:t>
            </a:r>
            <a:r>
              <a:rPr lang="en-US" altLang="en-US" sz="2000" i="1"/>
              <a:t>after</a:t>
            </a:r>
            <a:r>
              <a:rPr lang="en-US" altLang="en-US" sz="2000"/>
              <a:t> applying </a:t>
            </a:r>
            <a:r>
              <a:rPr lang="en-US" altLang="en-US" sz="2000" b="1"/>
              <a:t>group by</a:t>
            </a:r>
            <a:r>
              <a:rPr lang="en-US" altLang="en-US" sz="2000"/>
              <a:t> clause/aggregation</a:t>
            </a:r>
            <a:endParaRPr lang="en-US" altLang="en-US"/>
          </a:p>
          <a:p>
            <a:r>
              <a:rPr lang="en-US" altLang="en-US" sz="2000"/>
              <a:t>Can be used to find top-n results</a:t>
            </a:r>
            <a:endParaRPr lang="en-US" altLang="en-US"/>
          </a:p>
          <a:p>
            <a:pPr lvl="1"/>
            <a:r>
              <a:rPr lang="en-US" altLang="en-US" sz="2000"/>
              <a:t>More general than the </a:t>
            </a:r>
            <a:r>
              <a:rPr lang="en-US" altLang="en-US" sz="2000" b="1"/>
              <a:t>limit</a:t>
            </a:r>
            <a:r>
              <a:rPr lang="en-US" altLang="en-US" sz="2000"/>
              <a:t> </a:t>
            </a:r>
            <a:r>
              <a:rPr lang="en-US" altLang="en-US" sz="2000" i="1"/>
              <a:t>n</a:t>
            </a:r>
            <a:r>
              <a:rPr lang="en-US" altLang="en-US" sz="2000"/>
              <a:t> clause supported by many databases, since it allows top-n within each partition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78" name="Rectangle 2">
            <a:extLst>
              <a:ext uri="{FF2B5EF4-FFF2-40B4-BE49-F238E27FC236}">
                <a16:creationId xmlns:a16="http://schemas.microsoft.com/office/drawing/2014/main" id="{01B6AE03-3F16-C045-A5E2-5E61A2F15E4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Ranking (Cont.)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D44867E6-0ED1-BF4C-805F-5B8E3C35379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482725" y="1093788"/>
            <a:ext cx="7661275" cy="4903787"/>
          </a:xfrm>
        </p:spPr>
        <p:txBody>
          <a:bodyPr/>
          <a:lstStyle/>
          <a:p>
            <a:r>
              <a:rPr lang="en-US" altLang="en-US" sz="2000"/>
              <a:t>Other ranking functions:  </a:t>
            </a:r>
          </a:p>
          <a:p>
            <a:pPr lvl="1"/>
            <a:r>
              <a:rPr lang="en-US" altLang="en-US" sz="2000" b="1"/>
              <a:t>percent_rank </a:t>
            </a:r>
            <a:r>
              <a:rPr lang="en-US" altLang="en-US" sz="2000"/>
              <a:t>(within partition, if partitioning is done)</a:t>
            </a:r>
            <a:endParaRPr lang="en-US" altLang="en-US" sz="2000" b="1"/>
          </a:p>
          <a:p>
            <a:pPr lvl="1"/>
            <a:r>
              <a:rPr lang="en-US" altLang="en-US" sz="2000" b="1"/>
              <a:t>cume_dist</a:t>
            </a:r>
            <a:r>
              <a:rPr lang="en-US" altLang="en-US" sz="2000"/>
              <a:t> (cumulative distribution)</a:t>
            </a:r>
          </a:p>
          <a:p>
            <a:pPr lvl="2"/>
            <a:r>
              <a:rPr lang="en-US" altLang="en-US" sz="2000"/>
              <a:t> fraction of tuples with preceding values</a:t>
            </a:r>
          </a:p>
          <a:p>
            <a:pPr lvl="1"/>
            <a:r>
              <a:rPr lang="en-US" altLang="en-US" sz="2000" b="1"/>
              <a:t>row_number </a:t>
            </a:r>
            <a:r>
              <a:rPr lang="en-US" altLang="en-US" sz="2000"/>
              <a:t>(non-deterministic in presence of duplicates)</a:t>
            </a:r>
          </a:p>
          <a:p>
            <a:r>
              <a:rPr lang="en-US" altLang="en-US" sz="2000"/>
              <a:t>SQL:1999 permits the user to specify </a:t>
            </a:r>
            <a:r>
              <a:rPr lang="en-US" altLang="en-US" sz="2000" b="1"/>
              <a:t>nulls first</a:t>
            </a:r>
            <a:r>
              <a:rPr lang="en-US" altLang="en-US" sz="2000"/>
              <a:t> or </a:t>
            </a:r>
            <a:r>
              <a:rPr lang="en-US" altLang="en-US" sz="2000" b="1"/>
              <a:t>nulls last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 b="1"/>
              <a:t>     select </a:t>
            </a:r>
            <a:r>
              <a:rPr lang="en-US" altLang="en-US" sz="2000" i="1"/>
              <a:t>ID</a:t>
            </a:r>
            <a:r>
              <a:rPr lang="en-US" altLang="en-US" sz="2000"/>
              <a:t>, </a:t>
            </a:r>
            <a:br>
              <a:rPr lang="en-US" altLang="en-US" sz="2000"/>
            </a:br>
            <a:r>
              <a:rPr lang="en-US" altLang="en-US" sz="2000"/>
              <a:t>           </a:t>
            </a:r>
            <a:r>
              <a:rPr lang="en-US" altLang="en-US" sz="2000" b="1"/>
              <a:t>rank </a:t>
            </a:r>
            <a:r>
              <a:rPr lang="en-US" altLang="en-US" sz="2000"/>
              <a:t>( ) </a:t>
            </a:r>
            <a:r>
              <a:rPr lang="en-US" altLang="en-US" sz="2000" b="1"/>
              <a:t>over </a:t>
            </a:r>
            <a:r>
              <a:rPr lang="en-US" altLang="en-US" sz="2000"/>
              <a:t>(</a:t>
            </a:r>
            <a:r>
              <a:rPr lang="en-US" altLang="en-US" sz="2000" b="1"/>
              <a:t>order by </a:t>
            </a:r>
            <a:r>
              <a:rPr lang="en-US" altLang="en-US" sz="2000" i="1"/>
              <a:t>GPA </a:t>
            </a:r>
            <a:r>
              <a:rPr lang="en-US" altLang="en-US" sz="2000" b="1"/>
              <a:t>desc nulls last</a:t>
            </a:r>
            <a:r>
              <a:rPr lang="en-US" altLang="en-US" sz="2000"/>
              <a:t>) </a:t>
            </a:r>
            <a:r>
              <a:rPr lang="en-US" altLang="en-US" sz="2000" b="1"/>
              <a:t>as </a:t>
            </a:r>
            <a:r>
              <a:rPr lang="en-US" altLang="en-US" sz="2000" i="1"/>
              <a:t>s_rank</a:t>
            </a:r>
            <a:br>
              <a:rPr lang="en-US" altLang="en-US" sz="2000"/>
            </a:br>
            <a:r>
              <a:rPr lang="en-US" altLang="en-US" sz="2000" b="1"/>
              <a:t>from </a:t>
            </a:r>
            <a:r>
              <a:rPr lang="en-US" altLang="en-US" sz="2000" i="1"/>
              <a:t>student_grades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6" name="Rectangle 2">
            <a:extLst>
              <a:ext uri="{FF2B5EF4-FFF2-40B4-BE49-F238E27FC236}">
                <a16:creationId xmlns:a16="http://schemas.microsoft.com/office/drawing/2014/main" id="{2AFE3EFC-3CC5-254A-8E1D-408B8F69D90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66800" y="117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Ranking (Cont.)</a:t>
            </a:r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F7A79B94-16F9-F84A-9278-BD0C5C04234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482725" y="1093788"/>
            <a:ext cx="7661275" cy="4903787"/>
          </a:xfrm>
        </p:spPr>
        <p:txBody>
          <a:bodyPr/>
          <a:lstStyle/>
          <a:p>
            <a:r>
              <a:rPr lang="en-US" altLang="en-US" sz="2000"/>
              <a:t>For a given constant </a:t>
            </a:r>
            <a:r>
              <a:rPr lang="en-US" altLang="en-US" sz="2000" i="1"/>
              <a:t>n</a:t>
            </a:r>
            <a:r>
              <a:rPr lang="en-US" altLang="en-US" sz="2000"/>
              <a:t>, the ranking the function </a:t>
            </a:r>
            <a:r>
              <a:rPr lang="en-US" altLang="en-US" sz="2000" i="1"/>
              <a:t>ntile</a:t>
            </a:r>
            <a:r>
              <a:rPr lang="en-US" altLang="en-US" sz="2000"/>
              <a:t>(</a:t>
            </a:r>
            <a:r>
              <a:rPr lang="en-US" altLang="en-US" sz="2000" i="1"/>
              <a:t>n</a:t>
            </a:r>
            <a:r>
              <a:rPr lang="en-US" altLang="en-US" sz="2000"/>
              <a:t>) takes the tuples in each partition in the specified order, and divides them into </a:t>
            </a:r>
            <a:r>
              <a:rPr lang="en-US" altLang="en-US" sz="2000" i="1"/>
              <a:t>n</a:t>
            </a:r>
            <a:r>
              <a:rPr lang="en-US" altLang="en-US" sz="2000"/>
              <a:t> buckets with equal numbers of tuples.</a:t>
            </a:r>
          </a:p>
          <a:p>
            <a:r>
              <a:rPr lang="en-US" altLang="en-US" sz="2000"/>
              <a:t>E.g.,</a:t>
            </a:r>
          </a:p>
          <a:p>
            <a:pPr>
              <a:buFont typeface="Monotype Sorts" pitchFamily="2" charset="2"/>
              <a:buNone/>
            </a:pPr>
            <a:r>
              <a:rPr lang="en-US" altLang="en-US" sz="2000"/>
              <a:t>	   </a:t>
            </a:r>
            <a:r>
              <a:rPr lang="en-US" altLang="en-US" sz="2000" b="1"/>
              <a:t>select </a:t>
            </a:r>
            <a:r>
              <a:rPr lang="en-US" altLang="en-US" sz="2000" i="1"/>
              <a:t>ID</a:t>
            </a:r>
            <a:r>
              <a:rPr lang="en-US" altLang="en-US" sz="2000"/>
              <a:t>, </a:t>
            </a:r>
            <a:r>
              <a:rPr lang="en-US" altLang="en-US" sz="2000" b="1"/>
              <a:t>ntile</a:t>
            </a:r>
            <a:r>
              <a:rPr lang="en-US" altLang="en-US" sz="2000"/>
              <a:t>(4) </a:t>
            </a:r>
            <a:r>
              <a:rPr lang="en-US" altLang="en-US" sz="2000" b="1"/>
              <a:t>over </a:t>
            </a:r>
            <a:r>
              <a:rPr lang="en-US" altLang="en-US" sz="2000"/>
              <a:t>(</a:t>
            </a:r>
            <a:r>
              <a:rPr lang="en-US" altLang="en-US" sz="2000" b="1"/>
              <a:t>order by </a:t>
            </a:r>
            <a:r>
              <a:rPr lang="en-US" altLang="en-US" sz="2000" i="1"/>
              <a:t>GPA </a:t>
            </a:r>
            <a:r>
              <a:rPr lang="en-US" altLang="en-US" sz="2000" b="1"/>
              <a:t>desc</a:t>
            </a:r>
            <a:r>
              <a:rPr lang="en-US" altLang="en-US" sz="2000"/>
              <a:t>) </a:t>
            </a:r>
            <a:r>
              <a:rPr lang="en-US" altLang="en-US" sz="2000" b="1"/>
              <a:t>as </a:t>
            </a:r>
            <a:r>
              <a:rPr lang="en-US" altLang="en-US" sz="2000" i="1"/>
              <a:t>quartile</a:t>
            </a:r>
            <a:br>
              <a:rPr lang="en-US" altLang="en-US" sz="2000"/>
            </a:br>
            <a:r>
              <a:rPr lang="en-US" altLang="en-US" sz="2000"/>
              <a:t>	</a:t>
            </a:r>
            <a:r>
              <a:rPr lang="en-US" altLang="en-US" sz="2000" b="1"/>
              <a:t>from </a:t>
            </a:r>
            <a:r>
              <a:rPr lang="en-US" altLang="en-US" sz="2000" i="1"/>
              <a:t>student_grades;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>
            <a:extLst>
              <a:ext uri="{FF2B5EF4-FFF2-40B4-BE49-F238E27FC236}">
                <a16:creationId xmlns:a16="http://schemas.microsoft.com/office/drawing/2014/main" id="{4F623D87-1349-3947-89B7-EB9FDF3B765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End of Chapter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60643</TotalTime>
  <Words>2120</Words>
  <Application>Microsoft Macintosh PowerPoint</Application>
  <PresentationFormat>On-screen Show (4:3)</PresentationFormat>
  <Paragraphs>186</Paragraphs>
  <Slides>31</Slides>
  <Notes>24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  <vt:variant>
        <vt:lpstr>Custom Shows</vt:lpstr>
      </vt:variant>
      <vt:variant>
        <vt:i4>1</vt:i4>
      </vt:variant>
    </vt:vector>
  </HeadingPairs>
  <TitlesOfParts>
    <vt:vector size="40" baseType="lpstr">
      <vt:lpstr>Helvetica</vt:lpstr>
      <vt:lpstr>Monotype Sorts</vt:lpstr>
      <vt:lpstr>Tahoma</vt:lpstr>
      <vt:lpstr>Times New Roman</vt:lpstr>
      <vt:lpstr>Webdings</vt:lpstr>
      <vt:lpstr>Wingdings</vt:lpstr>
      <vt:lpstr>Wingdings 2</vt:lpstr>
      <vt:lpstr>2_db-5-grey</vt:lpstr>
      <vt:lpstr>Chapter 5-6: Advanced SQL</vt:lpstr>
      <vt:lpstr>Outline</vt:lpstr>
      <vt:lpstr>Extensions to SQL</vt:lpstr>
      <vt:lpstr>Functions and Procedures</vt:lpstr>
      <vt:lpstr>SQL Functions</vt:lpstr>
      <vt:lpstr>SQL functions (Cont.)</vt:lpstr>
      <vt:lpstr>Table Functions</vt:lpstr>
      <vt:lpstr>SQL Procedures</vt:lpstr>
      <vt:lpstr>Why Stored Procedures</vt:lpstr>
      <vt:lpstr>Disadvantages of Stored Procedures</vt:lpstr>
      <vt:lpstr>Creating Stored Procedures</vt:lpstr>
      <vt:lpstr>Stored Procedure in Workbench</vt:lpstr>
      <vt:lpstr>Stored Procedure in Workbench</vt:lpstr>
      <vt:lpstr>PowerPoint Presentation</vt:lpstr>
      <vt:lpstr>PowerPoint Presentation</vt:lpstr>
      <vt:lpstr>PowerPoint Presentation</vt:lpstr>
      <vt:lpstr>Calling Stored Procedures</vt:lpstr>
      <vt:lpstr>Language Constructs for Procedures &amp; Functions</vt:lpstr>
      <vt:lpstr>Language Constructs (Cont.)</vt:lpstr>
      <vt:lpstr>Language Constructs (Cont.)</vt:lpstr>
      <vt:lpstr>External Language Routines</vt:lpstr>
      <vt:lpstr>External Language Routines</vt:lpstr>
      <vt:lpstr>External Language Routines (Cont.)</vt:lpstr>
      <vt:lpstr>Security with External Language Routines</vt:lpstr>
      <vt:lpstr>Advanced Aggregation Features</vt:lpstr>
      <vt:lpstr>Ranking</vt:lpstr>
      <vt:lpstr>Ranking</vt:lpstr>
      <vt:lpstr>Ranking (Cont.)</vt:lpstr>
      <vt:lpstr>Ranking (Cont.)</vt:lpstr>
      <vt:lpstr>Ranking (Cont.)</vt:lpstr>
      <vt:lpstr>End of Chapter 6</vt:lpstr>
      <vt:lpstr>Custom Show 1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Huynh Ngoc Tu</cp:lastModifiedBy>
  <cp:revision>452</cp:revision>
  <cp:lastPrinted>2005-01-10T21:51:57Z</cp:lastPrinted>
  <dcterms:created xsi:type="dcterms:W3CDTF">1999-11-04T20:50:09Z</dcterms:created>
  <dcterms:modified xsi:type="dcterms:W3CDTF">2022-04-05T03:53:23Z</dcterms:modified>
</cp:coreProperties>
</file>